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241A15"/>
                </a:solidFill>
                <a:latin typeface="Calibri"/>
              </a:defRPr>
            </a:pPr>
            <a:r>
              <a:rPr lang="fr-FR" sz="1200" b="0" i="0" u="none" strike="noStrike">
                <a:solidFill>
                  <a:srgbClr val="241A15"/>
                </a:solidFill>
                <a:latin typeface="Calibri"/>
              </a:rPr>
              <a:t>Courbe du coude — inertie selon k</a:t>
            </a:r>
          </a:p>
        </c:rich>
      </c:tx>
      <c:overlay val="0"/>
    </c:title>
    <c:autoTitleDeleted val="0"/>
    <c:plotArea>
      <c:layout/>
      <c:lineChart>
        <c:grouping val="standard"/>
        <c:varyColors val="0"/>
        <c:ser>
          <c:idx val="0"/>
          <c:order val="0"/>
          <c:tx>
            <c:strRef>
              <c:f>Sheet1!$B$1</c:f>
              <c:strCache>
                <c:ptCount val="1"/>
                <c:pt idx="0">
                  <c:v>Inertie</c:v>
                </c:pt>
              </c:strCache>
            </c:strRef>
          </c:tx>
          <c:spPr>
            <a:ln w="31750" cap="flat">
              <a:solidFill>
                <a:srgbClr val="B85042"/>
              </a:solidFill>
              <a:prstDash val="solid"/>
              <a:round/>
            </a:ln>
            <a:effectLst/>
          </c:spPr>
          <c:marker>
            <c:symbol val="circle"/>
            <c:size val="7"/>
            <c:spPr>
              <a:solidFill>
                <a:srgbClr val="B85042"/>
              </a:solidFill>
              <a:ln w="9525" cap="flat">
                <a:solidFill>
                  <a:srgbClr val="B85042"/>
                </a:solidFill>
                <a:prstDash val="solid"/>
                <a:round/>
              </a:ln>
              <a:effectLst/>
            </c:spPr>
          </c:marker>
          <c:cat>
            <c:strRef>
              <c:f>Sheet1!$A$2:$A$7</c:f>
              <c:strCache>
                <c:ptCount val="6"/>
                <c:pt idx="0">
                  <c:v>2</c:v>
                </c:pt>
                <c:pt idx="1">
                  <c:v>3</c:v>
                </c:pt>
                <c:pt idx="2">
                  <c:v>4</c:v>
                </c:pt>
                <c:pt idx="3">
                  <c:v>5</c:v>
                </c:pt>
                <c:pt idx="4">
                  <c:v>6</c:v>
                </c:pt>
                <c:pt idx="5">
                  <c:v>7</c:v>
                </c:pt>
              </c:strCache>
            </c:strRef>
          </c:cat>
          <c:val>
            <c:numRef>
              <c:f>Sheet1!$B$2:$B$7</c:f>
              <c:numCache>
                <c:formatCode>General</c:formatCode>
                <c:ptCount val="6"/>
                <c:pt idx="0">
                  <c:v>433304</c:v>
                </c:pt>
                <c:pt idx="1">
                  <c:v>355297</c:v>
                </c:pt>
                <c:pt idx="2">
                  <c:v>315960</c:v>
                </c:pt>
                <c:pt idx="3">
                  <c:v>289008</c:v>
                </c:pt>
                <c:pt idx="4">
                  <c:v>262820</c:v>
                </c:pt>
                <c:pt idx="5">
                  <c:v>237677</c:v>
                </c:pt>
              </c:numCache>
            </c:numRef>
          </c:val>
          <c:smooth val="0"/>
          <c:extLst>
            <c:ext xmlns:c16="http://schemas.microsoft.com/office/drawing/2014/chart" uri="{C3380CC4-5D6E-409C-BE32-E72D297353CC}">
              <c16:uniqueId val="{00000000-6CAE-49CE-99FF-DD8BC3E421F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00" b="0" i="0" u="none" strike="noStrike">
                    <a:solidFill>
                      <a:srgbClr val="8E8681"/>
                    </a:solidFill>
                    <a:latin typeface="Arial"/>
                  </a:defRPr>
                </a:pPr>
                <a:r>
                  <a:rPr lang="fr-FR" sz="900" b="0" i="0" u="none" strike="noStrike">
                    <a:solidFill>
                      <a:srgbClr val="8E8681"/>
                    </a:solidFill>
                    <a:latin typeface="Arial"/>
                  </a:rPr>
                  <a:t>nombre de groupes 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555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DF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55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241A15"/>
                </a:solidFill>
                <a:latin typeface="Calibri"/>
              </a:defRPr>
            </a:pPr>
            <a:r>
              <a:rPr lang="fr-FR" sz="1200" b="0" i="0" u="none" strike="noStrike">
                <a:solidFill>
                  <a:srgbClr val="241A15"/>
                </a:solidFill>
                <a:latin typeface="Calibri"/>
              </a:rPr>
              <a:t>Score de silhouette selon k</a:t>
            </a:r>
          </a:p>
        </c:rich>
      </c:tx>
      <c:overlay val="0"/>
    </c:title>
    <c:autoTitleDeleted val="0"/>
    <c:plotArea>
      <c:layout/>
      <c:barChart>
        <c:barDir val="col"/>
        <c:grouping val="clustered"/>
        <c:varyColors val="0"/>
        <c:ser>
          <c:idx val="0"/>
          <c:order val="0"/>
          <c:tx>
            <c:strRef>
              <c:f>Sheet1!$B$1</c:f>
              <c:strCache>
                <c:ptCount val="1"/>
                <c:pt idx="0">
                  <c:v>Silhouette</c:v>
                </c:pt>
              </c:strCache>
            </c:strRef>
          </c:tx>
          <c:spPr>
            <a:solidFill>
              <a:srgbClr val="7FA08F"/>
            </a:solidFill>
            <a:effectLst/>
          </c:spPr>
          <c:invertIfNegative val="0"/>
          <c:dPt>
            <c:idx val="0"/>
            <c:invertIfNegative val="0"/>
            <c:bubble3D val="0"/>
            <c:extLst>
              <c:ext xmlns:c16="http://schemas.microsoft.com/office/drawing/2014/chart" uri="{C3380CC4-5D6E-409C-BE32-E72D297353CC}">
                <c16:uniqueId val="{00000001-ABC6-4E24-A679-989F9CA0661B}"/>
              </c:ext>
            </c:extLst>
          </c:dPt>
          <c:dPt>
            <c:idx val="1"/>
            <c:invertIfNegative val="0"/>
            <c:bubble3D val="0"/>
            <c:extLst>
              <c:ext xmlns:c16="http://schemas.microsoft.com/office/drawing/2014/chart" uri="{C3380CC4-5D6E-409C-BE32-E72D297353CC}">
                <c16:uniqueId val="{00000003-ABC6-4E24-A679-989F9CA0661B}"/>
              </c:ext>
            </c:extLst>
          </c:dPt>
          <c:dPt>
            <c:idx val="2"/>
            <c:invertIfNegative val="0"/>
            <c:bubble3D val="0"/>
            <c:extLst>
              <c:ext xmlns:c16="http://schemas.microsoft.com/office/drawing/2014/chart" uri="{C3380CC4-5D6E-409C-BE32-E72D297353CC}">
                <c16:uniqueId val="{00000005-ABC6-4E24-A679-989F9CA0661B}"/>
              </c:ext>
            </c:extLst>
          </c:dPt>
          <c:dPt>
            <c:idx val="3"/>
            <c:invertIfNegative val="0"/>
            <c:bubble3D val="0"/>
            <c:extLst>
              <c:ext xmlns:c16="http://schemas.microsoft.com/office/drawing/2014/chart" uri="{C3380CC4-5D6E-409C-BE32-E72D297353CC}">
                <c16:uniqueId val="{00000007-ABC6-4E24-A679-989F9CA0661B}"/>
              </c:ext>
            </c:extLst>
          </c:dPt>
          <c:dPt>
            <c:idx val="4"/>
            <c:invertIfNegative val="0"/>
            <c:bubble3D val="0"/>
            <c:spPr>
              <a:solidFill>
                <a:srgbClr val="8E8681"/>
              </a:solidFill>
              <a:effectLst/>
            </c:spPr>
            <c:extLst>
              <c:ext xmlns:c16="http://schemas.microsoft.com/office/drawing/2014/chart" uri="{C3380CC4-5D6E-409C-BE32-E72D297353CC}">
                <c16:uniqueId val="{00000009-ABC6-4E24-A679-989F9CA0661B}"/>
              </c:ext>
            </c:extLst>
          </c:dPt>
          <c:dPt>
            <c:idx val="5"/>
            <c:invertIfNegative val="0"/>
            <c:bubble3D val="0"/>
            <c:spPr>
              <a:solidFill>
                <a:srgbClr val="8E8681"/>
              </a:solidFill>
              <a:effectLst/>
            </c:spPr>
            <c:extLst>
              <c:ext xmlns:c16="http://schemas.microsoft.com/office/drawing/2014/chart" uri="{C3380CC4-5D6E-409C-BE32-E72D297353CC}">
                <c16:uniqueId val="{0000000B-ABC6-4E24-A679-989F9CA0661B}"/>
              </c:ext>
            </c:extLst>
          </c:dPt>
          <c:dLbls>
            <c:numFmt formatCode="0.000" sourceLinked="0"/>
            <c:spPr>
              <a:noFill/>
              <a:ln>
                <a:noFill/>
              </a:ln>
              <a:effectLst/>
            </c:spPr>
            <c:txPr>
              <a:bodyPr/>
              <a:lstStyle/>
              <a:p>
                <a:pPr>
                  <a:defRPr sz="900" b="0" i="0" u="none" strike="noStrike">
                    <a:solidFill>
                      <a:srgbClr val="5C555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c:v>
                </c:pt>
                <c:pt idx="1">
                  <c:v>3</c:v>
                </c:pt>
                <c:pt idx="2">
                  <c:v>4</c:v>
                </c:pt>
                <c:pt idx="3">
                  <c:v>5</c:v>
                </c:pt>
                <c:pt idx="4">
                  <c:v>6</c:v>
                </c:pt>
                <c:pt idx="5">
                  <c:v>7</c:v>
                </c:pt>
              </c:strCache>
            </c:strRef>
          </c:cat>
          <c:val>
            <c:numRef>
              <c:f>Sheet1!$B$2:$B$7</c:f>
              <c:numCache>
                <c:formatCode>General</c:formatCode>
                <c:ptCount val="6"/>
                <c:pt idx="0">
                  <c:v>0.70199999999999996</c:v>
                </c:pt>
                <c:pt idx="1">
                  <c:v>0.70199999999999996</c:v>
                </c:pt>
                <c:pt idx="2">
                  <c:v>0.7</c:v>
                </c:pt>
                <c:pt idx="3">
                  <c:v>0.69</c:v>
                </c:pt>
                <c:pt idx="4">
                  <c:v>0.48299999999999998</c:v>
                </c:pt>
                <c:pt idx="5">
                  <c:v>0.47199999999999998</c:v>
                </c:pt>
              </c:numCache>
            </c:numRef>
          </c:val>
          <c:extLst>
            <c:ext xmlns:c16="http://schemas.microsoft.com/office/drawing/2014/chart" uri="{C3380CC4-5D6E-409C-BE32-E72D297353CC}">
              <c16:uniqueId val="{0000000C-ABC6-4E24-A679-989F9CA066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5550"/>
                </a:solidFill>
                <a:latin typeface="Arial"/>
              </a:defRPr>
            </a:pPr>
            <a:endParaRPr lang="en-US"/>
          </a:p>
        </c:txPr>
        <c:crossAx val="2094734552"/>
        <c:crosses val="autoZero"/>
        <c:auto val="1"/>
        <c:lblAlgn val="ctr"/>
        <c:lblOffset val="100"/>
        <c:noMultiLvlLbl val="1"/>
      </c:catAx>
      <c:valAx>
        <c:axId val="2094734552"/>
        <c:scaling>
          <c:orientation val="minMax"/>
          <c:max val="0.85"/>
        </c:scaling>
        <c:delete val="1"/>
        <c:axPos val="l"/>
        <c:majorGridlines>
          <c:spPr>
            <a:ln w="12700" cap="flat">
              <a:solidFill>
                <a:srgbClr val="E3DFDB"/>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241A15"/>
                </a:solidFill>
                <a:latin typeface="Calibri"/>
              </a:defRPr>
            </a:pPr>
            <a:r>
              <a:rPr lang="fr-FR" sz="1200" b="0" i="0" u="none" strike="noStrike">
                <a:solidFill>
                  <a:srgbClr val="241A15"/>
                </a:solidFill>
                <a:latin typeface="Calibri"/>
              </a:rPr>
              <a:t>PR-AUC sur le test temporel 2023</a:t>
            </a:r>
          </a:p>
        </c:rich>
      </c:tx>
      <c:overlay val="0"/>
    </c:title>
    <c:autoTitleDeleted val="0"/>
    <c:plotArea>
      <c:layout/>
      <c:barChart>
        <c:barDir val="bar"/>
        <c:grouping val="clustered"/>
        <c:varyColors val="0"/>
        <c:ser>
          <c:idx val="0"/>
          <c:order val="0"/>
          <c:tx>
            <c:strRef>
              <c:f>Sheet1!$B$1</c:f>
              <c:strCache>
                <c:ptCount val="1"/>
                <c:pt idx="0">
                  <c:v>PR-AUC</c:v>
                </c:pt>
              </c:strCache>
            </c:strRef>
          </c:tx>
          <c:spPr>
            <a:solidFill>
              <a:srgbClr val="8E8681"/>
            </a:solidFill>
            <a:effectLst/>
          </c:spPr>
          <c:invertIfNegative val="0"/>
          <c:dPt>
            <c:idx val="0"/>
            <c:invertIfNegative val="0"/>
            <c:bubble3D val="0"/>
            <c:spPr>
              <a:solidFill>
                <a:srgbClr val="8E8681"/>
              </a:solidFill>
              <a:effectLst/>
            </c:spPr>
            <c:extLst>
              <c:ext xmlns:c16="http://schemas.microsoft.com/office/drawing/2014/chart" uri="{C3380CC4-5D6E-409C-BE32-E72D297353CC}">
                <c16:uniqueId val="{00000001-EAD1-46DE-9C8D-0C8EC24FFC40}"/>
              </c:ext>
            </c:extLst>
          </c:dPt>
          <c:dPt>
            <c:idx val="1"/>
            <c:invertIfNegative val="0"/>
            <c:bubble3D val="0"/>
            <c:spPr>
              <a:solidFill>
                <a:srgbClr val="7FA08F"/>
              </a:solidFill>
              <a:effectLst/>
            </c:spPr>
            <c:extLst>
              <c:ext xmlns:c16="http://schemas.microsoft.com/office/drawing/2014/chart" uri="{C3380CC4-5D6E-409C-BE32-E72D297353CC}">
                <c16:uniqueId val="{00000003-EAD1-46DE-9C8D-0C8EC24FFC40}"/>
              </c:ext>
            </c:extLst>
          </c:dPt>
          <c:dPt>
            <c:idx val="2"/>
            <c:invertIfNegative val="0"/>
            <c:bubble3D val="0"/>
            <c:spPr>
              <a:solidFill>
                <a:srgbClr val="B85042"/>
              </a:solidFill>
              <a:effectLst/>
            </c:spPr>
            <c:extLst>
              <c:ext xmlns:c16="http://schemas.microsoft.com/office/drawing/2014/chart" uri="{C3380CC4-5D6E-409C-BE32-E72D297353CC}">
                <c16:uniqueId val="{00000005-EAD1-46DE-9C8D-0C8EC24FFC40}"/>
              </c:ext>
            </c:extLst>
          </c:dPt>
          <c:dLbls>
            <c:numFmt formatCode="0.000" sourceLinked="0"/>
            <c:spPr>
              <a:noFill/>
              <a:ln>
                <a:noFill/>
              </a:ln>
              <a:effectLst/>
            </c:spPr>
            <c:txPr>
              <a:bodyPr/>
              <a:lstStyle/>
              <a:p>
                <a:pPr>
                  <a:defRPr sz="1100" b="0" i="0" u="none" strike="noStrike">
                    <a:solidFill>
                      <a:srgbClr val="241A1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Régression logistique</c:v>
                </c:pt>
                <c:pt idx="1">
                  <c:v>Random Forest</c:v>
                </c:pt>
                <c:pt idx="2">
                  <c:v>XGBoost</c:v>
                </c:pt>
              </c:strCache>
            </c:strRef>
          </c:cat>
          <c:val>
            <c:numRef>
              <c:f>Sheet1!$B$2:$B$4</c:f>
              <c:numCache>
                <c:formatCode>General</c:formatCode>
                <c:ptCount val="3"/>
                <c:pt idx="0">
                  <c:v>0.22159999999999999</c:v>
                </c:pt>
                <c:pt idx="1">
                  <c:v>0.32750000000000001</c:v>
                </c:pt>
                <c:pt idx="2">
                  <c:v>0.33110000000000001</c:v>
                </c:pt>
              </c:numCache>
            </c:numRef>
          </c:val>
          <c:extLst>
            <c:ext xmlns:c16="http://schemas.microsoft.com/office/drawing/2014/chart" uri="{C3380CC4-5D6E-409C-BE32-E72D297353CC}">
              <c16:uniqueId val="{00000006-EAD1-46DE-9C8D-0C8EC24FFC4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41A15"/>
                </a:solidFill>
                <a:latin typeface="Arial"/>
              </a:defRPr>
            </a:pPr>
            <a:endParaRPr lang="en-US"/>
          </a:p>
        </c:txPr>
        <c:crossAx val="2094734552"/>
        <c:crosses val="autoZero"/>
        <c:auto val="1"/>
        <c:lblAlgn val="ctr"/>
        <c:lblOffset val="100"/>
        <c:noMultiLvlLbl val="1"/>
      </c:catAx>
      <c:valAx>
        <c:axId val="2094734552"/>
        <c:scaling>
          <c:orientation val="minMax"/>
          <c:max val="0.4"/>
        </c:scaling>
        <c:delete val="1"/>
        <c:axPos val="b"/>
        <c:majorGridlines>
          <c:spPr>
            <a:ln w="12700" cap="flat">
              <a:solidFill>
                <a:srgbClr val="E3DFDB"/>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241A15"/>
                </a:solidFill>
                <a:latin typeface="Calibri"/>
              </a:defRPr>
            </a:pPr>
            <a:r>
              <a:rPr lang="fr-FR" sz="1200" b="0" i="0" u="none" strike="noStrike">
                <a:solidFill>
                  <a:srgbClr val="241A15"/>
                </a:solidFill>
                <a:latin typeface="Calibri"/>
              </a:rPr>
              <a:t>Rappel au top 5 % (%)</a:t>
            </a:r>
          </a:p>
        </c:rich>
      </c:tx>
      <c:overlay val="0"/>
    </c:title>
    <c:autoTitleDeleted val="0"/>
    <c:plotArea>
      <c:layout/>
      <c:barChart>
        <c:barDir val="bar"/>
        <c:grouping val="clustered"/>
        <c:varyColors val="0"/>
        <c:ser>
          <c:idx val="0"/>
          <c:order val="0"/>
          <c:tx>
            <c:strRef>
              <c:f>Sheet1!$B$1</c:f>
              <c:strCache>
                <c:ptCount val="1"/>
                <c:pt idx="0">
                  <c:v>Rappel</c:v>
                </c:pt>
              </c:strCache>
            </c:strRef>
          </c:tx>
          <c:spPr>
            <a:solidFill>
              <a:srgbClr val="8E8681"/>
            </a:solidFill>
            <a:effectLst/>
          </c:spPr>
          <c:invertIfNegative val="0"/>
          <c:dPt>
            <c:idx val="0"/>
            <c:invertIfNegative val="0"/>
            <c:bubble3D val="0"/>
            <c:spPr>
              <a:solidFill>
                <a:srgbClr val="8E8681"/>
              </a:solidFill>
              <a:effectLst/>
            </c:spPr>
            <c:extLst>
              <c:ext xmlns:c16="http://schemas.microsoft.com/office/drawing/2014/chart" uri="{C3380CC4-5D6E-409C-BE32-E72D297353CC}">
                <c16:uniqueId val="{00000001-F6EC-4D19-8B92-1F012F920FDA}"/>
              </c:ext>
            </c:extLst>
          </c:dPt>
          <c:dPt>
            <c:idx val="1"/>
            <c:invertIfNegative val="0"/>
            <c:bubble3D val="0"/>
            <c:spPr>
              <a:solidFill>
                <a:srgbClr val="7FA08F"/>
              </a:solidFill>
              <a:effectLst/>
            </c:spPr>
            <c:extLst>
              <c:ext xmlns:c16="http://schemas.microsoft.com/office/drawing/2014/chart" uri="{C3380CC4-5D6E-409C-BE32-E72D297353CC}">
                <c16:uniqueId val="{00000003-F6EC-4D19-8B92-1F012F920FDA}"/>
              </c:ext>
            </c:extLst>
          </c:dPt>
          <c:dPt>
            <c:idx val="2"/>
            <c:invertIfNegative val="0"/>
            <c:bubble3D val="0"/>
            <c:spPr>
              <a:solidFill>
                <a:srgbClr val="B85042"/>
              </a:solidFill>
              <a:effectLst/>
            </c:spPr>
            <c:extLst>
              <c:ext xmlns:c16="http://schemas.microsoft.com/office/drawing/2014/chart" uri="{C3380CC4-5D6E-409C-BE32-E72D297353CC}">
                <c16:uniqueId val="{00000005-F6EC-4D19-8B92-1F012F920FDA}"/>
              </c:ext>
            </c:extLst>
          </c:dPt>
          <c:dLbls>
            <c:numFmt formatCode="0.0&quot; %&quot;" sourceLinked="0"/>
            <c:spPr>
              <a:noFill/>
              <a:ln>
                <a:noFill/>
              </a:ln>
              <a:effectLst/>
            </c:spPr>
            <c:txPr>
              <a:bodyPr/>
              <a:lstStyle/>
              <a:p>
                <a:pPr>
                  <a:defRPr sz="1100" b="0" i="0" u="none" strike="noStrike">
                    <a:solidFill>
                      <a:srgbClr val="241A1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Régression logistique</c:v>
                </c:pt>
                <c:pt idx="1">
                  <c:v>Random Forest</c:v>
                </c:pt>
                <c:pt idx="2">
                  <c:v>XGBoost</c:v>
                </c:pt>
              </c:strCache>
            </c:strRef>
          </c:cat>
          <c:val>
            <c:numRef>
              <c:f>Sheet1!$B$2:$B$4</c:f>
              <c:numCache>
                <c:formatCode>General</c:formatCode>
                <c:ptCount val="3"/>
                <c:pt idx="0">
                  <c:v>50.2</c:v>
                </c:pt>
                <c:pt idx="1">
                  <c:v>54.8</c:v>
                </c:pt>
                <c:pt idx="2">
                  <c:v>56.3</c:v>
                </c:pt>
              </c:numCache>
            </c:numRef>
          </c:val>
          <c:extLst>
            <c:ext xmlns:c16="http://schemas.microsoft.com/office/drawing/2014/chart" uri="{C3380CC4-5D6E-409C-BE32-E72D297353CC}">
              <c16:uniqueId val="{00000006-F6EC-4D19-8B92-1F012F920F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41A15"/>
                </a:solidFill>
                <a:latin typeface="Arial"/>
              </a:defRPr>
            </a:pPr>
            <a:endParaRPr lang="en-US"/>
          </a:p>
        </c:txPr>
        <c:crossAx val="2094734552"/>
        <c:crosses val="autoZero"/>
        <c:auto val="1"/>
        <c:lblAlgn val="ctr"/>
        <c:lblOffset val="100"/>
        <c:noMultiLvlLbl val="1"/>
      </c:catAx>
      <c:valAx>
        <c:axId val="2094734552"/>
        <c:scaling>
          <c:orientation val="minMax"/>
          <c:max val="68"/>
        </c:scaling>
        <c:delete val="1"/>
        <c:axPos val="b"/>
        <c:majorGridlines>
          <c:spPr>
            <a:ln w="12700" cap="flat">
              <a:solidFill>
                <a:srgbClr val="E3DFDB"/>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241A15"/>
                </a:solidFill>
                <a:latin typeface="Calibri"/>
              </a:defRPr>
            </a:pPr>
            <a:r>
              <a:rPr lang="fr-FR" sz="1200" b="0" i="0" u="none" strike="noStrike">
                <a:solidFill>
                  <a:srgbClr val="241A15"/>
                </a:solidFill>
                <a:latin typeface="Calibri"/>
              </a:rPr>
              <a:t>PR-AUC comparée à sa baseline</a:t>
            </a:r>
          </a:p>
        </c:rich>
      </c:tx>
      <c:overlay val="0"/>
    </c:title>
    <c:autoTitleDeleted val="0"/>
    <c:plotArea>
      <c:layout/>
      <c:barChart>
        <c:barDir val="bar"/>
        <c:grouping val="clustered"/>
        <c:varyColors val="0"/>
        <c:ser>
          <c:idx val="0"/>
          <c:order val="0"/>
          <c:tx>
            <c:strRef>
              <c:f>Sheet1!$B$1</c:f>
              <c:strCache>
                <c:ptCount val="1"/>
                <c:pt idx="0">
                  <c:v>PR-AUC</c:v>
                </c:pt>
              </c:strCache>
            </c:strRef>
          </c:tx>
          <c:spPr>
            <a:solidFill>
              <a:srgbClr val="8E8681"/>
            </a:solidFill>
            <a:effectLst/>
          </c:spPr>
          <c:invertIfNegative val="0"/>
          <c:dPt>
            <c:idx val="0"/>
            <c:invertIfNegative val="0"/>
            <c:bubble3D val="0"/>
            <c:spPr>
              <a:solidFill>
                <a:srgbClr val="8E8681"/>
              </a:solidFill>
              <a:effectLst/>
            </c:spPr>
            <c:extLst>
              <c:ext xmlns:c16="http://schemas.microsoft.com/office/drawing/2014/chart" uri="{C3380CC4-5D6E-409C-BE32-E72D297353CC}">
                <c16:uniqueId val="{00000001-22B1-43A4-B012-C0973A075CCE}"/>
              </c:ext>
            </c:extLst>
          </c:dPt>
          <c:dPt>
            <c:idx val="1"/>
            <c:invertIfNegative val="0"/>
            <c:bubble3D val="0"/>
            <c:spPr>
              <a:solidFill>
                <a:srgbClr val="B85042"/>
              </a:solidFill>
              <a:effectLst/>
            </c:spPr>
            <c:extLst>
              <c:ext xmlns:c16="http://schemas.microsoft.com/office/drawing/2014/chart" uri="{C3380CC4-5D6E-409C-BE32-E72D297353CC}">
                <c16:uniqueId val="{00000003-22B1-43A4-B012-C0973A075CCE}"/>
              </c:ext>
            </c:extLst>
          </c:dPt>
          <c:dLbls>
            <c:numFmt formatCode="0.000" sourceLinked="0"/>
            <c:spPr>
              <a:noFill/>
              <a:ln>
                <a:noFill/>
              </a:ln>
              <a:effectLst/>
            </c:spPr>
            <c:txPr>
              <a:bodyPr/>
              <a:lstStyle/>
              <a:p>
                <a:pPr>
                  <a:defRPr sz="1100" b="0" i="0" u="none" strike="noStrike">
                    <a:solidFill>
                      <a:srgbClr val="241A1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Hasard (taux de base)</c:v>
                </c:pt>
                <c:pt idx="1">
                  <c:v>Notre modèle</c:v>
                </c:pt>
              </c:strCache>
            </c:strRef>
          </c:cat>
          <c:val>
            <c:numRef>
              <c:f>Sheet1!$B$2:$B$3</c:f>
              <c:numCache>
                <c:formatCode>General</c:formatCode>
                <c:ptCount val="2"/>
                <c:pt idx="0">
                  <c:v>2.53E-2</c:v>
                </c:pt>
                <c:pt idx="1">
                  <c:v>0.33110000000000001</c:v>
                </c:pt>
              </c:numCache>
            </c:numRef>
          </c:val>
          <c:extLst>
            <c:ext xmlns:c16="http://schemas.microsoft.com/office/drawing/2014/chart" uri="{C3380CC4-5D6E-409C-BE32-E72D297353CC}">
              <c16:uniqueId val="{00000004-22B1-43A4-B012-C0973A075CC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5550"/>
                </a:solidFill>
                <a:latin typeface="Arial"/>
              </a:defRPr>
            </a:pPr>
            <a:endParaRPr lang="en-US"/>
          </a:p>
        </c:txPr>
        <c:crossAx val="2094734552"/>
        <c:crosses val="autoZero"/>
        <c:auto val="1"/>
        <c:lblAlgn val="ctr"/>
        <c:lblOffset val="100"/>
        <c:noMultiLvlLbl val="1"/>
      </c:catAx>
      <c:valAx>
        <c:axId val="2094734552"/>
        <c:scaling>
          <c:orientation val="minMax"/>
          <c:max val="0.42"/>
        </c:scaling>
        <c:delete val="1"/>
        <c:axPos val="b"/>
        <c:majorGridlines>
          <c:spPr>
            <a:ln w="12700" cap="flat">
              <a:solidFill>
                <a:srgbClr val="E3DFDB"/>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Perte de PR-AUC</c:v>
                </c:pt>
              </c:strCache>
            </c:strRef>
          </c:tx>
          <c:spPr>
            <a:solidFill>
              <a:srgbClr val="8E8681"/>
            </a:solidFill>
            <a:effectLst/>
          </c:spPr>
          <c:invertIfNegative val="0"/>
          <c:dPt>
            <c:idx val="0"/>
            <c:invertIfNegative val="0"/>
            <c:bubble3D val="0"/>
            <c:extLst>
              <c:ext xmlns:c16="http://schemas.microsoft.com/office/drawing/2014/chart" uri="{C3380CC4-5D6E-409C-BE32-E72D297353CC}">
                <c16:uniqueId val="{00000001-9FE0-47FA-9369-8CFCD957FDC7}"/>
              </c:ext>
            </c:extLst>
          </c:dPt>
          <c:dPt>
            <c:idx val="1"/>
            <c:invertIfNegative val="0"/>
            <c:bubble3D val="0"/>
            <c:extLst>
              <c:ext xmlns:c16="http://schemas.microsoft.com/office/drawing/2014/chart" uri="{C3380CC4-5D6E-409C-BE32-E72D297353CC}">
                <c16:uniqueId val="{00000003-9FE0-47FA-9369-8CFCD957FDC7}"/>
              </c:ext>
            </c:extLst>
          </c:dPt>
          <c:dPt>
            <c:idx val="2"/>
            <c:invertIfNegative val="0"/>
            <c:bubble3D val="0"/>
            <c:spPr>
              <a:solidFill>
                <a:srgbClr val="50808E"/>
              </a:solidFill>
              <a:effectLst/>
            </c:spPr>
            <c:extLst>
              <c:ext xmlns:c16="http://schemas.microsoft.com/office/drawing/2014/chart" uri="{C3380CC4-5D6E-409C-BE32-E72D297353CC}">
                <c16:uniqueId val="{00000005-9FE0-47FA-9369-8CFCD957FDC7}"/>
              </c:ext>
            </c:extLst>
          </c:dPt>
          <c:dPt>
            <c:idx val="3"/>
            <c:invertIfNegative val="0"/>
            <c:bubble3D val="0"/>
            <c:spPr>
              <a:solidFill>
                <a:srgbClr val="B85042"/>
              </a:solidFill>
              <a:effectLst/>
            </c:spPr>
            <c:extLst>
              <c:ext xmlns:c16="http://schemas.microsoft.com/office/drawing/2014/chart" uri="{C3380CC4-5D6E-409C-BE32-E72D297353CC}">
                <c16:uniqueId val="{00000007-9FE0-47FA-9369-8CFCD957FDC7}"/>
              </c:ext>
            </c:extLst>
          </c:dPt>
          <c:dPt>
            <c:idx val="4"/>
            <c:invertIfNegative val="0"/>
            <c:bubble3D val="0"/>
            <c:spPr>
              <a:solidFill>
                <a:srgbClr val="50808E"/>
              </a:solidFill>
              <a:effectLst/>
            </c:spPr>
            <c:extLst>
              <c:ext xmlns:c16="http://schemas.microsoft.com/office/drawing/2014/chart" uri="{C3380CC4-5D6E-409C-BE32-E72D297353CC}">
                <c16:uniqueId val="{00000009-9FE0-47FA-9369-8CFCD957FDC7}"/>
              </c:ext>
            </c:extLst>
          </c:dPt>
          <c:dPt>
            <c:idx val="5"/>
            <c:invertIfNegative val="0"/>
            <c:bubble3D val="0"/>
            <c:spPr>
              <a:solidFill>
                <a:srgbClr val="7FA08F"/>
              </a:solidFill>
              <a:effectLst/>
            </c:spPr>
            <c:extLst>
              <c:ext xmlns:c16="http://schemas.microsoft.com/office/drawing/2014/chart" uri="{C3380CC4-5D6E-409C-BE32-E72D297353CC}">
                <c16:uniqueId val="{0000000B-9FE0-47FA-9369-8CFCD957FDC7}"/>
              </c:ext>
            </c:extLst>
          </c:dPt>
          <c:dPt>
            <c:idx val="6"/>
            <c:invertIfNegative val="0"/>
            <c:bubble3D val="0"/>
            <c:spPr>
              <a:solidFill>
                <a:srgbClr val="B85042"/>
              </a:solidFill>
              <a:effectLst/>
            </c:spPr>
            <c:extLst>
              <c:ext xmlns:c16="http://schemas.microsoft.com/office/drawing/2014/chart" uri="{C3380CC4-5D6E-409C-BE32-E72D297353CC}">
                <c16:uniqueId val="{0000000D-9FE0-47FA-9369-8CFCD957FDC7}"/>
              </c:ext>
            </c:extLst>
          </c:dPt>
          <c:dPt>
            <c:idx val="7"/>
            <c:invertIfNegative val="0"/>
            <c:bubble3D val="0"/>
            <c:spPr>
              <a:solidFill>
                <a:srgbClr val="B85042"/>
              </a:solidFill>
              <a:effectLst/>
            </c:spPr>
            <c:extLst>
              <c:ext xmlns:c16="http://schemas.microsoft.com/office/drawing/2014/chart" uri="{C3380CC4-5D6E-409C-BE32-E72D297353CC}">
                <c16:uniqueId val="{0000000F-9FE0-47FA-9369-8CFCD957FDC7}"/>
              </c:ext>
            </c:extLst>
          </c:dPt>
          <c:dPt>
            <c:idx val="8"/>
            <c:invertIfNegative val="0"/>
            <c:bubble3D val="0"/>
            <c:spPr>
              <a:solidFill>
                <a:srgbClr val="B85042"/>
              </a:solidFill>
              <a:effectLst/>
            </c:spPr>
            <c:extLst>
              <c:ext xmlns:c16="http://schemas.microsoft.com/office/drawing/2014/chart" uri="{C3380CC4-5D6E-409C-BE32-E72D297353CC}">
                <c16:uniqueId val="{00000011-9FE0-47FA-9369-8CFCD957FDC7}"/>
              </c:ext>
            </c:extLst>
          </c:dPt>
          <c:dPt>
            <c:idx val="9"/>
            <c:invertIfNegative val="0"/>
            <c:bubble3D val="0"/>
            <c:spPr>
              <a:solidFill>
                <a:srgbClr val="50808E"/>
              </a:solidFill>
              <a:effectLst/>
            </c:spPr>
            <c:extLst>
              <c:ext xmlns:c16="http://schemas.microsoft.com/office/drawing/2014/chart" uri="{C3380CC4-5D6E-409C-BE32-E72D297353CC}">
                <c16:uniqueId val="{00000013-9FE0-47FA-9369-8CFCD957FDC7}"/>
              </c:ext>
            </c:extLst>
          </c:dPt>
          <c:dPt>
            <c:idx val="10"/>
            <c:invertIfNegative val="0"/>
            <c:bubble3D val="0"/>
            <c:spPr>
              <a:solidFill>
                <a:srgbClr val="7FA08F"/>
              </a:solidFill>
              <a:effectLst/>
            </c:spPr>
            <c:extLst>
              <c:ext xmlns:c16="http://schemas.microsoft.com/office/drawing/2014/chart" uri="{C3380CC4-5D6E-409C-BE32-E72D297353CC}">
                <c16:uniqueId val="{00000015-9FE0-47FA-9369-8CFCD957FDC7}"/>
              </c:ext>
            </c:extLst>
          </c:dPt>
          <c:dLbls>
            <c:numFmt formatCode="0.0&quot; %&quot;" sourceLinked="0"/>
            <c:spPr>
              <a:noFill/>
              <a:ln>
                <a:noFill/>
              </a:ln>
              <a:effectLst/>
            </c:spPr>
            <c:txPr>
              <a:bodyPr/>
              <a:lstStyle/>
              <a:p>
                <a:pPr>
                  <a:defRPr sz="1000" b="0" i="0" u="none" strike="noStrike">
                    <a:solidFill>
                      <a:srgbClr val="241A1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part_feux_été_5a</c:v>
                </c:pt>
                <c:pt idx="1">
                  <c:v>population</c:v>
                </c:pt>
                <c:pt idx="2">
                  <c:v>superficie_km2</c:v>
                </c:pt>
                <c:pt idx="3">
                  <c:v>surface_5a_ha</c:v>
                </c:pt>
                <c:pt idx="4">
                  <c:v>longitude</c:v>
                </c:pt>
                <c:pt idx="5">
                  <c:v>cluster_risque</c:v>
                </c:pt>
                <c:pt idx="6">
                  <c:v>surface_10a_ha</c:v>
                </c:pt>
                <c:pt idx="7">
                  <c:v>nb_feux_5a</c:v>
                </c:pt>
                <c:pt idx="8">
                  <c:v>nb_feux_10a</c:v>
                </c:pt>
                <c:pt idx="9">
                  <c:v>latitude</c:v>
                </c:pt>
                <c:pt idx="10">
                  <c:v>cluster_spatial</c:v>
                </c:pt>
              </c:strCache>
            </c:strRef>
          </c:cat>
          <c:val>
            <c:numRef>
              <c:f>Sheet1!$B$2:$B$12</c:f>
              <c:numCache>
                <c:formatCode>General</c:formatCode>
                <c:ptCount val="11"/>
                <c:pt idx="0">
                  <c:v>4.8</c:v>
                </c:pt>
                <c:pt idx="1">
                  <c:v>7.9</c:v>
                </c:pt>
                <c:pt idx="2">
                  <c:v>8.6999999999999993</c:v>
                </c:pt>
                <c:pt idx="3">
                  <c:v>9.1999999999999993</c:v>
                </c:pt>
                <c:pt idx="4">
                  <c:v>10.7</c:v>
                </c:pt>
                <c:pt idx="5">
                  <c:v>14.9</c:v>
                </c:pt>
                <c:pt idx="6">
                  <c:v>23.4</c:v>
                </c:pt>
                <c:pt idx="7">
                  <c:v>23.8</c:v>
                </c:pt>
                <c:pt idx="8">
                  <c:v>30.9</c:v>
                </c:pt>
                <c:pt idx="9">
                  <c:v>40.5</c:v>
                </c:pt>
                <c:pt idx="10">
                  <c:v>41.3</c:v>
                </c:pt>
              </c:numCache>
            </c:numRef>
          </c:val>
          <c:extLst>
            <c:ext xmlns:c16="http://schemas.microsoft.com/office/drawing/2014/chart" uri="{C3380CC4-5D6E-409C-BE32-E72D297353CC}">
              <c16:uniqueId val="{00000016-9FE0-47FA-9369-8CFCD957FDC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41A15"/>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b"/>
        <c:majorGridlines>
          <c:spPr>
            <a:ln w="12700" cap="flat">
              <a:solidFill>
                <a:srgbClr val="E3DFD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555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10 jours</c:v>
                </c:pt>
              </c:strCache>
            </c:strRef>
          </c:tx>
          <c:spPr>
            <a:solidFill>
              <a:srgbClr val="50808E"/>
            </a:solidFill>
            <a:effectLst/>
          </c:spPr>
          <c:invertIfNegative val="0"/>
          <c:dLbls>
            <c:numFmt formatCode="0&quot;%&quot;" sourceLinked="0"/>
            <c:spPr>
              <a:noFill/>
              <a:ln>
                <a:noFill/>
              </a:ln>
              <a:effectLst/>
            </c:spPr>
            <c:txPr>
              <a:bodyPr/>
              <a:lstStyle/>
              <a:p>
                <a:pPr>
                  <a:defRPr sz="900" b="0" i="0" u="none" strike="noStrike">
                    <a:solidFill>
                      <a:srgbClr val="5C555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 janvier</c:v>
                </c:pt>
                <c:pt idx="1">
                  <c:v>15 juin</c:v>
                </c:pt>
                <c:pt idx="2">
                  <c:v>10 août</c:v>
                </c:pt>
              </c:strCache>
            </c:strRef>
          </c:cat>
          <c:val>
            <c:numRef>
              <c:f>Sheet1!$B$2:$B$4</c:f>
              <c:numCache>
                <c:formatCode>General</c:formatCode>
                <c:ptCount val="3"/>
                <c:pt idx="0">
                  <c:v>7.8</c:v>
                </c:pt>
                <c:pt idx="1">
                  <c:v>20.8</c:v>
                </c:pt>
                <c:pt idx="2">
                  <c:v>26.5</c:v>
                </c:pt>
              </c:numCache>
            </c:numRef>
          </c:val>
          <c:extLst>
            <c:ext xmlns:c16="http://schemas.microsoft.com/office/drawing/2014/chart" uri="{C3380CC4-5D6E-409C-BE32-E72D297353CC}">
              <c16:uniqueId val="{00000000-59EC-45EE-9EA2-267775750D83}"/>
            </c:ext>
          </c:extLst>
        </c:ser>
        <c:ser>
          <c:idx val="1"/>
          <c:order val="1"/>
          <c:tx>
            <c:strRef>
              <c:f>Sheet1!$C$1</c:f>
              <c:strCache>
                <c:ptCount val="1"/>
                <c:pt idx="0">
                  <c:v>30 jours</c:v>
                </c:pt>
              </c:strCache>
            </c:strRef>
          </c:tx>
          <c:spPr>
            <a:solidFill>
              <a:srgbClr val="7FA08F"/>
            </a:solidFill>
            <a:effectLst/>
          </c:spPr>
          <c:invertIfNegative val="0"/>
          <c:dLbls>
            <c:numFmt formatCode="0&quot;%&quot;" sourceLinked="0"/>
            <c:spPr>
              <a:noFill/>
              <a:ln>
                <a:noFill/>
              </a:ln>
              <a:effectLst/>
            </c:spPr>
            <c:txPr>
              <a:bodyPr/>
              <a:lstStyle/>
              <a:p>
                <a:pPr>
                  <a:defRPr sz="900" b="0" i="0" u="none" strike="noStrike">
                    <a:solidFill>
                      <a:srgbClr val="5C555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 janvier</c:v>
                </c:pt>
                <c:pt idx="1">
                  <c:v>15 juin</c:v>
                </c:pt>
                <c:pt idx="2">
                  <c:v>10 août</c:v>
                </c:pt>
              </c:strCache>
            </c:strRef>
          </c:cat>
          <c:val>
            <c:numRef>
              <c:f>Sheet1!$C$2:$C$4</c:f>
              <c:numCache>
                <c:formatCode>General</c:formatCode>
                <c:ptCount val="3"/>
                <c:pt idx="0">
                  <c:v>14.7</c:v>
                </c:pt>
                <c:pt idx="1">
                  <c:v>42.1</c:v>
                </c:pt>
                <c:pt idx="2">
                  <c:v>43.4</c:v>
                </c:pt>
              </c:numCache>
            </c:numRef>
          </c:val>
          <c:extLst>
            <c:ext xmlns:c16="http://schemas.microsoft.com/office/drawing/2014/chart" uri="{C3380CC4-5D6E-409C-BE32-E72D297353CC}">
              <c16:uniqueId val="{00000001-59EC-45EE-9EA2-267775750D83}"/>
            </c:ext>
          </c:extLst>
        </c:ser>
        <c:ser>
          <c:idx val="2"/>
          <c:order val="2"/>
          <c:tx>
            <c:strRef>
              <c:f>Sheet1!$D$1</c:f>
              <c:strCache>
                <c:ptCount val="1"/>
                <c:pt idx="0">
                  <c:v>60 jours</c:v>
                </c:pt>
              </c:strCache>
            </c:strRef>
          </c:tx>
          <c:spPr>
            <a:solidFill>
              <a:srgbClr val="B85042"/>
            </a:solidFill>
            <a:effectLst/>
          </c:spPr>
          <c:invertIfNegative val="0"/>
          <c:dLbls>
            <c:numFmt formatCode="0&quot;%&quot;" sourceLinked="0"/>
            <c:spPr>
              <a:noFill/>
              <a:ln>
                <a:noFill/>
              </a:ln>
              <a:effectLst/>
            </c:spPr>
            <c:txPr>
              <a:bodyPr/>
              <a:lstStyle/>
              <a:p>
                <a:pPr>
                  <a:defRPr sz="900" b="0" i="0" u="none" strike="noStrike">
                    <a:solidFill>
                      <a:srgbClr val="5C555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 janvier</c:v>
                </c:pt>
                <c:pt idx="1">
                  <c:v>15 juin</c:v>
                </c:pt>
                <c:pt idx="2">
                  <c:v>10 août</c:v>
                </c:pt>
              </c:strCache>
            </c:strRef>
          </c:cat>
          <c:val>
            <c:numRef>
              <c:f>Sheet1!$D$2:$D$4</c:f>
              <c:numCache>
                <c:formatCode>General</c:formatCode>
                <c:ptCount val="3"/>
                <c:pt idx="0">
                  <c:v>58.7</c:v>
                </c:pt>
                <c:pt idx="1">
                  <c:v>92.3</c:v>
                </c:pt>
                <c:pt idx="2">
                  <c:v>81.400000000000006</c:v>
                </c:pt>
              </c:numCache>
            </c:numRef>
          </c:val>
          <c:extLst>
            <c:ext xmlns:c16="http://schemas.microsoft.com/office/drawing/2014/chart" uri="{C3380CC4-5D6E-409C-BE32-E72D297353CC}">
              <c16:uniqueId val="{00000002-59EC-45EE-9EA2-267775750D8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41A15"/>
                </a:solidFill>
                <a:latin typeface="Arial"/>
              </a:defRPr>
            </a:pPr>
            <a:endParaRPr lang="en-US"/>
          </a:p>
        </c:txPr>
        <c:crossAx val="2094734552"/>
        <c:crosses val="autoZero"/>
        <c:auto val="1"/>
        <c:lblAlgn val="ctr"/>
        <c:lblOffset val="100"/>
        <c:noMultiLvlLbl val="1"/>
      </c:catAx>
      <c:valAx>
        <c:axId val="2094734552"/>
        <c:scaling>
          <c:orientation val="minMax"/>
          <c:max val="115"/>
        </c:scaling>
        <c:delete val="1"/>
        <c:axPos val="l"/>
        <c:majorGridlines>
          <c:spPr>
            <a:ln w="12700" cap="flat">
              <a:solidFill>
                <a:srgbClr val="E3DFDB"/>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5C5550"/>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902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Notre projet répond à une question simple à énoncer et difficile à trancher : peut-on désigner à l'avance les communes françaises qui vont connaître un incendie de forêt ? Nous avons travaillé sur la base BDIFF, 140 246 incendies entre 1973 et 2024, croisée avec les 34 863 communes de France.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n'est pas de prédire un incendie au jour près : c'est un problème de ciblage. On veut classer les communes par exposition pour orienter la prévention. Nous assumons dès le départ les limites : pas de météo, donc pas d'alerte opérationnelle, et aucune prétention causale.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cahier des charges point par point. Sept exigences sur huit sont couvertes. Nous avons volontairement gardé en rouge ce qui reste : le clustering temporel et le rapport méthodologique. Nous préférons les nommer que les cacher.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chaîne comporte six étapes. Le point que nous voulons souligner est la deuxième : la table de staging. Les 52 exports annuels de la BDIFF n'ont pas le même format d'en-tête. En chargeant tout en texte brut avant de nettoyer en SQL, on ne perd aucune ligne et on peut rejouer le nettoyage sans retélécharger.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modéliser quoi que ce soit, nous avons voulu pouvoir répondre de nos données. Six contrôles tournent automatiquement à chaque chargement et écrivent un rapport daté. Les six sont au vert. Le plus important est le dernier : le contrôle croisé entre la table de staging et la table finale garantit qu'aucune ligne n'a disparu en route.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Dix-huit variables réparties en quatre familles. Le point sur lequel nous insistons est la règle anti-fuite : toutes les fenêtres glissantes sont décalées d'un an. Une ligne du panel représente exactement ce qu'on savait au 1er janvier. C'est ce qui rend le test temporel honnête.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clusterings répondent à deux questions différentes. DBSCAN travaille sur les coordonnées des feux eux-mêmes et trouve 14 zones denses. KMeans travaille sur les profils de communes. Nous avons comparé k de 2 à 7 avec le coude et la silhouette. Point d'honnêteté : les silhouettes de k=2 et k=3 sont quasiment identiques, le choix de k=2 se discute.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calibrée, avec pondération balanced parce que seulement 2,53 % des communes-années sont positives. Le découpage est strictement chronologique : on apprend sur 2011-2022, on teste sur 2023 dont la cible est observée en 2024. Et chaque exécution enregistre un hash SHA-256 du découpage, ce qui prouve qu'il n'a pas bougé entre deux runs.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professeur nous a demandé : Random Forest ou XGBoost ? Sans chiffres, retenir la Random Forest n'est pas un choix, c'est une préférence. Nous avons donc entraîné les trois sur exactement le même découpage, avec les mêmes variables et la même calibration. Deux enseignements. D'abord la régression logistique, qui sert de plancher : les modèles à arbres apportent 48 % de PR-AUC en plus, donc la relation entre historique et risque n'est pas linéaire. Ensuite XGBoost et Random Forest sont à égalité, 1 % d'écart. Ce qui les départage, c'est le temps d'entraînement : 13 secondes contre 62.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chiffre que nous défendons : PR-AUC de 0,331. Le piège classique serait de dire « c'est faible, 0,331 sur 1 ». Non : le plancher de la PR-AUC n'est pas 0,5 comme pour la ROC-AUC, c'est le taux de base, ici 0,0253. Nous sommes donc à 13,1 fois le hasard. Le score de Brier à 0,0211 confirme que les probabilités affichées sont bien calibrées.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qui traduit la métrique en décision. Si on ne surveille que les 5 % de communes les mieux classées, on attrape 497 des 882 communes qui vont brûler, soit 56 %. Attention à ne pas confondre précision et rappel : 28,5 % c'est la précision, la proportion de vrais parmi les désignées ; 56,3 % c'est le rappel, la couverture des feux réels. Les deux représentent un gain de 11,3 fois sur le hasard.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n'avons pas deviné l'importance des variables, nous l'avons mesurée par permutation : on mélange une colonne au hasard et on regarde de combien la PR-AUC s'effondre. Le cluster spatial ressort en numéro un, et les deux clusters portent 56 % du pouvoir prédictif. C'est justement ce chiffre qui nous a mis la puce à l'oreille : une variable aussi dominante méritait vérification. Nous avons découvert que DBSCAN était calculé sur l'ensemble des années, période de test comprise. La slide suivante montre comment nous l'avons remplacé. À l'inverse, la saisonnalité annuelle ne pèse que 6 % : sans météo, elle n'apporte presque rien.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annuel répond à « cette commune brûlera-t-elle dans l'année ». Le professeur voulait plus fin : une date précise. Le mur, c'est le volume : 242 millions de lignes. La solution est l'échantillonnage négatif — on garde tous les positifs et seulement 4,7 % des négatifs, puis on corrige la probabilité pour revenir au taux réel. Sur Aix-en-Provence, la saisonnalité ressort nettement : à horizon égal, le risque est deux à trois fois plus élevé en juin qu'en janvier. Et à droite, la correction dont je parlais : nous avons remplacé le cluster DBSCAN par la densité de feux dans un rayon de 20 km, calculée uniquement sur le passé. Même performance, meilleure précision, et plus aucune fuite.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seul chiffre ne prouve rien. Nous avons quatre garde-fous. Le test temporel est le principal. La validation croisée temporelle vérifie que 2023 n'était pas une année chanceuse. La validation géographique tient des communes entières à l'écart. Et le score de Brier vérifie la calibration : une probabilité annoncée à 30 % doit correspondre à 30 % de cas réels, sinon elle est inutilisable pour décider.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compte neuf pages, de la vue d'ensemble jusqu'à la fiche détaillée d'une commune. Un choix d'architecture important : le modèle n'est jamais recalculé à l'écran. Le pipeline produit les scores, l'application les charge en cache. Entraînement et consultation sont séparés, c'est ce qui rend l'interface instantanée.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tenions à ce que ce soit un projet et pas un notebook. Chaque exécution est archivée dans un dossier daté. Un hash cryptographique du découpage train/test est enregistré à chaque run : c'est notre garantie de reproductibilité. L'intégration continue vérifie le formatage, la sécurité des dépendances et les tests à chaque proposition de fusion.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préférons nommer nos limites plutôt que les laisser découvrir. La plus structurante est l'absence de météo : sans vent, sans température, sans indice de sécheresse, on apprend où ça brûle habituellement, pas où ça va brûler cette année. C'est exactement ce que montre la mesure d'importance : la saisonnalité ne pèse que 6 %.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horizons. À court terme, ce qui manque encore au cahier des charges : le clustering temporel et le rapport méthodologique. La comparaison de modèles, la baseline logistique, les horizons courts et la densité de voisinage sont désormais faits. À moyen terme, les vrais leviers : la météo d'abord, de loin, puis l'occupation du sol. À long terme, prédire la gravité et pas seulement l'occurrence. Et surtout croiser nos horizons courts avec la météo : c'est cela qui transformerait une carte de risque en véritable alerte opérationnelle.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en surveillant 5 % du territoire on couvre 56 % des communes qui brûleront, soit 11,3 fois mieux que le hasard, et sans une seule donnée météo. Quatre choses que nous retenons : une base dont on répond, un protocole sans fuite — y compris la fuite que nous avons nous-mêmes détectée et corrigée —, trois modèles comparés avec des chiffres plutôt qu'une préférence, et deux échelles de temps, l'année et la date précise. Merci, nous sommes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A15"/>
        </a:solidFill>
        <a:effectLst/>
      </p:bgPr>
    </p:bg>
    <p:spTree>
      <p:nvGrpSpPr>
        <p:cNvPr id="1" name=""/>
        <p:cNvGrpSpPr/>
        <p:nvPr/>
      </p:nvGrpSpPr>
      <p:grpSpPr>
        <a:xfrm>
          <a:off x="0" y="0"/>
          <a:ext cx="0" cy="0"/>
          <a:chOff x="0" y="0"/>
          <a:chExt cx="0" cy="0"/>
        </a:xfrm>
      </p:grpSpPr>
      <p:sp>
        <p:nvSpPr>
          <p:cNvPr id="2" name="Shape 0"/>
          <p:cNvSpPr/>
          <p:nvPr/>
        </p:nvSpPr>
        <p:spPr>
          <a:xfrm>
            <a:off x="9235440" y="-1371600"/>
            <a:ext cx="4754880" cy="4754880"/>
          </a:xfrm>
          <a:prstGeom prst="ellipse">
            <a:avLst/>
          </a:prstGeom>
          <a:solidFill>
            <a:srgbClr val="31241C"/>
          </a:solidFill>
          <a:ln/>
        </p:spPr>
        <p:txBody>
          <a:bodyPr/>
          <a:lstStyle/>
          <a:p>
            <a:endParaRPr lang="fr-FR"/>
          </a:p>
        </p:txBody>
      </p:sp>
      <p:sp>
        <p:nvSpPr>
          <p:cNvPr id="3" name="Shape 1"/>
          <p:cNvSpPr/>
          <p:nvPr/>
        </p:nvSpPr>
        <p:spPr>
          <a:xfrm>
            <a:off x="10332720" y="4480560"/>
            <a:ext cx="3108960" cy="3108960"/>
          </a:xfrm>
          <a:prstGeom prst="ellipse">
            <a:avLst/>
          </a:prstGeom>
          <a:solidFill>
            <a:srgbClr val="2E241D"/>
          </a:solidFill>
          <a:ln/>
        </p:spPr>
        <p:txBody>
          <a:bodyPr/>
          <a:lstStyle/>
          <a:p>
            <a:endParaRPr lang="fr-FR"/>
          </a:p>
        </p:txBody>
      </p:sp>
      <p:sp>
        <p:nvSpPr>
          <p:cNvPr id="4" name="Text 2"/>
          <p:cNvSpPr txBox="1"/>
          <p:nvPr/>
        </p:nvSpPr>
        <p:spPr>
          <a:xfrm>
            <a:off x="594360" y="1600200"/>
            <a:ext cx="8686800" cy="365760"/>
          </a:xfrm>
          <a:prstGeom prst="rect">
            <a:avLst/>
          </a:prstGeom>
          <a:noFill/>
          <a:ln/>
        </p:spPr>
        <p:txBody>
          <a:bodyPr wrap="square" lIns="0" tIns="0" rIns="0" bIns="0" rtlCol="0" anchor="ctr"/>
          <a:lstStyle/>
          <a:p>
            <a:pPr marL="0" indent="0">
              <a:buNone/>
            </a:pPr>
            <a:r>
              <a:rPr lang="en-US" sz="1300" b="1" kern="0" spc="300" dirty="0">
                <a:solidFill>
                  <a:srgbClr val="D9A196"/>
                </a:solidFill>
                <a:latin typeface="Calibri" pitchFamily="34" charset="0"/>
                <a:ea typeface="Calibri" pitchFamily="34" charset="-122"/>
                <a:cs typeface="Calibri" pitchFamily="34" charset="-120"/>
              </a:rPr>
              <a:t>TERRE · VENT · FEU · EAU · DATA</a:t>
            </a:r>
            <a:endParaRPr lang="en-US" sz="1300" dirty="0"/>
          </a:p>
        </p:txBody>
      </p:sp>
      <p:sp>
        <p:nvSpPr>
          <p:cNvPr id="5" name="Text 3"/>
          <p:cNvSpPr txBox="1"/>
          <p:nvPr/>
        </p:nvSpPr>
        <p:spPr>
          <a:xfrm>
            <a:off x="594360" y="2057400"/>
            <a:ext cx="877824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Prédire le risque d'incendie</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de forêt en France</a:t>
            </a:r>
            <a:endParaRPr lang="en-US" sz="4400" dirty="0"/>
          </a:p>
        </p:txBody>
      </p:sp>
      <p:sp>
        <p:nvSpPr>
          <p:cNvPr id="6" name="Text 4"/>
          <p:cNvSpPr txBox="1"/>
          <p:nvPr/>
        </p:nvSpPr>
        <p:spPr>
          <a:xfrm>
            <a:off x="594360" y="3931920"/>
            <a:ext cx="8778240" cy="384048"/>
          </a:xfrm>
          <a:prstGeom prst="rect">
            <a:avLst/>
          </a:prstGeom>
          <a:noFill/>
          <a:ln/>
        </p:spPr>
        <p:txBody>
          <a:bodyPr wrap="square" lIns="0" tIns="0" rIns="0" bIns="0" rtlCol="0" anchor="ctr"/>
          <a:lstStyle/>
          <a:p>
            <a:pPr marL="0" indent="0">
              <a:buNone/>
            </a:pPr>
            <a:r>
              <a:rPr lang="en-US" sz="1600" dirty="0">
                <a:solidFill>
                  <a:srgbClr val="7FA08F"/>
                </a:solidFill>
                <a:latin typeface="Calibri" pitchFamily="34" charset="0"/>
                <a:ea typeface="Calibri" pitchFamily="34" charset="-122"/>
                <a:cs typeface="Calibri" pitchFamily="34" charset="-120"/>
              </a:rPr>
              <a:t>140 246 incendies · 34 863 communes · 1973 → 2024</a:t>
            </a:r>
            <a:endParaRPr lang="en-US" sz="1600" dirty="0"/>
          </a:p>
        </p:txBody>
      </p:sp>
      <p:sp>
        <p:nvSpPr>
          <p:cNvPr id="7" name="Shape 5"/>
          <p:cNvSpPr/>
          <p:nvPr/>
        </p:nvSpPr>
        <p:spPr>
          <a:xfrm>
            <a:off x="594360" y="4800600"/>
            <a:ext cx="1920240" cy="27432"/>
          </a:xfrm>
          <a:prstGeom prst="rect">
            <a:avLst/>
          </a:prstGeom>
          <a:solidFill>
            <a:srgbClr val="B85042"/>
          </a:solidFill>
          <a:ln/>
        </p:spPr>
        <p:txBody>
          <a:bodyPr/>
          <a:lstStyle/>
          <a:p>
            <a:endParaRPr lang="fr-FR"/>
          </a:p>
        </p:txBody>
      </p:sp>
      <p:sp>
        <p:nvSpPr>
          <p:cNvPr id="8" name="Text 6"/>
          <p:cNvSpPr txBox="1"/>
          <p:nvPr/>
        </p:nvSpPr>
        <p:spPr>
          <a:xfrm>
            <a:off x="594360" y="5074920"/>
            <a:ext cx="877824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Lucien Nzeutom  ·  Pierre Mazard</a:t>
            </a:r>
            <a:endParaRPr lang="en-US" sz="1500" dirty="0"/>
          </a:p>
        </p:txBody>
      </p:sp>
      <p:sp>
        <p:nvSpPr>
          <p:cNvPr id="9" name="Text 7"/>
          <p:cNvSpPr txBox="1"/>
          <p:nvPr/>
        </p:nvSpPr>
        <p:spPr>
          <a:xfrm>
            <a:off x="594360" y="5413248"/>
            <a:ext cx="8778240" cy="320040"/>
          </a:xfrm>
          <a:prstGeom prst="rect">
            <a:avLst/>
          </a:prstGeom>
          <a:noFill/>
          <a:ln/>
        </p:spPr>
        <p:txBody>
          <a:bodyPr wrap="square" lIns="0" tIns="0" rIns="0" bIns="0" rtlCol="0" anchor="ctr"/>
          <a:lstStyle/>
          <a:p>
            <a:pPr marL="0" indent="0">
              <a:buNone/>
            </a:pPr>
            <a:r>
              <a:rPr lang="en-US" sz="1200" dirty="0">
                <a:solidFill>
                  <a:srgbClr val="8E8681"/>
                </a:solidFill>
                <a:latin typeface="Calibri" pitchFamily="34" charset="0"/>
                <a:ea typeface="Calibri" pitchFamily="34" charset="-122"/>
                <a:cs typeface="Calibri" pitchFamily="34" charset="-120"/>
              </a:rPr>
              <a:t>MSc Intelligence Artificielle &amp; Data  —  La Plateforme_,  Marseille  —  Septembre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La question posée</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Un problème de ciblage, pas de prévision météorologique</a:t>
            </a:r>
            <a:endParaRPr lang="en-US" sz="1400" dirty="0"/>
          </a:p>
        </p:txBody>
      </p:sp>
      <p:sp>
        <p:nvSpPr>
          <p:cNvPr id="6" name="Shape 4"/>
          <p:cNvSpPr/>
          <p:nvPr/>
        </p:nvSpPr>
        <p:spPr>
          <a:xfrm>
            <a:off x="594360" y="1463040"/>
            <a:ext cx="5394960" cy="1828800"/>
          </a:xfrm>
          <a:prstGeom prst="rect">
            <a:avLst/>
          </a:prstGeom>
          <a:solidFill>
            <a:srgbClr val="F2EFEC"/>
          </a:solidFill>
          <a:ln w="12700">
            <a:solidFill>
              <a:srgbClr val="F2EFEC"/>
            </a:solidFill>
            <a:prstDash val="solid"/>
          </a:ln>
        </p:spPr>
        <p:txBody>
          <a:bodyPr/>
          <a:lstStyle/>
          <a:p>
            <a:endParaRPr lang="fr-FR"/>
          </a:p>
        </p:txBody>
      </p:sp>
      <p:sp>
        <p:nvSpPr>
          <p:cNvPr id="7" name="Text 5"/>
          <p:cNvSpPr txBox="1"/>
          <p:nvPr/>
        </p:nvSpPr>
        <p:spPr>
          <a:xfrm>
            <a:off x="914400" y="1691640"/>
            <a:ext cx="4754880" cy="292608"/>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Le constat</a:t>
            </a:r>
            <a:endParaRPr lang="en-US" sz="1300" dirty="0"/>
          </a:p>
        </p:txBody>
      </p:sp>
      <p:sp>
        <p:nvSpPr>
          <p:cNvPr id="8" name="Text 6"/>
          <p:cNvSpPr txBox="1"/>
          <p:nvPr/>
        </p:nvSpPr>
        <p:spPr>
          <a:xfrm>
            <a:off x="914400" y="2130552"/>
            <a:ext cx="4754880" cy="1051560"/>
          </a:xfrm>
          <a:prstGeom prst="rect">
            <a:avLst/>
          </a:prstGeom>
          <a:noFill/>
          <a:ln/>
        </p:spPr>
        <p:txBody>
          <a:bodyPr wrap="square" lIns="0" tIns="0" rIns="0" bIns="0" rtlCol="0" anchor="t"/>
          <a:lstStyle/>
          <a:p>
            <a:pPr marL="0" indent="0">
              <a:buNone/>
            </a:pPr>
            <a:r>
              <a:rPr lang="en-US" sz="1500" dirty="0">
                <a:solidFill>
                  <a:srgbClr val="241A15"/>
                </a:solidFill>
                <a:latin typeface="Calibri" pitchFamily="34" charset="0"/>
                <a:ea typeface="Calibri" pitchFamily="34" charset="-122"/>
                <a:cs typeface="Calibri" pitchFamily="34" charset="-120"/>
              </a:rPr>
              <a:t>Les moyens de prévention sont limités : on ne peut pas surveiller 34 863 communes en même temps. Il faut choisir où regarder.</a:t>
            </a:r>
            <a:endParaRPr lang="en-US" sz="1500" dirty="0"/>
          </a:p>
        </p:txBody>
      </p:sp>
      <p:sp>
        <p:nvSpPr>
          <p:cNvPr id="9" name="Shape 7"/>
          <p:cNvSpPr/>
          <p:nvPr/>
        </p:nvSpPr>
        <p:spPr>
          <a:xfrm>
            <a:off x="6309360" y="1463040"/>
            <a:ext cx="5394960" cy="1828800"/>
          </a:xfrm>
          <a:prstGeom prst="rect">
            <a:avLst/>
          </a:prstGeom>
          <a:solidFill>
            <a:srgbClr val="241A15"/>
          </a:solidFill>
          <a:ln w="12700">
            <a:solidFill>
              <a:srgbClr val="241A15"/>
            </a:solidFill>
            <a:prstDash val="solid"/>
          </a:ln>
        </p:spPr>
        <p:txBody>
          <a:bodyPr/>
          <a:lstStyle/>
          <a:p>
            <a:endParaRPr lang="fr-FR"/>
          </a:p>
        </p:txBody>
      </p:sp>
      <p:sp>
        <p:nvSpPr>
          <p:cNvPr id="10" name="Text 8"/>
          <p:cNvSpPr txBox="1"/>
          <p:nvPr/>
        </p:nvSpPr>
        <p:spPr>
          <a:xfrm>
            <a:off x="6629400" y="1691640"/>
            <a:ext cx="4754880" cy="292608"/>
          </a:xfrm>
          <a:prstGeom prst="rect">
            <a:avLst/>
          </a:prstGeom>
          <a:noFill/>
          <a:ln/>
        </p:spPr>
        <p:txBody>
          <a:bodyPr wrap="square" lIns="0" tIns="0" rIns="0" bIns="0" rtlCol="0" anchor="ctr"/>
          <a:lstStyle/>
          <a:p>
            <a:pPr marL="0" indent="0">
              <a:buNone/>
            </a:pPr>
            <a:r>
              <a:rPr lang="en-US" sz="1300" b="1" dirty="0">
                <a:solidFill>
                  <a:srgbClr val="D9A196"/>
                </a:solidFill>
                <a:latin typeface="Calibri" pitchFamily="34" charset="0"/>
                <a:ea typeface="Calibri" pitchFamily="34" charset="-122"/>
                <a:cs typeface="Calibri" pitchFamily="34" charset="-120"/>
              </a:rPr>
              <a:t>Notre réponse</a:t>
            </a:r>
            <a:endParaRPr lang="en-US" sz="1300" dirty="0"/>
          </a:p>
        </p:txBody>
      </p:sp>
      <p:sp>
        <p:nvSpPr>
          <p:cNvPr id="11" name="Text 9"/>
          <p:cNvSpPr txBox="1"/>
          <p:nvPr/>
        </p:nvSpPr>
        <p:spPr>
          <a:xfrm>
            <a:off x="6629400" y="2130552"/>
            <a:ext cx="4754880" cy="10515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Un score de risque par commune : « cette commune connaîtra-t-elle au moins un incendie l'année prochaine ? »</a:t>
            </a:r>
            <a:endParaRPr lang="en-US" sz="1500" dirty="0"/>
          </a:p>
        </p:txBody>
      </p:sp>
      <p:sp>
        <p:nvSpPr>
          <p:cNvPr id="12" name="Text 10"/>
          <p:cNvSpPr txBox="1"/>
          <p:nvPr/>
        </p:nvSpPr>
        <p:spPr>
          <a:xfrm>
            <a:off x="594360" y="3703320"/>
            <a:ext cx="11000232" cy="329184"/>
          </a:xfrm>
          <a:prstGeom prst="rect">
            <a:avLst/>
          </a:prstGeom>
          <a:noFill/>
          <a:ln/>
        </p:spPr>
        <p:txBody>
          <a:bodyPr wrap="square" lIns="0" tIns="0" rIns="0" bIns="0" rtlCol="0" anchor="ctr"/>
          <a:lstStyle/>
          <a:p>
            <a:pPr marL="0" indent="0">
              <a:buNone/>
            </a:pPr>
            <a:r>
              <a:rPr lang="en-US" sz="1300" b="1" dirty="0">
                <a:solidFill>
                  <a:srgbClr val="5C5550"/>
                </a:solidFill>
                <a:latin typeface="Calibri" pitchFamily="34" charset="0"/>
                <a:ea typeface="Calibri" pitchFamily="34" charset="-122"/>
                <a:cs typeface="Calibri" pitchFamily="34" charset="-120"/>
              </a:rPr>
              <a:t>Ce que le modèle fait  et ce qu'il ne fait pas</a:t>
            </a:r>
            <a:endParaRPr lang="en-US" sz="1300" dirty="0"/>
          </a:p>
        </p:txBody>
      </p:sp>
      <p:sp>
        <p:nvSpPr>
          <p:cNvPr id="13" name="Shape 11"/>
          <p:cNvSpPr/>
          <p:nvPr/>
        </p:nvSpPr>
        <p:spPr>
          <a:xfrm>
            <a:off x="594360" y="4142232"/>
            <a:ext cx="237744" cy="237744"/>
          </a:xfrm>
          <a:prstGeom prst="ellipse">
            <a:avLst/>
          </a:prstGeom>
          <a:solidFill>
            <a:srgbClr val="7FA08F"/>
          </a:solidFill>
          <a:ln/>
        </p:spPr>
        <p:txBody>
          <a:bodyPr/>
          <a:lstStyle/>
          <a:p>
            <a:endParaRPr lang="fr-FR"/>
          </a:p>
        </p:txBody>
      </p:sp>
      <p:sp>
        <p:nvSpPr>
          <p:cNvPr id="14" name="Text 12"/>
          <p:cNvSpPr txBox="1"/>
          <p:nvPr/>
        </p:nvSpPr>
        <p:spPr>
          <a:xfrm>
            <a:off x="960120" y="4105656"/>
            <a:ext cx="3200400" cy="310896"/>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Il classe</a:t>
            </a:r>
            <a:endParaRPr lang="en-US" sz="1400" dirty="0"/>
          </a:p>
        </p:txBody>
      </p:sp>
      <p:sp>
        <p:nvSpPr>
          <p:cNvPr id="15" name="Text 13"/>
          <p:cNvSpPr txBox="1"/>
          <p:nvPr/>
        </p:nvSpPr>
        <p:spPr>
          <a:xfrm>
            <a:off x="594360" y="4489704"/>
            <a:ext cx="3520440" cy="14630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Il ordonne les communes de la plus exposée à la moins exposée, sur un horizon d'un an.</a:t>
            </a:r>
            <a:endParaRPr lang="en-US" sz="1300" dirty="0"/>
          </a:p>
        </p:txBody>
      </p:sp>
      <p:sp>
        <p:nvSpPr>
          <p:cNvPr id="16" name="Shape 14"/>
          <p:cNvSpPr/>
          <p:nvPr/>
        </p:nvSpPr>
        <p:spPr>
          <a:xfrm>
            <a:off x="4361688" y="4142232"/>
            <a:ext cx="237744" cy="237744"/>
          </a:xfrm>
          <a:prstGeom prst="ellipse">
            <a:avLst/>
          </a:prstGeom>
          <a:solidFill>
            <a:srgbClr val="B85042"/>
          </a:solidFill>
          <a:ln/>
        </p:spPr>
        <p:txBody>
          <a:bodyPr/>
          <a:lstStyle/>
          <a:p>
            <a:endParaRPr lang="fr-FR"/>
          </a:p>
        </p:txBody>
      </p:sp>
      <p:sp>
        <p:nvSpPr>
          <p:cNvPr id="17" name="Text 15"/>
          <p:cNvSpPr txBox="1"/>
          <p:nvPr/>
        </p:nvSpPr>
        <p:spPr>
          <a:xfrm>
            <a:off x="4727448" y="4105656"/>
            <a:ext cx="3200400" cy="310896"/>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Il ne prédit pas la date</a:t>
            </a:r>
            <a:endParaRPr lang="en-US" sz="1400" dirty="0"/>
          </a:p>
        </p:txBody>
      </p:sp>
      <p:sp>
        <p:nvSpPr>
          <p:cNvPr id="18" name="Text 16"/>
          <p:cNvSpPr txBox="1"/>
          <p:nvPr/>
        </p:nvSpPr>
        <p:spPr>
          <a:xfrm>
            <a:off x="4361688" y="4489704"/>
            <a:ext cx="3520440" cy="14630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Aucune donnée météo : ni vent, ni température, ni sécheresse. Ce n'est pas une alerte du jour.</a:t>
            </a:r>
            <a:endParaRPr lang="en-US" sz="1300" dirty="0"/>
          </a:p>
        </p:txBody>
      </p:sp>
      <p:sp>
        <p:nvSpPr>
          <p:cNvPr id="19" name="Shape 17"/>
          <p:cNvSpPr/>
          <p:nvPr/>
        </p:nvSpPr>
        <p:spPr>
          <a:xfrm>
            <a:off x="8129016" y="4142232"/>
            <a:ext cx="237744" cy="237744"/>
          </a:xfrm>
          <a:prstGeom prst="ellipse">
            <a:avLst/>
          </a:prstGeom>
          <a:solidFill>
            <a:srgbClr val="50808E"/>
          </a:solidFill>
          <a:ln/>
        </p:spPr>
        <p:txBody>
          <a:bodyPr/>
          <a:lstStyle/>
          <a:p>
            <a:endParaRPr lang="fr-FR"/>
          </a:p>
        </p:txBody>
      </p:sp>
      <p:sp>
        <p:nvSpPr>
          <p:cNvPr id="20" name="Text 18"/>
          <p:cNvSpPr txBox="1"/>
          <p:nvPr/>
        </p:nvSpPr>
        <p:spPr>
          <a:xfrm>
            <a:off x="8494776" y="4105656"/>
            <a:ext cx="3200400" cy="310896"/>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Il ne dit pas la cause</a:t>
            </a:r>
            <a:endParaRPr lang="en-US" sz="1400" dirty="0"/>
          </a:p>
        </p:txBody>
      </p:sp>
      <p:sp>
        <p:nvSpPr>
          <p:cNvPr id="21" name="Text 19"/>
          <p:cNvSpPr txBox="1"/>
          <p:nvPr/>
        </p:nvSpPr>
        <p:spPr>
          <a:xfrm>
            <a:off x="8129016" y="4489704"/>
            <a:ext cx="3520440" cy="14630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Un score élevé signale un historique compatible avec une occurrence, pas une causalité.</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Ce que le sujet demandait</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Et où nous en sommes sur chaque point</a:t>
            </a:r>
            <a:endParaRPr lang="en-US" sz="1400" dirty="0"/>
          </a:p>
        </p:txBody>
      </p:sp>
      <p:sp>
        <p:nvSpPr>
          <p:cNvPr id="6" name="Shape 4"/>
          <p:cNvSpPr/>
          <p:nvPr/>
        </p:nvSpPr>
        <p:spPr>
          <a:xfrm>
            <a:off x="594360" y="1431036"/>
            <a:ext cx="11000232" cy="489204"/>
          </a:xfrm>
          <a:prstGeom prst="rect">
            <a:avLst/>
          </a:prstGeom>
          <a:solidFill>
            <a:srgbClr val="F2EFEC"/>
          </a:solidFill>
          <a:ln w="12700">
            <a:solidFill>
              <a:srgbClr val="F2EFEC"/>
            </a:solidFill>
            <a:prstDash val="solid"/>
          </a:ln>
        </p:spPr>
        <p:txBody>
          <a:bodyPr/>
          <a:lstStyle/>
          <a:p>
            <a:endParaRPr lang="fr-FR"/>
          </a:p>
        </p:txBody>
      </p:sp>
      <p:sp>
        <p:nvSpPr>
          <p:cNvPr id="7" name="Text 5"/>
          <p:cNvSpPr txBox="1"/>
          <p:nvPr/>
        </p:nvSpPr>
        <p:spPr>
          <a:xfrm>
            <a:off x="850392" y="1463040"/>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Base SQL consolidée</a:t>
            </a:r>
            <a:endParaRPr lang="en-US" sz="1250" dirty="0"/>
          </a:p>
        </p:txBody>
      </p:sp>
      <p:sp>
        <p:nvSpPr>
          <p:cNvPr id="8" name="Text 6"/>
          <p:cNvSpPr txBox="1"/>
          <p:nvPr/>
        </p:nvSpPr>
        <p:spPr>
          <a:xfrm>
            <a:off x="4846320" y="1463040"/>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PostgreSQL 16 + PostGIS, ingestion staging-first, dédoublonnage</a:t>
            </a:r>
            <a:endParaRPr lang="en-US" sz="1150" dirty="0"/>
          </a:p>
        </p:txBody>
      </p:sp>
      <p:sp>
        <p:nvSpPr>
          <p:cNvPr id="9" name="Shape 7"/>
          <p:cNvSpPr/>
          <p:nvPr/>
        </p:nvSpPr>
        <p:spPr>
          <a:xfrm>
            <a:off x="10241280" y="1527048"/>
            <a:ext cx="1143000" cy="329184"/>
          </a:xfrm>
          <a:prstGeom prst="roundRect">
            <a:avLst>
              <a:gd name="adj" fmla="val 50000"/>
            </a:avLst>
          </a:prstGeom>
          <a:solidFill>
            <a:srgbClr val="7FA08F"/>
          </a:solidFill>
          <a:ln/>
        </p:spPr>
        <p:txBody>
          <a:bodyPr/>
          <a:lstStyle/>
          <a:p>
            <a:endParaRPr lang="fr-FR"/>
          </a:p>
        </p:txBody>
      </p:sp>
      <p:sp>
        <p:nvSpPr>
          <p:cNvPr id="10" name="Text 8"/>
          <p:cNvSpPr txBox="1"/>
          <p:nvPr/>
        </p:nvSpPr>
        <p:spPr>
          <a:xfrm>
            <a:off x="10241280" y="1527048"/>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11" name="Text 9"/>
          <p:cNvSpPr txBox="1"/>
          <p:nvPr/>
        </p:nvSpPr>
        <p:spPr>
          <a:xfrm>
            <a:off x="850392" y="1997964"/>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Tests d'intégrité</a:t>
            </a:r>
            <a:endParaRPr lang="en-US" sz="1250" dirty="0"/>
          </a:p>
        </p:txBody>
      </p:sp>
      <p:sp>
        <p:nvSpPr>
          <p:cNvPr id="12" name="Text 10"/>
          <p:cNvSpPr txBox="1"/>
          <p:nvPr/>
        </p:nvSpPr>
        <p:spPr>
          <a:xfrm>
            <a:off x="4846320" y="1997964"/>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6 contrôles automatisés, rejouables, documentés</a:t>
            </a:r>
            <a:endParaRPr lang="en-US" sz="1150" dirty="0"/>
          </a:p>
        </p:txBody>
      </p:sp>
      <p:sp>
        <p:nvSpPr>
          <p:cNvPr id="13" name="Shape 11"/>
          <p:cNvSpPr/>
          <p:nvPr/>
        </p:nvSpPr>
        <p:spPr>
          <a:xfrm>
            <a:off x="10241280" y="2061972"/>
            <a:ext cx="1143000" cy="329184"/>
          </a:xfrm>
          <a:prstGeom prst="roundRect">
            <a:avLst>
              <a:gd name="adj" fmla="val 50000"/>
            </a:avLst>
          </a:prstGeom>
          <a:solidFill>
            <a:srgbClr val="7FA08F"/>
          </a:solidFill>
          <a:ln/>
        </p:spPr>
        <p:txBody>
          <a:bodyPr/>
          <a:lstStyle/>
          <a:p>
            <a:endParaRPr lang="fr-FR"/>
          </a:p>
        </p:txBody>
      </p:sp>
      <p:sp>
        <p:nvSpPr>
          <p:cNvPr id="14" name="Text 12"/>
          <p:cNvSpPr txBox="1"/>
          <p:nvPr/>
        </p:nvSpPr>
        <p:spPr>
          <a:xfrm>
            <a:off x="10241280" y="2061972"/>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 / 6 OK</a:t>
            </a:r>
            <a:endParaRPr lang="en-US" sz="1050" dirty="0"/>
          </a:p>
        </p:txBody>
      </p:sp>
      <p:sp>
        <p:nvSpPr>
          <p:cNvPr id="15" name="Shape 13"/>
          <p:cNvSpPr/>
          <p:nvPr/>
        </p:nvSpPr>
        <p:spPr>
          <a:xfrm>
            <a:off x="594360" y="2500884"/>
            <a:ext cx="11000232" cy="489204"/>
          </a:xfrm>
          <a:prstGeom prst="rect">
            <a:avLst/>
          </a:prstGeom>
          <a:solidFill>
            <a:srgbClr val="F2EFEC"/>
          </a:solidFill>
          <a:ln w="12700">
            <a:solidFill>
              <a:srgbClr val="F2EFEC"/>
            </a:solidFill>
            <a:prstDash val="solid"/>
          </a:ln>
        </p:spPr>
        <p:txBody>
          <a:bodyPr/>
          <a:lstStyle/>
          <a:p>
            <a:endParaRPr lang="fr-FR"/>
          </a:p>
        </p:txBody>
      </p:sp>
      <p:sp>
        <p:nvSpPr>
          <p:cNvPr id="16" name="Text 14"/>
          <p:cNvSpPr txBox="1"/>
          <p:nvPr/>
        </p:nvSpPr>
        <p:spPr>
          <a:xfrm>
            <a:off x="850392" y="2532888"/>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Analyse exploratoire</a:t>
            </a:r>
            <a:endParaRPr lang="en-US" sz="1250" dirty="0"/>
          </a:p>
        </p:txBody>
      </p:sp>
      <p:sp>
        <p:nvSpPr>
          <p:cNvPr id="17" name="Text 15"/>
          <p:cNvSpPr txBox="1"/>
          <p:nvPr/>
        </p:nvSpPr>
        <p:spPr>
          <a:xfrm>
            <a:off x="4846320" y="2532888"/>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Deux EDA : sur les données brutes, puis sur les variables construites</a:t>
            </a:r>
            <a:endParaRPr lang="en-US" sz="1150" dirty="0"/>
          </a:p>
        </p:txBody>
      </p:sp>
      <p:sp>
        <p:nvSpPr>
          <p:cNvPr id="18" name="Shape 16"/>
          <p:cNvSpPr/>
          <p:nvPr/>
        </p:nvSpPr>
        <p:spPr>
          <a:xfrm>
            <a:off x="10241280" y="2596896"/>
            <a:ext cx="1143000" cy="329184"/>
          </a:xfrm>
          <a:prstGeom prst="roundRect">
            <a:avLst>
              <a:gd name="adj" fmla="val 50000"/>
            </a:avLst>
          </a:prstGeom>
          <a:solidFill>
            <a:srgbClr val="7FA08F"/>
          </a:solidFill>
          <a:ln/>
        </p:spPr>
        <p:txBody>
          <a:bodyPr/>
          <a:lstStyle/>
          <a:p>
            <a:endParaRPr lang="fr-FR"/>
          </a:p>
        </p:txBody>
      </p:sp>
      <p:sp>
        <p:nvSpPr>
          <p:cNvPr id="19" name="Text 17"/>
          <p:cNvSpPr txBox="1"/>
          <p:nvPr/>
        </p:nvSpPr>
        <p:spPr>
          <a:xfrm>
            <a:off x="10241280" y="2596896"/>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20" name="Text 18"/>
          <p:cNvSpPr txBox="1"/>
          <p:nvPr/>
        </p:nvSpPr>
        <p:spPr>
          <a:xfrm>
            <a:off x="850392" y="3067812"/>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Clustering spatial et de profils</a:t>
            </a:r>
            <a:endParaRPr lang="en-US" sz="1250" dirty="0"/>
          </a:p>
        </p:txBody>
      </p:sp>
      <p:sp>
        <p:nvSpPr>
          <p:cNvPr id="21" name="Text 19"/>
          <p:cNvSpPr txBox="1"/>
          <p:nvPr/>
        </p:nvSpPr>
        <p:spPr>
          <a:xfrm>
            <a:off x="4846320" y="3067812"/>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DBSCAN haversine 20 km · KMeans sur profils standardisés</a:t>
            </a:r>
            <a:endParaRPr lang="en-US" sz="1150" dirty="0"/>
          </a:p>
        </p:txBody>
      </p:sp>
      <p:sp>
        <p:nvSpPr>
          <p:cNvPr id="22" name="Shape 20"/>
          <p:cNvSpPr/>
          <p:nvPr/>
        </p:nvSpPr>
        <p:spPr>
          <a:xfrm>
            <a:off x="10241280" y="3131820"/>
            <a:ext cx="1143000" cy="329184"/>
          </a:xfrm>
          <a:prstGeom prst="roundRect">
            <a:avLst>
              <a:gd name="adj" fmla="val 50000"/>
            </a:avLst>
          </a:prstGeom>
          <a:solidFill>
            <a:srgbClr val="7FA08F"/>
          </a:solidFill>
          <a:ln/>
        </p:spPr>
        <p:txBody>
          <a:bodyPr/>
          <a:lstStyle/>
          <a:p>
            <a:endParaRPr lang="fr-FR"/>
          </a:p>
        </p:txBody>
      </p:sp>
      <p:sp>
        <p:nvSpPr>
          <p:cNvPr id="23" name="Text 21"/>
          <p:cNvSpPr txBox="1"/>
          <p:nvPr/>
        </p:nvSpPr>
        <p:spPr>
          <a:xfrm>
            <a:off x="10241280" y="3131820"/>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24" name="Shape 22"/>
          <p:cNvSpPr/>
          <p:nvPr/>
        </p:nvSpPr>
        <p:spPr>
          <a:xfrm>
            <a:off x="594360" y="3570732"/>
            <a:ext cx="11000232" cy="489204"/>
          </a:xfrm>
          <a:prstGeom prst="rect">
            <a:avLst/>
          </a:prstGeom>
          <a:solidFill>
            <a:srgbClr val="F2EFEC"/>
          </a:solidFill>
          <a:ln w="12700">
            <a:solidFill>
              <a:srgbClr val="F2EFEC"/>
            </a:solidFill>
            <a:prstDash val="solid"/>
          </a:ln>
        </p:spPr>
        <p:txBody>
          <a:bodyPr/>
          <a:lstStyle/>
          <a:p>
            <a:endParaRPr lang="fr-FR"/>
          </a:p>
        </p:txBody>
      </p:sp>
      <p:sp>
        <p:nvSpPr>
          <p:cNvPr id="25" name="Text 23"/>
          <p:cNvSpPr txBox="1"/>
          <p:nvPr/>
        </p:nvSpPr>
        <p:spPr>
          <a:xfrm>
            <a:off x="850392" y="3602736"/>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Machine learning après le cluster</a:t>
            </a:r>
            <a:endParaRPr lang="en-US" sz="1250" dirty="0"/>
          </a:p>
        </p:txBody>
      </p:sp>
      <p:sp>
        <p:nvSpPr>
          <p:cNvPr id="26" name="Text 24"/>
          <p:cNvSpPr txBox="1"/>
          <p:nvPr/>
        </p:nvSpPr>
        <p:spPr>
          <a:xfrm>
            <a:off x="4846320" y="3602736"/>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Random Forest calibrée, les clusters en variables d'entrée</a:t>
            </a:r>
            <a:endParaRPr lang="en-US" sz="1150" dirty="0"/>
          </a:p>
        </p:txBody>
      </p:sp>
      <p:sp>
        <p:nvSpPr>
          <p:cNvPr id="27" name="Shape 25"/>
          <p:cNvSpPr/>
          <p:nvPr/>
        </p:nvSpPr>
        <p:spPr>
          <a:xfrm>
            <a:off x="10241280" y="3666744"/>
            <a:ext cx="1143000" cy="329184"/>
          </a:xfrm>
          <a:prstGeom prst="roundRect">
            <a:avLst>
              <a:gd name="adj" fmla="val 50000"/>
            </a:avLst>
          </a:prstGeom>
          <a:solidFill>
            <a:srgbClr val="7FA08F"/>
          </a:solidFill>
          <a:ln/>
        </p:spPr>
        <p:txBody>
          <a:bodyPr/>
          <a:lstStyle/>
          <a:p>
            <a:endParaRPr lang="fr-FR"/>
          </a:p>
        </p:txBody>
      </p:sp>
      <p:sp>
        <p:nvSpPr>
          <p:cNvPr id="28" name="Text 26"/>
          <p:cNvSpPr txBox="1"/>
          <p:nvPr/>
        </p:nvSpPr>
        <p:spPr>
          <a:xfrm>
            <a:off x="10241280" y="3666744"/>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29" name="Text 27"/>
          <p:cNvSpPr txBox="1"/>
          <p:nvPr/>
        </p:nvSpPr>
        <p:spPr>
          <a:xfrm>
            <a:off x="850392" y="4137660"/>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Entraînement sans fuite</a:t>
            </a:r>
            <a:endParaRPr lang="en-US" sz="1250" dirty="0"/>
          </a:p>
        </p:txBody>
      </p:sp>
      <p:sp>
        <p:nvSpPr>
          <p:cNvPr id="30" name="Text 28"/>
          <p:cNvSpPr txBox="1"/>
          <p:nvPr/>
        </p:nvSpPr>
        <p:spPr>
          <a:xfrm>
            <a:off x="4846320" y="4137660"/>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Découpage chronologique strict, fenêtres glissantes décalées</a:t>
            </a:r>
            <a:endParaRPr lang="en-US" sz="1150" dirty="0"/>
          </a:p>
        </p:txBody>
      </p:sp>
      <p:sp>
        <p:nvSpPr>
          <p:cNvPr id="31" name="Shape 29"/>
          <p:cNvSpPr/>
          <p:nvPr/>
        </p:nvSpPr>
        <p:spPr>
          <a:xfrm>
            <a:off x="10241280" y="4201668"/>
            <a:ext cx="1143000" cy="329184"/>
          </a:xfrm>
          <a:prstGeom prst="roundRect">
            <a:avLst>
              <a:gd name="adj" fmla="val 50000"/>
            </a:avLst>
          </a:prstGeom>
          <a:solidFill>
            <a:srgbClr val="7FA08F"/>
          </a:solidFill>
          <a:ln/>
        </p:spPr>
        <p:txBody>
          <a:bodyPr/>
          <a:lstStyle/>
          <a:p>
            <a:endParaRPr lang="fr-FR"/>
          </a:p>
        </p:txBody>
      </p:sp>
      <p:sp>
        <p:nvSpPr>
          <p:cNvPr id="32" name="Text 30"/>
          <p:cNvSpPr txBox="1"/>
          <p:nvPr/>
        </p:nvSpPr>
        <p:spPr>
          <a:xfrm>
            <a:off x="10241280" y="4201668"/>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33" name="Shape 31"/>
          <p:cNvSpPr/>
          <p:nvPr/>
        </p:nvSpPr>
        <p:spPr>
          <a:xfrm>
            <a:off x="594360" y="4640580"/>
            <a:ext cx="11000232" cy="489204"/>
          </a:xfrm>
          <a:prstGeom prst="rect">
            <a:avLst/>
          </a:prstGeom>
          <a:solidFill>
            <a:srgbClr val="F2EFEC"/>
          </a:solidFill>
          <a:ln w="12700">
            <a:solidFill>
              <a:srgbClr val="F2EFEC"/>
            </a:solidFill>
            <a:prstDash val="solid"/>
          </a:ln>
        </p:spPr>
        <p:txBody>
          <a:bodyPr/>
          <a:lstStyle/>
          <a:p>
            <a:endParaRPr lang="fr-FR"/>
          </a:p>
        </p:txBody>
      </p:sp>
      <p:sp>
        <p:nvSpPr>
          <p:cNvPr id="34" name="Text 32"/>
          <p:cNvSpPr txBox="1"/>
          <p:nvPr/>
        </p:nvSpPr>
        <p:spPr>
          <a:xfrm>
            <a:off x="850392" y="4672584"/>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Interface prédictive</a:t>
            </a:r>
            <a:endParaRPr lang="en-US" sz="1250" dirty="0"/>
          </a:p>
        </p:txBody>
      </p:sp>
      <p:sp>
        <p:nvSpPr>
          <p:cNvPr id="35" name="Text 33"/>
          <p:cNvSpPr txBox="1"/>
          <p:nvPr/>
        </p:nvSpPr>
        <p:spPr>
          <a:xfrm>
            <a:off x="4846320" y="4672584"/>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Application Streamlit, 11 pages, score par commune</a:t>
            </a:r>
            <a:endParaRPr lang="en-US" sz="1150" dirty="0"/>
          </a:p>
        </p:txBody>
      </p:sp>
      <p:sp>
        <p:nvSpPr>
          <p:cNvPr id="36" name="Shape 34"/>
          <p:cNvSpPr/>
          <p:nvPr/>
        </p:nvSpPr>
        <p:spPr>
          <a:xfrm>
            <a:off x="10241280" y="4736592"/>
            <a:ext cx="1143000" cy="329184"/>
          </a:xfrm>
          <a:prstGeom prst="roundRect">
            <a:avLst>
              <a:gd name="adj" fmla="val 50000"/>
            </a:avLst>
          </a:prstGeom>
          <a:solidFill>
            <a:srgbClr val="7FA08F"/>
          </a:solidFill>
          <a:ln/>
        </p:spPr>
        <p:txBody>
          <a:bodyPr/>
          <a:lstStyle/>
          <a:p>
            <a:endParaRPr lang="fr-FR"/>
          </a:p>
        </p:txBody>
      </p:sp>
      <p:sp>
        <p:nvSpPr>
          <p:cNvPr id="37" name="Text 35"/>
          <p:cNvSpPr txBox="1"/>
          <p:nvPr/>
        </p:nvSpPr>
        <p:spPr>
          <a:xfrm>
            <a:off x="10241280" y="4736592"/>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38" name="Text 36"/>
          <p:cNvSpPr txBox="1"/>
          <p:nvPr/>
        </p:nvSpPr>
        <p:spPr>
          <a:xfrm>
            <a:off x="850392" y="5207508"/>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Random Forest ou XGBoost ?</a:t>
            </a:r>
            <a:endParaRPr lang="en-US" sz="1250" dirty="0"/>
          </a:p>
        </p:txBody>
      </p:sp>
      <p:sp>
        <p:nvSpPr>
          <p:cNvPr id="39" name="Text 37"/>
          <p:cNvSpPr txBox="1"/>
          <p:nvPr/>
        </p:nvSpPr>
        <p:spPr>
          <a:xfrm>
            <a:off x="4846320" y="5207508"/>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Les deux, plus une régression logistique, sur le même découpage</a:t>
            </a:r>
            <a:endParaRPr lang="en-US" sz="1150" dirty="0"/>
          </a:p>
        </p:txBody>
      </p:sp>
      <p:sp>
        <p:nvSpPr>
          <p:cNvPr id="40" name="Shape 38"/>
          <p:cNvSpPr/>
          <p:nvPr/>
        </p:nvSpPr>
        <p:spPr>
          <a:xfrm>
            <a:off x="10241280" y="5271516"/>
            <a:ext cx="1143000" cy="329184"/>
          </a:xfrm>
          <a:prstGeom prst="roundRect">
            <a:avLst>
              <a:gd name="adj" fmla="val 50000"/>
            </a:avLst>
          </a:prstGeom>
          <a:solidFill>
            <a:srgbClr val="7FA08F"/>
          </a:solidFill>
          <a:ln/>
        </p:spPr>
        <p:txBody>
          <a:bodyPr/>
          <a:lstStyle/>
          <a:p>
            <a:endParaRPr lang="fr-FR"/>
          </a:p>
        </p:txBody>
      </p:sp>
      <p:sp>
        <p:nvSpPr>
          <p:cNvPr id="41" name="Text 39"/>
          <p:cNvSpPr txBox="1"/>
          <p:nvPr/>
        </p:nvSpPr>
        <p:spPr>
          <a:xfrm>
            <a:off x="10241280" y="5271516"/>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42" name="Shape 40"/>
          <p:cNvSpPr/>
          <p:nvPr/>
        </p:nvSpPr>
        <p:spPr>
          <a:xfrm>
            <a:off x="594360" y="5710428"/>
            <a:ext cx="11000232" cy="489204"/>
          </a:xfrm>
          <a:prstGeom prst="rect">
            <a:avLst/>
          </a:prstGeom>
          <a:solidFill>
            <a:srgbClr val="F2EFEC"/>
          </a:solidFill>
          <a:ln w="12700">
            <a:solidFill>
              <a:srgbClr val="F2EFEC"/>
            </a:solidFill>
            <a:prstDash val="solid"/>
          </a:ln>
        </p:spPr>
        <p:txBody>
          <a:bodyPr/>
          <a:lstStyle/>
          <a:p>
            <a:endParaRPr lang="fr-FR"/>
          </a:p>
        </p:txBody>
      </p:sp>
      <p:sp>
        <p:nvSpPr>
          <p:cNvPr id="43" name="Text 41"/>
          <p:cNvSpPr txBox="1"/>
          <p:nvPr/>
        </p:nvSpPr>
        <p:spPr>
          <a:xfrm>
            <a:off x="850392" y="5742432"/>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Variables temporelles 10 / 30 / 60 jours</a:t>
            </a:r>
            <a:endParaRPr lang="en-US" sz="1250" dirty="0"/>
          </a:p>
        </p:txBody>
      </p:sp>
      <p:sp>
        <p:nvSpPr>
          <p:cNvPr id="44" name="Text 42"/>
          <p:cNvSpPr txBox="1"/>
          <p:nvPr/>
        </p:nvSpPr>
        <p:spPr>
          <a:xfrm>
            <a:off x="4846320" y="5742432"/>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Prédiction à une date précise, pas seulement à l'année</a:t>
            </a:r>
            <a:endParaRPr lang="en-US" sz="1150" dirty="0"/>
          </a:p>
        </p:txBody>
      </p:sp>
      <p:sp>
        <p:nvSpPr>
          <p:cNvPr id="45" name="Shape 43"/>
          <p:cNvSpPr/>
          <p:nvPr/>
        </p:nvSpPr>
        <p:spPr>
          <a:xfrm>
            <a:off x="10241280" y="5806440"/>
            <a:ext cx="1143000" cy="329184"/>
          </a:xfrm>
          <a:prstGeom prst="roundRect">
            <a:avLst>
              <a:gd name="adj" fmla="val 50000"/>
            </a:avLst>
          </a:prstGeom>
          <a:solidFill>
            <a:srgbClr val="7FA08F"/>
          </a:solidFill>
          <a:ln/>
        </p:spPr>
        <p:txBody>
          <a:bodyPr/>
          <a:lstStyle/>
          <a:p>
            <a:endParaRPr lang="fr-FR"/>
          </a:p>
        </p:txBody>
      </p:sp>
      <p:sp>
        <p:nvSpPr>
          <p:cNvPr id="46" name="Text 44"/>
          <p:cNvSpPr txBox="1"/>
          <p:nvPr/>
        </p:nvSpPr>
        <p:spPr>
          <a:xfrm>
            <a:off x="10241280" y="5806440"/>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Fait</a:t>
            </a:r>
            <a:endParaRPr lang="en-US" sz="1050" dirty="0"/>
          </a:p>
        </p:txBody>
      </p:sp>
      <p:sp>
        <p:nvSpPr>
          <p:cNvPr id="47" name="Text 45"/>
          <p:cNvSpPr txBox="1"/>
          <p:nvPr/>
        </p:nvSpPr>
        <p:spPr>
          <a:xfrm>
            <a:off x="850392" y="6277356"/>
            <a:ext cx="3931920" cy="45720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Clustering temporel · Rapport méthodologique</a:t>
            </a:r>
            <a:endParaRPr lang="en-US" sz="1250" dirty="0"/>
          </a:p>
        </p:txBody>
      </p:sp>
      <p:sp>
        <p:nvSpPr>
          <p:cNvPr id="48" name="Text 46"/>
          <p:cNvSpPr txBox="1"/>
          <p:nvPr/>
        </p:nvSpPr>
        <p:spPr>
          <a:xfrm>
            <a:off x="4846320" y="6277356"/>
            <a:ext cx="5212080" cy="457200"/>
          </a:xfrm>
          <a:prstGeom prst="rect">
            <a:avLst/>
          </a:prstGeom>
          <a:noFill/>
          <a:ln/>
        </p:spPr>
        <p:txBody>
          <a:bodyPr wrap="square" lIns="0" tIns="0" rIns="0" bIns="0" rtlCol="0" anchor="ctr"/>
          <a:lstStyle/>
          <a:p>
            <a:pPr marL="0" indent="0">
              <a:buNone/>
            </a:pPr>
            <a:r>
              <a:rPr lang="en-US" sz="1150" dirty="0">
                <a:solidFill>
                  <a:srgbClr val="5C5550"/>
                </a:solidFill>
                <a:latin typeface="Calibri" pitchFamily="34" charset="0"/>
                <a:ea typeface="Calibri" pitchFamily="34" charset="-122"/>
                <a:cs typeface="Calibri" pitchFamily="34" charset="-120"/>
              </a:rPr>
              <a:t>Identifiés, chiffrés, planifiés</a:t>
            </a:r>
            <a:endParaRPr lang="en-US" sz="1150" dirty="0"/>
          </a:p>
        </p:txBody>
      </p:sp>
      <p:sp>
        <p:nvSpPr>
          <p:cNvPr id="49" name="Shape 47"/>
          <p:cNvSpPr/>
          <p:nvPr/>
        </p:nvSpPr>
        <p:spPr>
          <a:xfrm>
            <a:off x="10241280" y="6341364"/>
            <a:ext cx="1143000" cy="329184"/>
          </a:xfrm>
          <a:prstGeom prst="roundRect">
            <a:avLst>
              <a:gd name="adj" fmla="val 50000"/>
            </a:avLst>
          </a:prstGeom>
          <a:solidFill>
            <a:srgbClr val="B85042"/>
          </a:solidFill>
          <a:ln/>
        </p:spPr>
        <p:txBody>
          <a:bodyPr/>
          <a:lstStyle/>
          <a:p>
            <a:endParaRPr lang="fr-FR"/>
          </a:p>
        </p:txBody>
      </p:sp>
      <p:sp>
        <p:nvSpPr>
          <p:cNvPr id="50" name="Text 48"/>
          <p:cNvSpPr txBox="1"/>
          <p:nvPr/>
        </p:nvSpPr>
        <p:spPr>
          <a:xfrm>
            <a:off x="10241280" y="6341364"/>
            <a:ext cx="11430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À venir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La chaîne de bout en bout</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Six étapes, chacune rejouable indépendamment</a:t>
            </a:r>
            <a:endParaRPr lang="en-US" sz="1400" dirty="0"/>
          </a:p>
        </p:txBody>
      </p:sp>
      <p:sp>
        <p:nvSpPr>
          <p:cNvPr id="6" name="Shape 4"/>
          <p:cNvSpPr/>
          <p:nvPr/>
        </p:nvSpPr>
        <p:spPr>
          <a:xfrm>
            <a:off x="594360" y="1737360"/>
            <a:ext cx="1700784" cy="2194560"/>
          </a:xfrm>
          <a:prstGeom prst="rect">
            <a:avLst/>
          </a:prstGeom>
          <a:solidFill>
            <a:srgbClr val="F2EFEC"/>
          </a:solidFill>
          <a:ln w="12700">
            <a:solidFill>
              <a:srgbClr val="F2EFEC"/>
            </a:solidFill>
            <a:prstDash val="solid"/>
          </a:ln>
        </p:spPr>
        <p:txBody>
          <a:bodyPr/>
          <a:lstStyle/>
          <a:p>
            <a:endParaRPr lang="fr-FR"/>
          </a:p>
        </p:txBody>
      </p:sp>
      <p:sp>
        <p:nvSpPr>
          <p:cNvPr id="7" name="Shape 5"/>
          <p:cNvSpPr/>
          <p:nvPr/>
        </p:nvSpPr>
        <p:spPr>
          <a:xfrm>
            <a:off x="1252728" y="1965960"/>
            <a:ext cx="384048" cy="384048"/>
          </a:xfrm>
          <a:prstGeom prst="ellipse">
            <a:avLst/>
          </a:prstGeom>
          <a:solidFill>
            <a:srgbClr val="50808E"/>
          </a:solidFill>
          <a:ln/>
        </p:spPr>
        <p:txBody>
          <a:bodyPr/>
          <a:lstStyle/>
          <a:p>
            <a:endParaRPr lang="fr-FR"/>
          </a:p>
        </p:txBody>
      </p:sp>
      <p:sp>
        <p:nvSpPr>
          <p:cNvPr id="8" name="Text 6"/>
          <p:cNvSpPr txBox="1"/>
          <p:nvPr/>
        </p:nvSpPr>
        <p:spPr>
          <a:xfrm>
            <a:off x="1252728"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685800" y="2514600"/>
            <a:ext cx="1517904" cy="457200"/>
          </a:xfrm>
          <a:prstGeom prst="rect">
            <a:avLst/>
          </a:prstGeom>
          <a:noFill/>
          <a:ln/>
        </p:spPr>
        <p:txBody>
          <a:bodyPr wrap="square" lIns="0" tIns="0" rIns="0" bIns="0" rtlCol="0" anchor="t"/>
          <a:lstStyle/>
          <a:p>
            <a:pPr marL="0" indent="0" algn="ctr">
              <a:buNone/>
            </a:pPr>
            <a:r>
              <a:rPr lang="en-US" sz="1250" b="1" dirty="0">
                <a:solidFill>
                  <a:srgbClr val="241A15"/>
                </a:solidFill>
                <a:latin typeface="Calibri" pitchFamily="34" charset="0"/>
                <a:ea typeface="Calibri" pitchFamily="34" charset="-122"/>
                <a:cs typeface="Calibri" pitchFamily="34" charset="-120"/>
              </a:rPr>
              <a:t>52 fichiers CSV</a:t>
            </a:r>
            <a:endParaRPr lang="en-US" sz="1250" dirty="0"/>
          </a:p>
        </p:txBody>
      </p:sp>
      <p:sp>
        <p:nvSpPr>
          <p:cNvPr id="10" name="Text 8"/>
          <p:cNvSpPr txBox="1"/>
          <p:nvPr/>
        </p:nvSpPr>
        <p:spPr>
          <a:xfrm>
            <a:off x="685800" y="2990088"/>
            <a:ext cx="1517904" cy="822960"/>
          </a:xfrm>
          <a:prstGeom prst="rect">
            <a:avLst/>
          </a:prstGeom>
          <a:noFill/>
          <a:ln/>
        </p:spPr>
        <p:txBody>
          <a:bodyPr wrap="square" lIns="0" tIns="0" rIns="0" bIns="0" rtlCol="0" anchor="t"/>
          <a:lstStyle/>
          <a:p>
            <a:pPr marL="0" indent="0" algn="ctr">
              <a:buNone/>
            </a:pPr>
            <a:r>
              <a:rPr lang="en-US" sz="1100" dirty="0">
                <a:solidFill>
                  <a:srgbClr val="5C5550"/>
                </a:solidFill>
                <a:latin typeface="Calibri" pitchFamily="34" charset="0"/>
                <a:ea typeface="Calibri" pitchFamily="34" charset="-122"/>
                <a:cs typeface="Calibri" pitchFamily="34" charset="-120"/>
              </a:rPr>
              <a:t>BDIFF, un export par an</a:t>
            </a:r>
            <a:endParaRPr lang="en-US" sz="1100" dirty="0"/>
          </a:p>
          <a:p>
            <a:pPr marL="0" indent="0" algn="ctr">
              <a:buNone/>
            </a:pPr>
            <a:r>
              <a:rPr lang="en-US" sz="1100" dirty="0">
                <a:solidFill>
                  <a:srgbClr val="5C5550"/>
                </a:solidFill>
                <a:latin typeface="Calibri" pitchFamily="34" charset="0"/>
                <a:ea typeface="Calibri" pitchFamily="34" charset="-122"/>
                <a:cs typeface="Calibri" pitchFamily="34" charset="-120"/>
              </a:rPr>
              <a:t>plafonné à 30 000 lignes</a:t>
            </a:r>
            <a:endParaRPr lang="en-US" sz="1100" dirty="0"/>
          </a:p>
        </p:txBody>
      </p:sp>
      <p:sp>
        <p:nvSpPr>
          <p:cNvPr id="11" name="Text 9"/>
          <p:cNvSpPr txBox="1"/>
          <p:nvPr/>
        </p:nvSpPr>
        <p:spPr>
          <a:xfrm>
            <a:off x="2276856" y="2697480"/>
            <a:ext cx="210312" cy="274320"/>
          </a:xfrm>
          <a:prstGeom prst="rect">
            <a:avLst/>
          </a:prstGeom>
          <a:noFill/>
          <a:ln/>
        </p:spPr>
        <p:txBody>
          <a:bodyPr wrap="square" lIns="0" tIns="0" rIns="0" bIns="0" rtlCol="0" anchor="ctr"/>
          <a:lstStyle/>
          <a:p>
            <a:pPr marL="0" indent="0" algn="ctr">
              <a:buNone/>
            </a:pPr>
            <a:r>
              <a:rPr lang="en-US" sz="1400" dirty="0">
                <a:solidFill>
                  <a:srgbClr val="8E8681"/>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468880" y="1737360"/>
            <a:ext cx="1700784" cy="2194560"/>
          </a:xfrm>
          <a:prstGeom prst="rect">
            <a:avLst/>
          </a:prstGeom>
          <a:solidFill>
            <a:srgbClr val="F2EFEC"/>
          </a:solidFill>
          <a:ln w="12700">
            <a:solidFill>
              <a:srgbClr val="F2EFEC"/>
            </a:solidFill>
            <a:prstDash val="solid"/>
          </a:ln>
        </p:spPr>
        <p:txBody>
          <a:bodyPr/>
          <a:lstStyle/>
          <a:p>
            <a:endParaRPr lang="fr-FR"/>
          </a:p>
        </p:txBody>
      </p:sp>
      <p:sp>
        <p:nvSpPr>
          <p:cNvPr id="13" name="Shape 11"/>
          <p:cNvSpPr/>
          <p:nvPr/>
        </p:nvSpPr>
        <p:spPr>
          <a:xfrm>
            <a:off x="3127248" y="1965960"/>
            <a:ext cx="384048" cy="384048"/>
          </a:xfrm>
          <a:prstGeom prst="ellipse">
            <a:avLst/>
          </a:prstGeom>
          <a:solidFill>
            <a:srgbClr val="50808E"/>
          </a:solidFill>
          <a:ln/>
        </p:spPr>
        <p:txBody>
          <a:bodyPr/>
          <a:lstStyle/>
          <a:p>
            <a:endParaRPr lang="fr-FR"/>
          </a:p>
        </p:txBody>
      </p:sp>
      <p:sp>
        <p:nvSpPr>
          <p:cNvPr id="14" name="Text 12"/>
          <p:cNvSpPr txBox="1"/>
          <p:nvPr/>
        </p:nvSpPr>
        <p:spPr>
          <a:xfrm>
            <a:off x="3127248"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2560320" y="2514600"/>
            <a:ext cx="1517904" cy="457200"/>
          </a:xfrm>
          <a:prstGeom prst="rect">
            <a:avLst/>
          </a:prstGeom>
          <a:noFill/>
          <a:ln/>
        </p:spPr>
        <p:txBody>
          <a:bodyPr wrap="square" lIns="0" tIns="0" rIns="0" bIns="0" rtlCol="0" anchor="t"/>
          <a:lstStyle/>
          <a:p>
            <a:pPr marL="0" indent="0" algn="ctr">
              <a:buNone/>
            </a:pPr>
            <a:r>
              <a:rPr lang="en-US" sz="1250" b="1" dirty="0">
                <a:solidFill>
                  <a:srgbClr val="241A15"/>
                </a:solidFill>
                <a:latin typeface="Calibri" pitchFamily="34" charset="0"/>
                <a:ea typeface="Calibri" pitchFamily="34" charset="-122"/>
                <a:cs typeface="Calibri" pitchFamily="34" charset="-120"/>
              </a:rPr>
              <a:t>Table de staging</a:t>
            </a:r>
            <a:endParaRPr lang="en-US" sz="1250" dirty="0"/>
          </a:p>
        </p:txBody>
      </p:sp>
      <p:sp>
        <p:nvSpPr>
          <p:cNvPr id="16" name="Text 14"/>
          <p:cNvSpPr txBox="1"/>
          <p:nvPr/>
        </p:nvSpPr>
        <p:spPr>
          <a:xfrm>
            <a:off x="2560320" y="2990088"/>
            <a:ext cx="1517904" cy="822960"/>
          </a:xfrm>
          <a:prstGeom prst="rect">
            <a:avLst/>
          </a:prstGeom>
          <a:noFill/>
          <a:ln/>
        </p:spPr>
        <p:txBody>
          <a:bodyPr wrap="square" lIns="0" tIns="0" rIns="0" bIns="0" rtlCol="0" anchor="t"/>
          <a:lstStyle/>
          <a:p>
            <a:pPr marL="0" indent="0" algn="ctr">
              <a:buNone/>
            </a:pPr>
            <a:r>
              <a:rPr lang="en-US" sz="1100" dirty="0">
                <a:solidFill>
                  <a:srgbClr val="5C5550"/>
                </a:solidFill>
                <a:latin typeface="Calibri" pitchFamily="34" charset="0"/>
                <a:ea typeface="Calibri" pitchFamily="34" charset="-122"/>
                <a:cs typeface="Calibri" pitchFamily="34" charset="-120"/>
              </a:rPr>
              <a:t>stg_bdiff, tout en TEXT :</a:t>
            </a:r>
            <a:endParaRPr lang="en-US" sz="1100" dirty="0"/>
          </a:p>
          <a:p>
            <a:pPr marL="0" indent="0" algn="ctr">
              <a:buNone/>
            </a:pPr>
            <a:r>
              <a:rPr lang="en-US" sz="1100" dirty="0">
                <a:solidFill>
                  <a:srgbClr val="5C5550"/>
                </a:solidFill>
                <a:latin typeface="Calibri" pitchFamily="34" charset="0"/>
                <a:ea typeface="Calibri" pitchFamily="34" charset="-122"/>
                <a:cs typeface="Calibri" pitchFamily="34" charset="-120"/>
              </a:rPr>
              <a:t>aucune ligne perdue</a:t>
            </a:r>
            <a:endParaRPr lang="en-US" sz="1100" dirty="0"/>
          </a:p>
        </p:txBody>
      </p:sp>
      <p:sp>
        <p:nvSpPr>
          <p:cNvPr id="17" name="Text 15"/>
          <p:cNvSpPr txBox="1"/>
          <p:nvPr/>
        </p:nvSpPr>
        <p:spPr>
          <a:xfrm>
            <a:off x="4151376" y="2697480"/>
            <a:ext cx="210312" cy="274320"/>
          </a:xfrm>
          <a:prstGeom prst="rect">
            <a:avLst/>
          </a:prstGeom>
          <a:noFill/>
          <a:ln/>
        </p:spPr>
        <p:txBody>
          <a:bodyPr wrap="square" lIns="0" tIns="0" rIns="0" bIns="0" rtlCol="0" anchor="ctr"/>
          <a:lstStyle/>
          <a:p>
            <a:pPr marL="0" indent="0" algn="ctr">
              <a:buNone/>
            </a:pPr>
            <a:r>
              <a:rPr lang="en-US" sz="1400" dirty="0">
                <a:solidFill>
                  <a:srgbClr val="8E8681"/>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4343400" y="1737360"/>
            <a:ext cx="1700784" cy="2194560"/>
          </a:xfrm>
          <a:prstGeom prst="rect">
            <a:avLst/>
          </a:prstGeom>
          <a:solidFill>
            <a:srgbClr val="F2EFEC"/>
          </a:solidFill>
          <a:ln w="12700">
            <a:solidFill>
              <a:srgbClr val="F2EFEC"/>
            </a:solidFill>
            <a:prstDash val="solid"/>
          </a:ln>
        </p:spPr>
        <p:txBody>
          <a:bodyPr/>
          <a:lstStyle/>
          <a:p>
            <a:endParaRPr lang="fr-FR"/>
          </a:p>
        </p:txBody>
      </p:sp>
      <p:sp>
        <p:nvSpPr>
          <p:cNvPr id="19" name="Shape 17"/>
          <p:cNvSpPr/>
          <p:nvPr/>
        </p:nvSpPr>
        <p:spPr>
          <a:xfrm>
            <a:off x="5001768" y="1965960"/>
            <a:ext cx="384048" cy="384048"/>
          </a:xfrm>
          <a:prstGeom prst="ellipse">
            <a:avLst/>
          </a:prstGeom>
          <a:solidFill>
            <a:srgbClr val="7FA08F"/>
          </a:solidFill>
          <a:ln/>
        </p:spPr>
        <p:txBody>
          <a:bodyPr/>
          <a:lstStyle/>
          <a:p>
            <a:endParaRPr lang="fr-FR"/>
          </a:p>
        </p:txBody>
      </p:sp>
      <p:sp>
        <p:nvSpPr>
          <p:cNvPr id="20" name="Text 18"/>
          <p:cNvSpPr txBox="1"/>
          <p:nvPr/>
        </p:nvSpPr>
        <p:spPr>
          <a:xfrm>
            <a:off x="5001768"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4434840" y="2514600"/>
            <a:ext cx="1517904" cy="457200"/>
          </a:xfrm>
          <a:prstGeom prst="rect">
            <a:avLst/>
          </a:prstGeom>
          <a:noFill/>
          <a:ln/>
        </p:spPr>
        <p:txBody>
          <a:bodyPr wrap="square" lIns="0" tIns="0" rIns="0" bIns="0" rtlCol="0" anchor="t"/>
          <a:lstStyle/>
          <a:p>
            <a:pPr marL="0" indent="0" algn="ctr">
              <a:buNone/>
            </a:pPr>
            <a:r>
              <a:rPr lang="en-US" sz="1250" b="1" dirty="0">
                <a:solidFill>
                  <a:srgbClr val="241A15"/>
                </a:solidFill>
                <a:latin typeface="Calibri" pitchFamily="34" charset="0"/>
                <a:ea typeface="Calibri" pitchFamily="34" charset="-122"/>
                <a:cs typeface="Calibri" pitchFamily="34" charset="-120"/>
              </a:rPr>
              <a:t>Base typée</a:t>
            </a:r>
            <a:endParaRPr lang="en-US" sz="1250" dirty="0"/>
          </a:p>
        </p:txBody>
      </p:sp>
      <p:sp>
        <p:nvSpPr>
          <p:cNvPr id="22" name="Text 20"/>
          <p:cNvSpPr txBox="1"/>
          <p:nvPr/>
        </p:nvSpPr>
        <p:spPr>
          <a:xfrm>
            <a:off x="4434840" y="2990088"/>
            <a:ext cx="1517904" cy="822960"/>
          </a:xfrm>
          <a:prstGeom prst="rect">
            <a:avLst/>
          </a:prstGeom>
          <a:noFill/>
          <a:ln/>
        </p:spPr>
        <p:txBody>
          <a:bodyPr wrap="square" lIns="0" tIns="0" rIns="0" bIns="0" rtlCol="0" anchor="t"/>
          <a:lstStyle/>
          <a:p>
            <a:pPr marL="0" indent="0" algn="ctr">
              <a:buNone/>
            </a:pPr>
            <a:r>
              <a:rPr lang="en-US" sz="1100" dirty="0">
                <a:solidFill>
                  <a:srgbClr val="5C5550"/>
                </a:solidFill>
                <a:latin typeface="Calibri" pitchFamily="34" charset="0"/>
                <a:ea typeface="Calibri" pitchFamily="34" charset="-122"/>
                <a:cs typeface="Calibri" pitchFamily="34" charset="-120"/>
              </a:rPr>
              <a:t>fires + ref_communes</a:t>
            </a:r>
            <a:endParaRPr lang="en-US" sz="1100" dirty="0"/>
          </a:p>
          <a:p>
            <a:pPr marL="0" indent="0" algn="ctr">
              <a:buNone/>
            </a:pPr>
            <a:r>
              <a:rPr lang="en-US" sz="1100" dirty="0">
                <a:solidFill>
                  <a:srgbClr val="5C5550"/>
                </a:solidFill>
                <a:latin typeface="Calibri" pitchFamily="34" charset="0"/>
                <a:ea typeface="Calibri" pitchFamily="34" charset="-122"/>
                <a:cs typeface="Calibri" pitchFamily="34" charset="-120"/>
              </a:rPr>
              <a:t>PostGIS, index GIST</a:t>
            </a:r>
            <a:endParaRPr lang="en-US" sz="1100" dirty="0"/>
          </a:p>
        </p:txBody>
      </p:sp>
      <p:sp>
        <p:nvSpPr>
          <p:cNvPr id="23" name="Text 21"/>
          <p:cNvSpPr txBox="1"/>
          <p:nvPr/>
        </p:nvSpPr>
        <p:spPr>
          <a:xfrm>
            <a:off x="6025896" y="2697480"/>
            <a:ext cx="210312" cy="274320"/>
          </a:xfrm>
          <a:prstGeom prst="rect">
            <a:avLst/>
          </a:prstGeom>
          <a:noFill/>
          <a:ln/>
        </p:spPr>
        <p:txBody>
          <a:bodyPr wrap="square" lIns="0" tIns="0" rIns="0" bIns="0" rtlCol="0" anchor="ctr"/>
          <a:lstStyle/>
          <a:p>
            <a:pPr marL="0" indent="0" algn="ctr">
              <a:buNone/>
            </a:pPr>
            <a:r>
              <a:rPr lang="en-US" sz="1400" dirty="0">
                <a:solidFill>
                  <a:srgbClr val="8E8681"/>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6217920" y="1737360"/>
            <a:ext cx="1700784" cy="2194560"/>
          </a:xfrm>
          <a:prstGeom prst="rect">
            <a:avLst/>
          </a:prstGeom>
          <a:solidFill>
            <a:srgbClr val="F2EFEC"/>
          </a:solidFill>
          <a:ln w="12700">
            <a:solidFill>
              <a:srgbClr val="F2EFEC"/>
            </a:solidFill>
            <a:prstDash val="solid"/>
          </a:ln>
        </p:spPr>
        <p:txBody>
          <a:bodyPr/>
          <a:lstStyle/>
          <a:p>
            <a:endParaRPr lang="fr-FR"/>
          </a:p>
        </p:txBody>
      </p:sp>
      <p:sp>
        <p:nvSpPr>
          <p:cNvPr id="25" name="Shape 23"/>
          <p:cNvSpPr/>
          <p:nvPr/>
        </p:nvSpPr>
        <p:spPr>
          <a:xfrm>
            <a:off x="6876288" y="1965960"/>
            <a:ext cx="384048" cy="384048"/>
          </a:xfrm>
          <a:prstGeom prst="ellipse">
            <a:avLst/>
          </a:prstGeom>
          <a:solidFill>
            <a:srgbClr val="7FA08F"/>
          </a:solidFill>
          <a:ln/>
        </p:spPr>
        <p:txBody>
          <a:bodyPr/>
          <a:lstStyle/>
          <a:p>
            <a:endParaRPr lang="fr-FR"/>
          </a:p>
        </p:txBody>
      </p:sp>
      <p:sp>
        <p:nvSpPr>
          <p:cNvPr id="26" name="Text 24"/>
          <p:cNvSpPr txBox="1"/>
          <p:nvPr/>
        </p:nvSpPr>
        <p:spPr>
          <a:xfrm>
            <a:off x="6876288"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6309360" y="2514600"/>
            <a:ext cx="1517904" cy="457200"/>
          </a:xfrm>
          <a:prstGeom prst="rect">
            <a:avLst/>
          </a:prstGeom>
          <a:noFill/>
          <a:ln/>
        </p:spPr>
        <p:txBody>
          <a:bodyPr wrap="square" lIns="0" tIns="0" rIns="0" bIns="0" rtlCol="0" anchor="t"/>
          <a:lstStyle/>
          <a:p>
            <a:pPr marL="0" indent="0" algn="ctr">
              <a:buNone/>
            </a:pPr>
            <a:r>
              <a:rPr lang="en-US" sz="1250" b="1" dirty="0">
                <a:solidFill>
                  <a:srgbClr val="241A15"/>
                </a:solidFill>
                <a:latin typeface="Calibri" pitchFamily="34" charset="0"/>
                <a:ea typeface="Calibri" pitchFamily="34" charset="-122"/>
                <a:cs typeface="Calibri" pitchFamily="34" charset="-120"/>
              </a:rPr>
              <a:t>Variables</a:t>
            </a:r>
            <a:endParaRPr lang="en-US" sz="1250" dirty="0"/>
          </a:p>
        </p:txBody>
      </p:sp>
      <p:sp>
        <p:nvSpPr>
          <p:cNvPr id="28" name="Text 26"/>
          <p:cNvSpPr txBox="1"/>
          <p:nvPr/>
        </p:nvSpPr>
        <p:spPr>
          <a:xfrm>
            <a:off x="6309360" y="2990088"/>
            <a:ext cx="1517904" cy="822960"/>
          </a:xfrm>
          <a:prstGeom prst="rect">
            <a:avLst/>
          </a:prstGeom>
          <a:noFill/>
          <a:ln/>
        </p:spPr>
        <p:txBody>
          <a:bodyPr wrap="square" lIns="0" tIns="0" rIns="0" bIns="0" rtlCol="0" anchor="t"/>
          <a:lstStyle/>
          <a:p>
            <a:pPr marL="0" indent="0" algn="ctr">
              <a:buNone/>
            </a:pPr>
            <a:r>
              <a:rPr lang="en-US" sz="1100" dirty="0">
                <a:solidFill>
                  <a:srgbClr val="5C5550"/>
                </a:solidFill>
                <a:latin typeface="Calibri" pitchFamily="34" charset="0"/>
                <a:ea typeface="Calibri" pitchFamily="34" charset="-122"/>
                <a:cs typeface="Calibri" pitchFamily="34" charset="-120"/>
              </a:rPr>
              <a:t>Panel commune × année</a:t>
            </a:r>
            <a:endParaRPr lang="en-US" sz="1100" dirty="0"/>
          </a:p>
          <a:p>
            <a:pPr marL="0" indent="0" algn="ctr">
              <a:buNone/>
            </a:pPr>
            <a:r>
              <a:rPr lang="en-US" sz="1100" dirty="0">
                <a:solidFill>
                  <a:srgbClr val="5C5550"/>
                </a:solidFill>
                <a:latin typeface="Calibri" pitchFamily="34" charset="0"/>
                <a:ea typeface="Calibri" pitchFamily="34" charset="-122"/>
                <a:cs typeface="Calibri" pitchFamily="34" charset="-120"/>
              </a:rPr>
              <a:t>18 variables, passé strict</a:t>
            </a:r>
            <a:endParaRPr lang="en-US" sz="1100" dirty="0"/>
          </a:p>
        </p:txBody>
      </p:sp>
      <p:sp>
        <p:nvSpPr>
          <p:cNvPr id="29" name="Text 27"/>
          <p:cNvSpPr txBox="1"/>
          <p:nvPr/>
        </p:nvSpPr>
        <p:spPr>
          <a:xfrm>
            <a:off x="7900416" y="2697480"/>
            <a:ext cx="210312" cy="274320"/>
          </a:xfrm>
          <a:prstGeom prst="rect">
            <a:avLst/>
          </a:prstGeom>
          <a:noFill/>
          <a:ln/>
        </p:spPr>
        <p:txBody>
          <a:bodyPr wrap="square" lIns="0" tIns="0" rIns="0" bIns="0" rtlCol="0" anchor="ctr"/>
          <a:lstStyle/>
          <a:p>
            <a:pPr marL="0" indent="0" algn="ctr">
              <a:buNone/>
            </a:pPr>
            <a:r>
              <a:rPr lang="en-US" sz="1400" dirty="0">
                <a:solidFill>
                  <a:srgbClr val="8E8681"/>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8092440" y="1737360"/>
            <a:ext cx="1700784" cy="2194560"/>
          </a:xfrm>
          <a:prstGeom prst="rect">
            <a:avLst/>
          </a:prstGeom>
          <a:solidFill>
            <a:srgbClr val="F2EFEC"/>
          </a:solidFill>
          <a:ln w="12700">
            <a:solidFill>
              <a:srgbClr val="F2EFEC"/>
            </a:solidFill>
            <a:prstDash val="solid"/>
          </a:ln>
        </p:spPr>
        <p:txBody>
          <a:bodyPr/>
          <a:lstStyle/>
          <a:p>
            <a:endParaRPr lang="fr-FR"/>
          </a:p>
        </p:txBody>
      </p:sp>
      <p:sp>
        <p:nvSpPr>
          <p:cNvPr id="31" name="Shape 29"/>
          <p:cNvSpPr/>
          <p:nvPr/>
        </p:nvSpPr>
        <p:spPr>
          <a:xfrm>
            <a:off x="8750808" y="1965960"/>
            <a:ext cx="384048" cy="384048"/>
          </a:xfrm>
          <a:prstGeom prst="ellipse">
            <a:avLst/>
          </a:prstGeom>
          <a:solidFill>
            <a:srgbClr val="B85042"/>
          </a:solidFill>
          <a:ln/>
        </p:spPr>
        <p:txBody>
          <a:bodyPr/>
          <a:lstStyle/>
          <a:p>
            <a:endParaRPr lang="fr-FR"/>
          </a:p>
        </p:txBody>
      </p:sp>
      <p:sp>
        <p:nvSpPr>
          <p:cNvPr id="32" name="Text 30"/>
          <p:cNvSpPr txBox="1"/>
          <p:nvPr/>
        </p:nvSpPr>
        <p:spPr>
          <a:xfrm>
            <a:off x="8750808"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1"/>
          <p:cNvSpPr txBox="1"/>
          <p:nvPr/>
        </p:nvSpPr>
        <p:spPr>
          <a:xfrm>
            <a:off x="8183880" y="2514600"/>
            <a:ext cx="1517904" cy="457200"/>
          </a:xfrm>
          <a:prstGeom prst="rect">
            <a:avLst/>
          </a:prstGeom>
          <a:noFill/>
          <a:ln/>
        </p:spPr>
        <p:txBody>
          <a:bodyPr wrap="square" lIns="0" tIns="0" rIns="0" bIns="0" rtlCol="0" anchor="t"/>
          <a:lstStyle/>
          <a:p>
            <a:pPr marL="0" indent="0" algn="ctr">
              <a:buNone/>
            </a:pPr>
            <a:r>
              <a:rPr lang="en-US" sz="1250" b="1" dirty="0">
                <a:solidFill>
                  <a:srgbClr val="241A15"/>
                </a:solidFill>
                <a:latin typeface="Calibri" pitchFamily="34" charset="0"/>
                <a:ea typeface="Calibri" pitchFamily="34" charset="-122"/>
                <a:cs typeface="Calibri" pitchFamily="34" charset="-120"/>
              </a:rPr>
              <a:t>Clustering + modèle</a:t>
            </a:r>
            <a:endParaRPr lang="en-US" sz="1250" dirty="0"/>
          </a:p>
        </p:txBody>
      </p:sp>
      <p:sp>
        <p:nvSpPr>
          <p:cNvPr id="34" name="Text 32"/>
          <p:cNvSpPr txBox="1"/>
          <p:nvPr/>
        </p:nvSpPr>
        <p:spPr>
          <a:xfrm>
            <a:off x="8183880" y="2990088"/>
            <a:ext cx="1517904" cy="822960"/>
          </a:xfrm>
          <a:prstGeom prst="rect">
            <a:avLst/>
          </a:prstGeom>
          <a:noFill/>
          <a:ln/>
        </p:spPr>
        <p:txBody>
          <a:bodyPr wrap="square" lIns="0" tIns="0" rIns="0" bIns="0" rtlCol="0" anchor="t"/>
          <a:lstStyle/>
          <a:p>
            <a:pPr marL="0" indent="0" algn="ctr">
              <a:buNone/>
            </a:pPr>
            <a:r>
              <a:rPr lang="en-US" sz="1100" dirty="0">
                <a:solidFill>
                  <a:srgbClr val="5C5550"/>
                </a:solidFill>
                <a:latin typeface="Calibri" pitchFamily="34" charset="0"/>
                <a:ea typeface="Calibri" pitchFamily="34" charset="-122"/>
                <a:cs typeface="Calibri" pitchFamily="34" charset="-120"/>
              </a:rPr>
              <a:t>DBSCAN · KMeans</a:t>
            </a:r>
            <a:endParaRPr lang="en-US" sz="1100" dirty="0"/>
          </a:p>
          <a:p>
            <a:pPr marL="0" indent="0" algn="ctr">
              <a:buNone/>
            </a:pPr>
            <a:r>
              <a:rPr lang="en-US" sz="1100" dirty="0">
                <a:solidFill>
                  <a:srgbClr val="5C5550"/>
                </a:solidFill>
                <a:latin typeface="Calibri" pitchFamily="34" charset="0"/>
                <a:ea typeface="Calibri" pitchFamily="34" charset="-122"/>
                <a:cs typeface="Calibri" pitchFamily="34" charset="-120"/>
              </a:rPr>
              <a:t>Random Forest calibrée</a:t>
            </a:r>
            <a:endParaRPr lang="en-US" sz="1100" dirty="0"/>
          </a:p>
        </p:txBody>
      </p:sp>
      <p:sp>
        <p:nvSpPr>
          <p:cNvPr id="35" name="Text 33"/>
          <p:cNvSpPr txBox="1"/>
          <p:nvPr/>
        </p:nvSpPr>
        <p:spPr>
          <a:xfrm>
            <a:off x="9774936" y="2697480"/>
            <a:ext cx="210312" cy="274320"/>
          </a:xfrm>
          <a:prstGeom prst="rect">
            <a:avLst/>
          </a:prstGeom>
          <a:noFill/>
          <a:ln/>
        </p:spPr>
        <p:txBody>
          <a:bodyPr wrap="square" lIns="0" tIns="0" rIns="0" bIns="0" rtlCol="0" anchor="ctr"/>
          <a:lstStyle/>
          <a:p>
            <a:pPr marL="0" indent="0" algn="ctr">
              <a:buNone/>
            </a:pPr>
            <a:r>
              <a:rPr lang="en-US" sz="1400" dirty="0">
                <a:solidFill>
                  <a:srgbClr val="8E8681"/>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9966960" y="1737360"/>
            <a:ext cx="1700784" cy="2194560"/>
          </a:xfrm>
          <a:prstGeom prst="rect">
            <a:avLst/>
          </a:prstGeom>
          <a:solidFill>
            <a:srgbClr val="F2EFEC"/>
          </a:solidFill>
          <a:ln w="12700">
            <a:solidFill>
              <a:srgbClr val="F2EFEC"/>
            </a:solidFill>
            <a:prstDash val="solid"/>
          </a:ln>
        </p:spPr>
        <p:txBody>
          <a:bodyPr/>
          <a:lstStyle/>
          <a:p>
            <a:endParaRPr lang="fr-FR"/>
          </a:p>
        </p:txBody>
      </p:sp>
      <p:sp>
        <p:nvSpPr>
          <p:cNvPr id="37" name="Shape 35"/>
          <p:cNvSpPr/>
          <p:nvPr/>
        </p:nvSpPr>
        <p:spPr>
          <a:xfrm>
            <a:off x="10625328" y="1965960"/>
            <a:ext cx="384048" cy="384048"/>
          </a:xfrm>
          <a:prstGeom prst="ellipse">
            <a:avLst/>
          </a:prstGeom>
          <a:solidFill>
            <a:srgbClr val="B85042"/>
          </a:solidFill>
          <a:ln/>
        </p:spPr>
        <p:txBody>
          <a:bodyPr/>
          <a:lstStyle/>
          <a:p>
            <a:endParaRPr lang="fr-FR"/>
          </a:p>
        </p:txBody>
      </p:sp>
      <p:sp>
        <p:nvSpPr>
          <p:cNvPr id="38" name="Text 36"/>
          <p:cNvSpPr txBox="1"/>
          <p:nvPr/>
        </p:nvSpPr>
        <p:spPr>
          <a:xfrm>
            <a:off x="10625328"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9" name="Text 37"/>
          <p:cNvSpPr txBox="1"/>
          <p:nvPr/>
        </p:nvSpPr>
        <p:spPr>
          <a:xfrm>
            <a:off x="10058400" y="2514600"/>
            <a:ext cx="1517904" cy="457200"/>
          </a:xfrm>
          <a:prstGeom prst="rect">
            <a:avLst/>
          </a:prstGeom>
          <a:noFill/>
          <a:ln/>
        </p:spPr>
        <p:txBody>
          <a:bodyPr wrap="square" lIns="0" tIns="0" rIns="0" bIns="0" rtlCol="0" anchor="t"/>
          <a:lstStyle/>
          <a:p>
            <a:pPr marL="0" indent="0" algn="ctr">
              <a:buNone/>
            </a:pPr>
            <a:r>
              <a:rPr lang="en-US" sz="1250" b="1" dirty="0">
                <a:solidFill>
                  <a:srgbClr val="241A15"/>
                </a:solidFill>
                <a:latin typeface="Calibri" pitchFamily="34" charset="0"/>
                <a:ea typeface="Calibri" pitchFamily="34" charset="-122"/>
                <a:cs typeface="Calibri" pitchFamily="34" charset="-120"/>
              </a:rPr>
              <a:t>Application</a:t>
            </a:r>
            <a:endParaRPr lang="en-US" sz="1250" dirty="0"/>
          </a:p>
        </p:txBody>
      </p:sp>
      <p:sp>
        <p:nvSpPr>
          <p:cNvPr id="40" name="Text 38"/>
          <p:cNvSpPr txBox="1"/>
          <p:nvPr/>
        </p:nvSpPr>
        <p:spPr>
          <a:xfrm>
            <a:off x="10058400" y="2990088"/>
            <a:ext cx="1517904" cy="822960"/>
          </a:xfrm>
          <a:prstGeom prst="rect">
            <a:avLst/>
          </a:prstGeom>
          <a:noFill/>
          <a:ln/>
        </p:spPr>
        <p:txBody>
          <a:bodyPr wrap="square" lIns="0" tIns="0" rIns="0" bIns="0" rtlCol="0" anchor="t"/>
          <a:lstStyle/>
          <a:p>
            <a:pPr marL="0" indent="0" algn="ctr">
              <a:buNone/>
            </a:pPr>
            <a:r>
              <a:rPr lang="en-US" sz="1100" dirty="0">
                <a:solidFill>
                  <a:srgbClr val="5C5550"/>
                </a:solidFill>
                <a:latin typeface="Calibri" pitchFamily="34" charset="0"/>
                <a:ea typeface="Calibri" pitchFamily="34" charset="-122"/>
                <a:cs typeface="Calibri" pitchFamily="34" charset="-120"/>
              </a:rPr>
              <a:t>Streamlit, 9 pages</a:t>
            </a:r>
            <a:endParaRPr lang="en-US" sz="1100" dirty="0"/>
          </a:p>
          <a:p>
            <a:pPr marL="0" indent="0" algn="ctr">
              <a:buNone/>
            </a:pPr>
            <a:r>
              <a:rPr lang="en-US" sz="1100" dirty="0">
                <a:solidFill>
                  <a:srgbClr val="5C5550"/>
                </a:solidFill>
                <a:latin typeface="Calibri" pitchFamily="34" charset="0"/>
                <a:ea typeface="Calibri" pitchFamily="34" charset="-122"/>
                <a:cs typeface="Calibri" pitchFamily="34" charset="-120"/>
              </a:rPr>
              <a:t>Score par commune</a:t>
            </a:r>
            <a:endParaRPr lang="en-US" sz="1100" dirty="0"/>
          </a:p>
        </p:txBody>
      </p:sp>
      <p:sp>
        <p:nvSpPr>
          <p:cNvPr id="41" name="Shape 39"/>
          <p:cNvSpPr/>
          <p:nvPr/>
        </p:nvSpPr>
        <p:spPr>
          <a:xfrm>
            <a:off x="594360" y="4297680"/>
            <a:ext cx="11000232" cy="1325880"/>
          </a:xfrm>
          <a:prstGeom prst="rect">
            <a:avLst/>
          </a:prstGeom>
          <a:solidFill>
            <a:srgbClr val="241A15"/>
          </a:solidFill>
          <a:ln w="12700">
            <a:solidFill>
              <a:srgbClr val="241A15"/>
            </a:solidFill>
            <a:prstDash val="solid"/>
          </a:ln>
        </p:spPr>
        <p:txBody>
          <a:bodyPr/>
          <a:lstStyle/>
          <a:p>
            <a:endParaRPr lang="fr-FR"/>
          </a:p>
        </p:txBody>
      </p:sp>
      <p:sp>
        <p:nvSpPr>
          <p:cNvPr id="42" name="Text 40"/>
          <p:cNvSpPr txBox="1"/>
          <p:nvPr/>
        </p:nvSpPr>
        <p:spPr>
          <a:xfrm>
            <a:off x="914400" y="4443984"/>
            <a:ext cx="3657600" cy="274320"/>
          </a:xfrm>
          <a:prstGeom prst="rect">
            <a:avLst/>
          </a:prstGeom>
          <a:noFill/>
          <a:ln/>
        </p:spPr>
        <p:txBody>
          <a:bodyPr wrap="square" lIns="0" tIns="0" rIns="0" bIns="0" rtlCol="0" anchor="ctr"/>
          <a:lstStyle/>
          <a:p>
            <a:pPr marL="0" indent="0">
              <a:buNone/>
            </a:pPr>
            <a:r>
              <a:rPr lang="en-US" sz="1300" b="1" dirty="0">
                <a:solidFill>
                  <a:srgbClr val="D9A196"/>
                </a:solidFill>
                <a:latin typeface="Calibri" pitchFamily="34" charset="0"/>
                <a:ea typeface="Calibri" pitchFamily="34" charset="-122"/>
                <a:cs typeface="Calibri" pitchFamily="34" charset="-120"/>
              </a:rPr>
              <a:t>Pourquoi une table de staging ?</a:t>
            </a:r>
            <a:endParaRPr lang="en-US" sz="1300" dirty="0"/>
          </a:p>
        </p:txBody>
      </p:sp>
      <p:sp>
        <p:nvSpPr>
          <p:cNvPr id="43" name="Text 41"/>
          <p:cNvSpPr txBox="1"/>
          <p:nvPr/>
        </p:nvSpPr>
        <p:spPr>
          <a:xfrm>
            <a:off x="4663440" y="4498848"/>
            <a:ext cx="6720840" cy="9144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Les 52 exports BDIFF n'ont pas le même nombre de lignes d'en-tête (2, 3, 5 ou 6 selon l'année). En chargeant d'abord tout en texte brut, puis en nettoyant en SQL, aucune ligne n'est perdue à cause d'un format — et le nettoyage est rejouable sans retélécharger.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Des données dont on répond</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Six contrôles d'intégrité automatisés, rejouables à chaque chargement</a:t>
            </a:r>
            <a:endParaRPr lang="en-US" sz="1400" dirty="0"/>
          </a:p>
        </p:txBody>
      </p:sp>
      <p:sp>
        <p:nvSpPr>
          <p:cNvPr id="6" name="Text 4"/>
          <p:cNvSpPr txBox="1"/>
          <p:nvPr/>
        </p:nvSpPr>
        <p:spPr>
          <a:xfrm>
            <a:off x="594360" y="1417320"/>
            <a:ext cx="2514600" cy="868680"/>
          </a:xfrm>
          <a:prstGeom prst="rect">
            <a:avLst/>
          </a:prstGeom>
          <a:noFill/>
          <a:ln/>
        </p:spPr>
        <p:txBody>
          <a:bodyPr wrap="square" lIns="0" tIns="0" rIns="0" bIns="0" rtlCol="0" anchor="b"/>
          <a:lstStyle/>
          <a:p>
            <a:pPr marL="0" indent="0" algn="ctr">
              <a:buNone/>
            </a:pPr>
            <a:r>
              <a:rPr lang="en-US" sz="4000" b="1" dirty="0">
                <a:solidFill>
                  <a:srgbClr val="B85042"/>
                </a:solidFill>
                <a:latin typeface="Cambria" pitchFamily="34" charset="0"/>
                <a:ea typeface="Cambria" pitchFamily="34" charset="-122"/>
                <a:cs typeface="Cambria" pitchFamily="34" charset="-120"/>
              </a:rPr>
              <a:t>140 246</a:t>
            </a:r>
            <a:endParaRPr lang="en-US" sz="4000" dirty="0"/>
          </a:p>
        </p:txBody>
      </p:sp>
      <p:sp>
        <p:nvSpPr>
          <p:cNvPr id="7" name="Text 5"/>
          <p:cNvSpPr txBox="1"/>
          <p:nvPr/>
        </p:nvSpPr>
        <p:spPr>
          <a:xfrm>
            <a:off x="594360" y="233172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incendies chargés en base</a:t>
            </a:r>
            <a:endParaRPr lang="en-US" sz="1150" dirty="0"/>
          </a:p>
        </p:txBody>
      </p:sp>
      <p:sp>
        <p:nvSpPr>
          <p:cNvPr id="8" name="Text 6"/>
          <p:cNvSpPr txBox="1"/>
          <p:nvPr/>
        </p:nvSpPr>
        <p:spPr>
          <a:xfrm>
            <a:off x="3337560" y="1417320"/>
            <a:ext cx="2514600" cy="868680"/>
          </a:xfrm>
          <a:prstGeom prst="rect">
            <a:avLst/>
          </a:prstGeom>
          <a:noFill/>
          <a:ln/>
        </p:spPr>
        <p:txBody>
          <a:bodyPr wrap="square" lIns="0" tIns="0" rIns="0" bIns="0" rtlCol="0" anchor="b"/>
          <a:lstStyle/>
          <a:p>
            <a:pPr marL="0" indent="0" algn="ctr">
              <a:buNone/>
            </a:pPr>
            <a:r>
              <a:rPr lang="en-US" sz="4000" b="1" dirty="0">
                <a:solidFill>
                  <a:srgbClr val="7FA08F"/>
                </a:solidFill>
                <a:latin typeface="Cambria" pitchFamily="34" charset="0"/>
                <a:ea typeface="Cambria" pitchFamily="34" charset="-122"/>
                <a:cs typeface="Cambria" pitchFamily="34" charset="-120"/>
              </a:rPr>
              <a:t>99,31 %</a:t>
            </a:r>
            <a:endParaRPr lang="en-US" sz="4000" dirty="0"/>
          </a:p>
        </p:txBody>
      </p:sp>
      <p:sp>
        <p:nvSpPr>
          <p:cNvPr id="9" name="Text 7"/>
          <p:cNvSpPr txBox="1"/>
          <p:nvPr/>
        </p:nvSpPr>
        <p:spPr>
          <a:xfrm>
            <a:off x="3337560" y="233172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de géocodage réussi</a:t>
            </a:r>
            <a:endParaRPr lang="en-US" sz="1150" dirty="0"/>
          </a:p>
        </p:txBody>
      </p:sp>
      <p:sp>
        <p:nvSpPr>
          <p:cNvPr id="10" name="Text 8"/>
          <p:cNvSpPr txBox="1"/>
          <p:nvPr/>
        </p:nvSpPr>
        <p:spPr>
          <a:xfrm>
            <a:off x="6080760" y="1417320"/>
            <a:ext cx="2514600" cy="868680"/>
          </a:xfrm>
          <a:prstGeom prst="rect">
            <a:avLst/>
          </a:prstGeom>
          <a:noFill/>
          <a:ln/>
        </p:spPr>
        <p:txBody>
          <a:bodyPr wrap="square" lIns="0" tIns="0" rIns="0" bIns="0" rtlCol="0" anchor="b"/>
          <a:lstStyle/>
          <a:p>
            <a:pPr marL="0" indent="0" algn="ctr">
              <a:buNone/>
            </a:pPr>
            <a:r>
              <a:rPr lang="en-US" sz="4000" b="1" dirty="0">
                <a:solidFill>
                  <a:srgbClr val="50808E"/>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6080760" y="233172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doublon sur la clé métier</a:t>
            </a:r>
            <a:endParaRPr lang="en-US" sz="1150" dirty="0"/>
          </a:p>
        </p:txBody>
      </p:sp>
      <p:sp>
        <p:nvSpPr>
          <p:cNvPr id="12" name="Text 10"/>
          <p:cNvSpPr txBox="1"/>
          <p:nvPr/>
        </p:nvSpPr>
        <p:spPr>
          <a:xfrm>
            <a:off x="8823960" y="1417320"/>
            <a:ext cx="2514600" cy="868680"/>
          </a:xfrm>
          <a:prstGeom prst="rect">
            <a:avLst/>
          </a:prstGeom>
          <a:noFill/>
          <a:ln/>
        </p:spPr>
        <p:txBody>
          <a:bodyPr wrap="square" lIns="0" tIns="0" rIns="0" bIns="0" rtlCol="0" anchor="b"/>
          <a:lstStyle/>
          <a:p>
            <a:pPr marL="0" indent="0" algn="ctr">
              <a:buNone/>
            </a:pPr>
            <a:r>
              <a:rPr lang="en-US" sz="4000" b="1" dirty="0">
                <a:solidFill>
                  <a:srgbClr val="241A15"/>
                </a:solidFill>
                <a:latin typeface="Cambria" pitchFamily="34" charset="0"/>
                <a:ea typeface="Cambria" pitchFamily="34" charset="-122"/>
                <a:cs typeface="Cambria" pitchFamily="34" charset="-120"/>
              </a:rPr>
              <a:t>6 / 6</a:t>
            </a:r>
            <a:endParaRPr lang="en-US" sz="4000" dirty="0"/>
          </a:p>
        </p:txBody>
      </p:sp>
      <p:sp>
        <p:nvSpPr>
          <p:cNvPr id="13" name="Text 11"/>
          <p:cNvSpPr txBox="1"/>
          <p:nvPr/>
        </p:nvSpPr>
        <p:spPr>
          <a:xfrm>
            <a:off x="8823960" y="233172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contrôles au vert</a:t>
            </a:r>
            <a:endParaRPr lang="en-US" sz="1150" dirty="0"/>
          </a:p>
        </p:txBody>
      </p:sp>
      <p:sp>
        <p:nvSpPr>
          <p:cNvPr id="14" name="Shape 12"/>
          <p:cNvSpPr/>
          <p:nvPr/>
        </p:nvSpPr>
        <p:spPr>
          <a:xfrm>
            <a:off x="594360" y="3474720"/>
            <a:ext cx="5422392" cy="603504"/>
          </a:xfrm>
          <a:prstGeom prst="rect">
            <a:avLst/>
          </a:prstGeom>
          <a:solidFill>
            <a:srgbClr val="F2EFEC"/>
          </a:solidFill>
          <a:ln w="12700">
            <a:solidFill>
              <a:srgbClr val="F2EFEC"/>
            </a:solidFill>
            <a:prstDash val="solid"/>
          </a:ln>
        </p:spPr>
        <p:txBody>
          <a:bodyPr/>
          <a:lstStyle/>
          <a:p>
            <a:endParaRPr lang="fr-FR"/>
          </a:p>
        </p:txBody>
      </p:sp>
      <p:sp>
        <p:nvSpPr>
          <p:cNvPr id="15" name="Shape 13"/>
          <p:cNvSpPr/>
          <p:nvPr/>
        </p:nvSpPr>
        <p:spPr>
          <a:xfrm>
            <a:off x="795528" y="3685032"/>
            <a:ext cx="182880" cy="182880"/>
          </a:xfrm>
          <a:prstGeom prst="ellipse">
            <a:avLst/>
          </a:prstGeom>
          <a:solidFill>
            <a:srgbClr val="7FA08F"/>
          </a:solidFill>
          <a:ln/>
        </p:spPr>
        <p:txBody>
          <a:bodyPr/>
          <a:lstStyle/>
          <a:p>
            <a:endParaRPr lang="fr-FR"/>
          </a:p>
        </p:txBody>
      </p:sp>
      <p:sp>
        <p:nvSpPr>
          <p:cNvPr id="16" name="Text 14"/>
          <p:cNvSpPr txBox="1"/>
          <p:nvPr/>
        </p:nvSpPr>
        <p:spPr>
          <a:xfrm>
            <a:off x="1106424" y="3474720"/>
            <a:ext cx="3246120" cy="603504"/>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Unicité de la clé métier (année, numéro)</a:t>
            </a:r>
            <a:endParaRPr lang="en-US" sz="1250" dirty="0"/>
          </a:p>
        </p:txBody>
      </p:sp>
      <p:sp>
        <p:nvSpPr>
          <p:cNvPr id="17" name="Text 15"/>
          <p:cNvSpPr txBox="1"/>
          <p:nvPr/>
        </p:nvSpPr>
        <p:spPr>
          <a:xfrm>
            <a:off x="4343400" y="3474720"/>
            <a:ext cx="1536192" cy="603504"/>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0 doublon</a:t>
            </a:r>
            <a:endParaRPr lang="en-US" sz="1250" dirty="0"/>
          </a:p>
        </p:txBody>
      </p:sp>
      <p:sp>
        <p:nvSpPr>
          <p:cNvPr id="18" name="Shape 16"/>
          <p:cNvSpPr/>
          <p:nvPr/>
        </p:nvSpPr>
        <p:spPr>
          <a:xfrm>
            <a:off x="6172200" y="3474720"/>
            <a:ext cx="5422392" cy="603504"/>
          </a:xfrm>
          <a:prstGeom prst="rect">
            <a:avLst/>
          </a:prstGeom>
          <a:solidFill>
            <a:srgbClr val="F2EFEC"/>
          </a:solidFill>
          <a:ln w="12700">
            <a:solidFill>
              <a:srgbClr val="F2EFEC"/>
            </a:solidFill>
            <a:prstDash val="solid"/>
          </a:ln>
        </p:spPr>
        <p:txBody>
          <a:bodyPr/>
          <a:lstStyle/>
          <a:p>
            <a:endParaRPr lang="fr-FR"/>
          </a:p>
        </p:txBody>
      </p:sp>
      <p:sp>
        <p:nvSpPr>
          <p:cNvPr id="19" name="Shape 17"/>
          <p:cNvSpPr/>
          <p:nvPr/>
        </p:nvSpPr>
        <p:spPr>
          <a:xfrm>
            <a:off x="6373368" y="3685032"/>
            <a:ext cx="182880" cy="182880"/>
          </a:xfrm>
          <a:prstGeom prst="ellipse">
            <a:avLst/>
          </a:prstGeom>
          <a:solidFill>
            <a:srgbClr val="7FA08F"/>
          </a:solidFill>
          <a:ln/>
        </p:spPr>
        <p:txBody>
          <a:bodyPr/>
          <a:lstStyle/>
          <a:p>
            <a:endParaRPr lang="fr-FR"/>
          </a:p>
        </p:txBody>
      </p:sp>
      <p:sp>
        <p:nvSpPr>
          <p:cNvPr id="20" name="Text 18"/>
          <p:cNvSpPr txBox="1"/>
          <p:nvPr/>
        </p:nvSpPr>
        <p:spPr>
          <a:xfrm>
            <a:off x="6684264" y="3474720"/>
            <a:ext cx="3246120" cy="603504"/>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Taux de géocodage (jointure INSEE)</a:t>
            </a:r>
            <a:endParaRPr lang="en-US" sz="1250" dirty="0"/>
          </a:p>
        </p:txBody>
      </p:sp>
      <p:sp>
        <p:nvSpPr>
          <p:cNvPr id="21" name="Text 19"/>
          <p:cNvSpPr txBox="1"/>
          <p:nvPr/>
        </p:nvSpPr>
        <p:spPr>
          <a:xfrm>
            <a:off x="9921240" y="3474720"/>
            <a:ext cx="1536192" cy="603504"/>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99,31 %  ≥ 97 %</a:t>
            </a:r>
            <a:endParaRPr lang="en-US" sz="1250" dirty="0"/>
          </a:p>
        </p:txBody>
      </p:sp>
      <p:sp>
        <p:nvSpPr>
          <p:cNvPr id="22" name="Shape 20"/>
          <p:cNvSpPr/>
          <p:nvPr/>
        </p:nvSpPr>
        <p:spPr>
          <a:xfrm>
            <a:off x="594360" y="4206240"/>
            <a:ext cx="5422392" cy="603504"/>
          </a:xfrm>
          <a:prstGeom prst="rect">
            <a:avLst/>
          </a:prstGeom>
          <a:solidFill>
            <a:srgbClr val="F2EFEC"/>
          </a:solidFill>
          <a:ln w="12700">
            <a:solidFill>
              <a:srgbClr val="F2EFEC"/>
            </a:solidFill>
            <a:prstDash val="solid"/>
          </a:ln>
        </p:spPr>
        <p:txBody>
          <a:bodyPr/>
          <a:lstStyle/>
          <a:p>
            <a:endParaRPr lang="fr-FR"/>
          </a:p>
        </p:txBody>
      </p:sp>
      <p:sp>
        <p:nvSpPr>
          <p:cNvPr id="23" name="Shape 21"/>
          <p:cNvSpPr/>
          <p:nvPr/>
        </p:nvSpPr>
        <p:spPr>
          <a:xfrm>
            <a:off x="795528" y="4416552"/>
            <a:ext cx="182880" cy="182880"/>
          </a:xfrm>
          <a:prstGeom prst="ellipse">
            <a:avLst/>
          </a:prstGeom>
          <a:solidFill>
            <a:srgbClr val="7FA08F"/>
          </a:solidFill>
          <a:ln/>
        </p:spPr>
        <p:txBody>
          <a:bodyPr/>
          <a:lstStyle/>
          <a:p>
            <a:endParaRPr lang="fr-FR"/>
          </a:p>
        </p:txBody>
      </p:sp>
      <p:sp>
        <p:nvSpPr>
          <p:cNvPr id="24" name="Text 22"/>
          <p:cNvSpPr txBox="1"/>
          <p:nvPr/>
        </p:nvSpPr>
        <p:spPr>
          <a:xfrm>
            <a:off x="1106424" y="4206240"/>
            <a:ext cx="3246120" cy="603504"/>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Plage temporelle couverte</a:t>
            </a:r>
            <a:endParaRPr lang="en-US" sz="1250" dirty="0"/>
          </a:p>
        </p:txBody>
      </p:sp>
      <p:sp>
        <p:nvSpPr>
          <p:cNvPr id="25" name="Text 23"/>
          <p:cNvSpPr txBox="1"/>
          <p:nvPr/>
        </p:nvSpPr>
        <p:spPr>
          <a:xfrm>
            <a:off x="4343400" y="4206240"/>
            <a:ext cx="1536192" cy="603504"/>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1973 → 2024</a:t>
            </a:r>
            <a:endParaRPr lang="en-US" sz="1250" dirty="0"/>
          </a:p>
        </p:txBody>
      </p:sp>
      <p:sp>
        <p:nvSpPr>
          <p:cNvPr id="26" name="Shape 24"/>
          <p:cNvSpPr/>
          <p:nvPr/>
        </p:nvSpPr>
        <p:spPr>
          <a:xfrm>
            <a:off x="6172200" y="4206240"/>
            <a:ext cx="5422392" cy="603504"/>
          </a:xfrm>
          <a:prstGeom prst="rect">
            <a:avLst/>
          </a:prstGeom>
          <a:solidFill>
            <a:srgbClr val="F2EFEC"/>
          </a:solidFill>
          <a:ln w="12700">
            <a:solidFill>
              <a:srgbClr val="F2EFEC"/>
            </a:solidFill>
            <a:prstDash val="solid"/>
          </a:ln>
        </p:spPr>
        <p:txBody>
          <a:bodyPr/>
          <a:lstStyle/>
          <a:p>
            <a:endParaRPr lang="fr-FR"/>
          </a:p>
        </p:txBody>
      </p:sp>
      <p:sp>
        <p:nvSpPr>
          <p:cNvPr id="27" name="Shape 25"/>
          <p:cNvSpPr/>
          <p:nvPr/>
        </p:nvSpPr>
        <p:spPr>
          <a:xfrm>
            <a:off x="6373368" y="4416552"/>
            <a:ext cx="182880" cy="182880"/>
          </a:xfrm>
          <a:prstGeom prst="ellipse">
            <a:avLst/>
          </a:prstGeom>
          <a:solidFill>
            <a:srgbClr val="7FA08F"/>
          </a:solidFill>
          <a:ln/>
        </p:spPr>
        <p:txBody>
          <a:bodyPr/>
          <a:lstStyle/>
          <a:p>
            <a:endParaRPr lang="fr-FR"/>
          </a:p>
        </p:txBody>
      </p:sp>
      <p:sp>
        <p:nvSpPr>
          <p:cNvPr id="28" name="Text 26"/>
          <p:cNvSpPr txBox="1"/>
          <p:nvPr/>
        </p:nvSpPr>
        <p:spPr>
          <a:xfrm>
            <a:off x="6684264" y="4206240"/>
            <a:ext cx="3246120" cy="603504"/>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Aucune surface négative</a:t>
            </a:r>
            <a:endParaRPr lang="en-US" sz="1250" dirty="0"/>
          </a:p>
        </p:txBody>
      </p:sp>
      <p:sp>
        <p:nvSpPr>
          <p:cNvPr id="29" name="Text 27"/>
          <p:cNvSpPr txBox="1"/>
          <p:nvPr/>
        </p:nvSpPr>
        <p:spPr>
          <a:xfrm>
            <a:off x="9921240" y="4206240"/>
            <a:ext cx="1536192" cy="603504"/>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0 ligne</a:t>
            </a:r>
            <a:endParaRPr lang="en-US" sz="1250" dirty="0"/>
          </a:p>
        </p:txBody>
      </p:sp>
      <p:sp>
        <p:nvSpPr>
          <p:cNvPr id="30" name="Shape 28"/>
          <p:cNvSpPr/>
          <p:nvPr/>
        </p:nvSpPr>
        <p:spPr>
          <a:xfrm>
            <a:off x="594360" y="4937760"/>
            <a:ext cx="5422392" cy="603504"/>
          </a:xfrm>
          <a:prstGeom prst="rect">
            <a:avLst/>
          </a:prstGeom>
          <a:solidFill>
            <a:srgbClr val="F2EFEC"/>
          </a:solidFill>
          <a:ln w="12700">
            <a:solidFill>
              <a:srgbClr val="F2EFEC"/>
            </a:solidFill>
            <a:prstDash val="solid"/>
          </a:ln>
        </p:spPr>
        <p:txBody>
          <a:bodyPr/>
          <a:lstStyle/>
          <a:p>
            <a:endParaRPr lang="fr-FR"/>
          </a:p>
        </p:txBody>
      </p:sp>
      <p:sp>
        <p:nvSpPr>
          <p:cNvPr id="31" name="Shape 29"/>
          <p:cNvSpPr/>
          <p:nvPr/>
        </p:nvSpPr>
        <p:spPr>
          <a:xfrm>
            <a:off x="795528" y="5148072"/>
            <a:ext cx="182880" cy="182880"/>
          </a:xfrm>
          <a:prstGeom prst="ellipse">
            <a:avLst/>
          </a:prstGeom>
          <a:solidFill>
            <a:srgbClr val="7FA08F"/>
          </a:solidFill>
          <a:ln/>
        </p:spPr>
        <p:txBody>
          <a:bodyPr/>
          <a:lstStyle/>
          <a:p>
            <a:endParaRPr lang="fr-FR"/>
          </a:p>
        </p:txBody>
      </p:sp>
      <p:sp>
        <p:nvSpPr>
          <p:cNvPr id="32" name="Text 30"/>
          <p:cNvSpPr txBox="1"/>
          <p:nvPr/>
        </p:nvSpPr>
        <p:spPr>
          <a:xfrm>
            <a:off x="1106424" y="4937760"/>
            <a:ext cx="3246120" cy="603504"/>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Surface forêt ≤ surface parcourue</a:t>
            </a:r>
            <a:endParaRPr lang="en-US" sz="1250" dirty="0"/>
          </a:p>
        </p:txBody>
      </p:sp>
      <p:sp>
        <p:nvSpPr>
          <p:cNvPr id="33" name="Text 31"/>
          <p:cNvSpPr txBox="1"/>
          <p:nvPr/>
        </p:nvSpPr>
        <p:spPr>
          <a:xfrm>
            <a:off x="4343400" y="4937760"/>
            <a:ext cx="1536192" cy="603504"/>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0 ligne  (0,000 %)</a:t>
            </a:r>
            <a:endParaRPr lang="en-US" sz="1250" dirty="0"/>
          </a:p>
        </p:txBody>
      </p:sp>
      <p:sp>
        <p:nvSpPr>
          <p:cNvPr id="34" name="Shape 32"/>
          <p:cNvSpPr/>
          <p:nvPr/>
        </p:nvSpPr>
        <p:spPr>
          <a:xfrm>
            <a:off x="6172200" y="4937760"/>
            <a:ext cx="5422392" cy="603504"/>
          </a:xfrm>
          <a:prstGeom prst="rect">
            <a:avLst/>
          </a:prstGeom>
          <a:solidFill>
            <a:srgbClr val="F2EFEC"/>
          </a:solidFill>
          <a:ln w="12700">
            <a:solidFill>
              <a:srgbClr val="F2EFEC"/>
            </a:solidFill>
            <a:prstDash val="solid"/>
          </a:ln>
        </p:spPr>
        <p:txBody>
          <a:bodyPr/>
          <a:lstStyle/>
          <a:p>
            <a:endParaRPr lang="fr-FR"/>
          </a:p>
        </p:txBody>
      </p:sp>
      <p:sp>
        <p:nvSpPr>
          <p:cNvPr id="35" name="Shape 33"/>
          <p:cNvSpPr/>
          <p:nvPr/>
        </p:nvSpPr>
        <p:spPr>
          <a:xfrm>
            <a:off x="6373368" y="5148072"/>
            <a:ext cx="182880" cy="182880"/>
          </a:xfrm>
          <a:prstGeom prst="ellipse">
            <a:avLst/>
          </a:prstGeom>
          <a:solidFill>
            <a:srgbClr val="7FA08F"/>
          </a:solidFill>
          <a:ln/>
        </p:spPr>
        <p:txBody>
          <a:bodyPr/>
          <a:lstStyle/>
          <a:p>
            <a:endParaRPr lang="fr-FR"/>
          </a:p>
        </p:txBody>
      </p:sp>
      <p:sp>
        <p:nvSpPr>
          <p:cNvPr id="36" name="Text 34"/>
          <p:cNvSpPr txBox="1"/>
          <p:nvPr/>
        </p:nvSpPr>
        <p:spPr>
          <a:xfrm>
            <a:off x="6684264" y="4937760"/>
            <a:ext cx="3246120" cy="603504"/>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Contrôle croisé staging → fires</a:t>
            </a:r>
            <a:endParaRPr lang="en-US" sz="1250" dirty="0"/>
          </a:p>
        </p:txBody>
      </p:sp>
      <p:sp>
        <p:nvSpPr>
          <p:cNvPr id="37" name="Text 35"/>
          <p:cNvSpPr txBox="1"/>
          <p:nvPr/>
        </p:nvSpPr>
        <p:spPr>
          <a:xfrm>
            <a:off x="9921240" y="4937760"/>
            <a:ext cx="1536192" cy="603504"/>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140 246 / 140 246</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Construire des variables sans tricher</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18 variables, une règle absolue : ne jamais regarder le futur</a:t>
            </a:r>
            <a:endParaRPr lang="en-US" sz="1400" dirty="0"/>
          </a:p>
        </p:txBody>
      </p:sp>
      <p:sp>
        <p:nvSpPr>
          <p:cNvPr id="6" name="Shape 4"/>
          <p:cNvSpPr/>
          <p:nvPr/>
        </p:nvSpPr>
        <p:spPr>
          <a:xfrm>
            <a:off x="594360" y="1463040"/>
            <a:ext cx="2606040" cy="2331720"/>
          </a:xfrm>
          <a:prstGeom prst="rect">
            <a:avLst/>
          </a:prstGeom>
          <a:solidFill>
            <a:srgbClr val="F2EFEC"/>
          </a:solidFill>
          <a:ln w="12700">
            <a:solidFill>
              <a:srgbClr val="F2EFEC"/>
            </a:solidFill>
            <a:prstDash val="solid"/>
          </a:ln>
        </p:spPr>
        <p:txBody>
          <a:bodyPr/>
          <a:lstStyle/>
          <a:p>
            <a:endParaRPr lang="fr-FR"/>
          </a:p>
        </p:txBody>
      </p:sp>
      <p:sp>
        <p:nvSpPr>
          <p:cNvPr id="7" name="Shape 5"/>
          <p:cNvSpPr/>
          <p:nvPr/>
        </p:nvSpPr>
        <p:spPr>
          <a:xfrm>
            <a:off x="850392" y="1691640"/>
            <a:ext cx="219456" cy="219456"/>
          </a:xfrm>
          <a:prstGeom prst="ellipse">
            <a:avLst/>
          </a:prstGeom>
          <a:solidFill>
            <a:srgbClr val="B85042"/>
          </a:solidFill>
          <a:ln/>
        </p:spPr>
        <p:txBody>
          <a:bodyPr/>
          <a:lstStyle/>
          <a:p>
            <a:endParaRPr lang="fr-FR"/>
          </a:p>
        </p:txBody>
      </p:sp>
      <p:sp>
        <p:nvSpPr>
          <p:cNvPr id="8" name="Text 6"/>
          <p:cNvSpPr txBox="1"/>
          <p:nvPr/>
        </p:nvSpPr>
        <p:spPr>
          <a:xfrm>
            <a:off x="1161288" y="1655064"/>
            <a:ext cx="1874520" cy="292608"/>
          </a:xfrm>
          <a:prstGeom prst="rect">
            <a:avLst/>
          </a:prstGeom>
          <a:noFill/>
          <a:ln/>
        </p:spPr>
        <p:txBody>
          <a:bodyPr wrap="square" lIns="0" tIns="0" rIns="0" bIns="0" rtlCol="0" anchor="ctr"/>
          <a:lstStyle/>
          <a:p>
            <a:pPr marL="0" indent="0">
              <a:buNone/>
            </a:pPr>
            <a:r>
              <a:rPr lang="en-US" sz="1300" b="1" dirty="0">
                <a:solidFill>
                  <a:srgbClr val="241A15"/>
                </a:solidFill>
                <a:latin typeface="Calibri" pitchFamily="34" charset="0"/>
                <a:ea typeface="Calibri" pitchFamily="34" charset="-122"/>
                <a:cs typeface="Calibri" pitchFamily="34" charset="-120"/>
              </a:rPr>
              <a:t>Historique des feux</a:t>
            </a:r>
            <a:endParaRPr lang="en-US" sz="1300" dirty="0"/>
          </a:p>
        </p:txBody>
      </p:sp>
      <p:sp>
        <p:nvSpPr>
          <p:cNvPr id="9" name="Text 7"/>
          <p:cNvSpPr txBox="1"/>
          <p:nvPr/>
        </p:nvSpPr>
        <p:spPr>
          <a:xfrm>
            <a:off x="868680" y="2103120"/>
            <a:ext cx="210312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nombre de feux sur 5 ans</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nombre de feux sur 10 ans</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surface brûlée 5 et 10 ans</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surface forestière 5 ans</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surface moyenne par feu</a:t>
            </a:r>
            <a:endParaRPr lang="en-US" sz="1200" dirty="0"/>
          </a:p>
        </p:txBody>
      </p:sp>
      <p:sp>
        <p:nvSpPr>
          <p:cNvPr id="10" name="Shape 8"/>
          <p:cNvSpPr/>
          <p:nvPr/>
        </p:nvSpPr>
        <p:spPr>
          <a:xfrm>
            <a:off x="3392424" y="1463040"/>
            <a:ext cx="2606040" cy="2331720"/>
          </a:xfrm>
          <a:prstGeom prst="rect">
            <a:avLst/>
          </a:prstGeom>
          <a:solidFill>
            <a:srgbClr val="F2EFEC"/>
          </a:solidFill>
          <a:ln w="12700">
            <a:solidFill>
              <a:srgbClr val="F2EFEC"/>
            </a:solidFill>
            <a:prstDash val="solid"/>
          </a:ln>
        </p:spPr>
        <p:txBody>
          <a:bodyPr/>
          <a:lstStyle/>
          <a:p>
            <a:endParaRPr lang="fr-FR"/>
          </a:p>
        </p:txBody>
      </p:sp>
      <p:sp>
        <p:nvSpPr>
          <p:cNvPr id="11" name="Shape 9"/>
          <p:cNvSpPr/>
          <p:nvPr/>
        </p:nvSpPr>
        <p:spPr>
          <a:xfrm>
            <a:off x="3648456" y="1691640"/>
            <a:ext cx="219456" cy="219456"/>
          </a:xfrm>
          <a:prstGeom prst="ellipse">
            <a:avLst/>
          </a:prstGeom>
          <a:solidFill>
            <a:srgbClr val="7FA08F"/>
          </a:solidFill>
          <a:ln/>
        </p:spPr>
        <p:txBody>
          <a:bodyPr/>
          <a:lstStyle/>
          <a:p>
            <a:endParaRPr lang="fr-FR"/>
          </a:p>
        </p:txBody>
      </p:sp>
      <p:sp>
        <p:nvSpPr>
          <p:cNvPr id="12" name="Text 10"/>
          <p:cNvSpPr txBox="1"/>
          <p:nvPr/>
        </p:nvSpPr>
        <p:spPr>
          <a:xfrm>
            <a:off x="3959352" y="1655064"/>
            <a:ext cx="1874520" cy="292608"/>
          </a:xfrm>
          <a:prstGeom prst="rect">
            <a:avLst/>
          </a:prstGeom>
          <a:noFill/>
          <a:ln/>
        </p:spPr>
        <p:txBody>
          <a:bodyPr wrap="square" lIns="0" tIns="0" rIns="0" bIns="0" rtlCol="0" anchor="ctr"/>
          <a:lstStyle/>
          <a:p>
            <a:pPr marL="0" indent="0">
              <a:buNone/>
            </a:pPr>
            <a:r>
              <a:rPr lang="en-US" sz="1300" b="1" dirty="0">
                <a:solidFill>
                  <a:srgbClr val="241A15"/>
                </a:solidFill>
                <a:latin typeface="Calibri" pitchFamily="34" charset="0"/>
                <a:ea typeface="Calibri" pitchFamily="34" charset="-122"/>
                <a:cs typeface="Calibri" pitchFamily="34" charset="-120"/>
              </a:rPr>
              <a:t>Géographie</a:t>
            </a:r>
            <a:endParaRPr lang="en-US" sz="1300" dirty="0"/>
          </a:p>
        </p:txBody>
      </p:sp>
      <p:sp>
        <p:nvSpPr>
          <p:cNvPr id="13" name="Text 11"/>
          <p:cNvSpPr txBox="1"/>
          <p:nvPr/>
        </p:nvSpPr>
        <p:spPr>
          <a:xfrm>
            <a:off x="3666744" y="2103120"/>
            <a:ext cx="210312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latitude, longitude</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altitude moyenne</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superficie communale</a:t>
            </a:r>
            <a:endParaRPr lang="en-US" sz="1200" dirty="0"/>
          </a:p>
        </p:txBody>
      </p:sp>
      <p:sp>
        <p:nvSpPr>
          <p:cNvPr id="14" name="Shape 12"/>
          <p:cNvSpPr/>
          <p:nvPr/>
        </p:nvSpPr>
        <p:spPr>
          <a:xfrm>
            <a:off x="6190488" y="1463040"/>
            <a:ext cx="2606040" cy="2331720"/>
          </a:xfrm>
          <a:prstGeom prst="rect">
            <a:avLst/>
          </a:prstGeom>
          <a:solidFill>
            <a:srgbClr val="F2EFEC"/>
          </a:solidFill>
          <a:ln w="12700">
            <a:solidFill>
              <a:srgbClr val="F2EFEC"/>
            </a:solidFill>
            <a:prstDash val="solid"/>
          </a:ln>
        </p:spPr>
        <p:txBody>
          <a:bodyPr/>
          <a:lstStyle/>
          <a:p>
            <a:endParaRPr lang="fr-FR"/>
          </a:p>
        </p:txBody>
      </p:sp>
      <p:sp>
        <p:nvSpPr>
          <p:cNvPr id="15" name="Shape 13"/>
          <p:cNvSpPr/>
          <p:nvPr/>
        </p:nvSpPr>
        <p:spPr>
          <a:xfrm>
            <a:off x="6446520" y="1691640"/>
            <a:ext cx="219456" cy="219456"/>
          </a:xfrm>
          <a:prstGeom prst="ellipse">
            <a:avLst/>
          </a:prstGeom>
          <a:solidFill>
            <a:srgbClr val="50808E"/>
          </a:solidFill>
          <a:ln/>
        </p:spPr>
        <p:txBody>
          <a:bodyPr/>
          <a:lstStyle/>
          <a:p>
            <a:endParaRPr lang="fr-FR"/>
          </a:p>
        </p:txBody>
      </p:sp>
      <p:sp>
        <p:nvSpPr>
          <p:cNvPr id="16" name="Text 14"/>
          <p:cNvSpPr txBox="1"/>
          <p:nvPr/>
        </p:nvSpPr>
        <p:spPr>
          <a:xfrm>
            <a:off x="6757416" y="1655064"/>
            <a:ext cx="1874520" cy="292608"/>
          </a:xfrm>
          <a:prstGeom prst="rect">
            <a:avLst/>
          </a:prstGeom>
          <a:noFill/>
          <a:ln/>
        </p:spPr>
        <p:txBody>
          <a:bodyPr wrap="square" lIns="0" tIns="0" rIns="0" bIns="0" rtlCol="0" anchor="ctr"/>
          <a:lstStyle/>
          <a:p>
            <a:pPr marL="0" indent="0">
              <a:buNone/>
            </a:pPr>
            <a:r>
              <a:rPr lang="en-US" sz="1300" b="1" dirty="0">
                <a:solidFill>
                  <a:srgbClr val="241A15"/>
                </a:solidFill>
                <a:latin typeface="Calibri" pitchFamily="34" charset="0"/>
                <a:ea typeface="Calibri" pitchFamily="34" charset="-122"/>
                <a:cs typeface="Calibri" pitchFamily="34" charset="-120"/>
              </a:rPr>
              <a:t>Saisonnalité</a:t>
            </a:r>
            <a:endParaRPr lang="en-US" sz="1300" dirty="0"/>
          </a:p>
        </p:txBody>
      </p:sp>
      <p:sp>
        <p:nvSpPr>
          <p:cNvPr id="17" name="Text 15"/>
          <p:cNvSpPr txBox="1"/>
          <p:nvPr/>
        </p:nvSpPr>
        <p:spPr>
          <a:xfrm>
            <a:off x="6464808" y="2103120"/>
            <a:ext cx="210312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part des feux de juin à septembre</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mois dominant historique</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encodage cyclique sinus / cosinus</a:t>
            </a:r>
            <a:endParaRPr lang="en-US" sz="1200" dirty="0"/>
          </a:p>
        </p:txBody>
      </p:sp>
      <p:sp>
        <p:nvSpPr>
          <p:cNvPr id="18" name="Shape 16"/>
          <p:cNvSpPr/>
          <p:nvPr/>
        </p:nvSpPr>
        <p:spPr>
          <a:xfrm>
            <a:off x="8988552" y="1463040"/>
            <a:ext cx="2606040" cy="2331720"/>
          </a:xfrm>
          <a:prstGeom prst="rect">
            <a:avLst/>
          </a:prstGeom>
          <a:solidFill>
            <a:srgbClr val="F2EFEC"/>
          </a:solidFill>
          <a:ln w="12700">
            <a:solidFill>
              <a:srgbClr val="F2EFEC"/>
            </a:solidFill>
            <a:prstDash val="solid"/>
          </a:ln>
        </p:spPr>
        <p:txBody>
          <a:bodyPr/>
          <a:lstStyle/>
          <a:p>
            <a:endParaRPr lang="fr-FR"/>
          </a:p>
        </p:txBody>
      </p:sp>
      <p:sp>
        <p:nvSpPr>
          <p:cNvPr id="19" name="Shape 17"/>
          <p:cNvSpPr/>
          <p:nvPr/>
        </p:nvSpPr>
        <p:spPr>
          <a:xfrm>
            <a:off x="9244584" y="1691640"/>
            <a:ext cx="219456" cy="219456"/>
          </a:xfrm>
          <a:prstGeom prst="ellipse">
            <a:avLst/>
          </a:prstGeom>
          <a:solidFill>
            <a:srgbClr val="241A15"/>
          </a:solidFill>
          <a:ln/>
        </p:spPr>
        <p:txBody>
          <a:bodyPr/>
          <a:lstStyle/>
          <a:p>
            <a:endParaRPr lang="fr-FR"/>
          </a:p>
        </p:txBody>
      </p:sp>
      <p:sp>
        <p:nvSpPr>
          <p:cNvPr id="20" name="Text 18"/>
          <p:cNvSpPr txBox="1"/>
          <p:nvPr/>
        </p:nvSpPr>
        <p:spPr>
          <a:xfrm>
            <a:off x="9555480" y="1655064"/>
            <a:ext cx="1874520" cy="292608"/>
          </a:xfrm>
          <a:prstGeom prst="rect">
            <a:avLst/>
          </a:prstGeom>
          <a:noFill/>
          <a:ln/>
        </p:spPr>
        <p:txBody>
          <a:bodyPr wrap="square" lIns="0" tIns="0" rIns="0" bIns="0" rtlCol="0" anchor="ctr"/>
          <a:lstStyle/>
          <a:p>
            <a:pPr marL="0" indent="0">
              <a:buNone/>
            </a:pPr>
            <a:r>
              <a:rPr lang="en-US" sz="1300" b="1" dirty="0">
                <a:solidFill>
                  <a:srgbClr val="241A15"/>
                </a:solidFill>
                <a:latin typeface="Calibri" pitchFamily="34" charset="0"/>
                <a:ea typeface="Calibri" pitchFamily="34" charset="-122"/>
                <a:cs typeface="Calibri" pitchFamily="34" charset="-120"/>
              </a:rPr>
              <a:t>Contexte &amp; clusters</a:t>
            </a:r>
            <a:endParaRPr lang="en-US" sz="1300" dirty="0"/>
          </a:p>
        </p:txBody>
      </p:sp>
      <p:sp>
        <p:nvSpPr>
          <p:cNvPr id="21" name="Text 19"/>
          <p:cNvSpPr txBox="1"/>
          <p:nvPr/>
        </p:nvSpPr>
        <p:spPr>
          <a:xfrm>
            <a:off x="9262872" y="2103120"/>
            <a:ext cx="210312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population, densité</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profil KMeans</a:t>
            </a:r>
            <a:endParaRPr lang="en-US" sz="1200" dirty="0"/>
          </a:p>
          <a:p>
            <a:pPr marL="342900" indent="-342900">
              <a:spcAft>
                <a:spcPts val="800"/>
              </a:spcAft>
              <a:buSzPct val="100000"/>
              <a:buChar char="•"/>
            </a:pPr>
            <a:r>
              <a:rPr lang="en-US" sz="1200" dirty="0">
                <a:solidFill>
                  <a:srgbClr val="5C5550"/>
                </a:solidFill>
                <a:latin typeface="Calibri" pitchFamily="34" charset="0"/>
                <a:ea typeface="Calibri" pitchFamily="34" charset="-122"/>
                <a:cs typeface="Calibri" pitchFamily="34" charset="-120"/>
              </a:rPr>
              <a:t>zone DBSCAN</a:t>
            </a:r>
            <a:endParaRPr lang="en-US" sz="1200" dirty="0"/>
          </a:p>
        </p:txBody>
      </p:sp>
      <p:sp>
        <p:nvSpPr>
          <p:cNvPr id="22" name="Shape 20"/>
          <p:cNvSpPr/>
          <p:nvPr/>
        </p:nvSpPr>
        <p:spPr>
          <a:xfrm>
            <a:off x="594360" y="4023360"/>
            <a:ext cx="11000232" cy="1371600"/>
          </a:xfrm>
          <a:prstGeom prst="rect">
            <a:avLst/>
          </a:prstGeom>
          <a:solidFill>
            <a:srgbClr val="241A15"/>
          </a:solidFill>
          <a:ln w="12700">
            <a:solidFill>
              <a:srgbClr val="241A15"/>
            </a:solidFill>
            <a:prstDash val="solid"/>
          </a:ln>
        </p:spPr>
        <p:txBody>
          <a:bodyPr/>
          <a:lstStyle/>
          <a:p>
            <a:endParaRPr lang="fr-FR"/>
          </a:p>
        </p:txBody>
      </p:sp>
      <p:sp>
        <p:nvSpPr>
          <p:cNvPr id="23" name="Text 21"/>
          <p:cNvSpPr txBox="1"/>
          <p:nvPr/>
        </p:nvSpPr>
        <p:spPr>
          <a:xfrm>
            <a:off x="914400" y="4187952"/>
            <a:ext cx="2834640" cy="292608"/>
          </a:xfrm>
          <a:prstGeom prst="rect">
            <a:avLst/>
          </a:prstGeom>
          <a:noFill/>
          <a:ln/>
        </p:spPr>
        <p:txBody>
          <a:bodyPr wrap="square" lIns="0" tIns="0" rIns="0" bIns="0" rtlCol="0" anchor="ctr"/>
          <a:lstStyle/>
          <a:p>
            <a:pPr marL="0" indent="0">
              <a:buNone/>
            </a:pPr>
            <a:r>
              <a:rPr lang="en-US" sz="1400" b="1" dirty="0">
                <a:solidFill>
                  <a:srgbClr val="D9A196"/>
                </a:solidFill>
                <a:latin typeface="Calibri" pitchFamily="34" charset="0"/>
                <a:ea typeface="Calibri" pitchFamily="34" charset="-122"/>
                <a:cs typeface="Calibri" pitchFamily="34" charset="-120"/>
              </a:rPr>
              <a:t>La règle anti-fuite</a:t>
            </a:r>
            <a:endParaRPr lang="en-US" sz="1400" dirty="0"/>
          </a:p>
        </p:txBody>
      </p:sp>
      <p:sp>
        <p:nvSpPr>
          <p:cNvPr id="24" name="Text 22"/>
          <p:cNvSpPr txBox="1"/>
          <p:nvPr/>
        </p:nvSpPr>
        <p:spPr>
          <a:xfrm>
            <a:off x="3886200" y="4224528"/>
            <a:ext cx="7498080" cy="10058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Chaque fenêtre glissante est décalée d'un an : pour prédire l'année A, on n'utilise que les années A−5 à A−1. Une ligne du tableau représente exactement ce que l'on savait au 1ᵉʳ janvier de l'année A. La cible, elle, est observée en A+1 — et n'entre jamais dans les variables.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Deux clusterings, deux questions</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DBSCAN : où les feux se concentrent · KMeans : quels profils de communes</a:t>
            </a:r>
            <a:endParaRPr lang="en-US" sz="1400" dirty="0"/>
          </a:p>
        </p:txBody>
      </p:sp>
      <p:sp>
        <p:nvSpPr>
          <p:cNvPr id="6" name="Text 4"/>
          <p:cNvSpPr txBox="1"/>
          <p:nvPr/>
        </p:nvSpPr>
        <p:spPr>
          <a:xfrm>
            <a:off x="594360" y="1417320"/>
            <a:ext cx="5303520" cy="292608"/>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DBSCAN — zones de feux</a:t>
            </a:r>
            <a:endParaRPr lang="en-US" sz="1400" dirty="0"/>
          </a:p>
        </p:txBody>
      </p:sp>
      <p:sp>
        <p:nvSpPr>
          <p:cNvPr id="7" name="Text 5"/>
          <p:cNvSpPr txBox="1"/>
          <p:nvPr/>
        </p:nvSpPr>
        <p:spPr>
          <a:xfrm>
            <a:off x="594360" y="1783080"/>
            <a:ext cx="530352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appliqué aux coordonnées des feux, pas des communes</a:t>
            </a:r>
            <a:endParaRPr lang="en-US" sz="1400" dirty="0"/>
          </a:p>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distance haversine, rayon 20 km, minimum 8 voisins</a:t>
            </a:r>
            <a:endParaRPr lang="en-US" sz="1400" dirty="0"/>
          </a:p>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14 zones denses identifiées, 213 points isolés</a:t>
            </a:r>
            <a:endParaRPr lang="en-US" sz="1400" dirty="0"/>
          </a:p>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chaque commune hérite de la zone majoritaire de ses feux</a:t>
            </a:r>
            <a:endParaRPr lang="en-US" sz="1400" dirty="0"/>
          </a:p>
        </p:txBody>
      </p:sp>
      <p:sp>
        <p:nvSpPr>
          <p:cNvPr id="8" name="Text 6"/>
          <p:cNvSpPr txBox="1"/>
          <p:nvPr/>
        </p:nvSpPr>
        <p:spPr>
          <a:xfrm>
            <a:off x="594360" y="3291840"/>
            <a:ext cx="5303520" cy="292608"/>
          </a:xfrm>
          <a:prstGeom prst="rect">
            <a:avLst/>
          </a:prstGeom>
          <a:noFill/>
          <a:ln/>
        </p:spPr>
        <p:txBody>
          <a:bodyPr wrap="square" lIns="0" tIns="0" rIns="0" bIns="0" rtlCol="0" anchor="ctr"/>
          <a:lstStyle/>
          <a:p>
            <a:pPr marL="0" indent="0">
              <a:buNone/>
            </a:pPr>
            <a:r>
              <a:rPr lang="en-US" sz="1400" b="1" dirty="0">
                <a:solidFill>
                  <a:srgbClr val="7FA08F"/>
                </a:solidFill>
                <a:latin typeface="Calibri" pitchFamily="34" charset="0"/>
                <a:ea typeface="Calibri" pitchFamily="34" charset="-122"/>
                <a:cs typeface="Calibri" pitchFamily="34" charset="-120"/>
              </a:rPr>
              <a:t>KMeans — profils de communes</a:t>
            </a:r>
            <a:endParaRPr lang="en-US" sz="1400" dirty="0"/>
          </a:p>
        </p:txBody>
      </p:sp>
      <p:sp>
        <p:nvSpPr>
          <p:cNvPr id="9" name="Text 7"/>
          <p:cNvSpPr txBox="1"/>
          <p:nvPr/>
        </p:nvSpPr>
        <p:spPr>
          <a:xfrm>
            <a:off x="594360" y="3657600"/>
            <a:ext cx="530352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variables standardisées (hectares, habitants, altitude)</a:t>
            </a:r>
            <a:endParaRPr lang="en-US" sz="1400" dirty="0"/>
          </a:p>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k comparé de 2 à 7 : coude sur l'inertie + silhouette</a:t>
            </a:r>
            <a:endParaRPr lang="en-US" sz="1400" dirty="0"/>
          </a:p>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k = 2 retenu, silhouette 0,702</a:t>
            </a:r>
            <a:endParaRPr lang="en-US" sz="1400" dirty="0"/>
          </a:p>
          <a:p>
            <a:pPr marL="342900" indent="-342900">
              <a:spcAft>
                <a:spcPts val="800"/>
              </a:spcAft>
              <a:buSzPct val="100000"/>
              <a:buChar char="•"/>
            </a:pPr>
            <a:r>
              <a:rPr lang="en-US" sz="1400" dirty="0">
                <a:solidFill>
                  <a:srgbClr val="241A15"/>
                </a:solidFill>
                <a:latin typeface="Calibri" pitchFamily="34" charset="0"/>
                <a:ea typeface="Calibri" pitchFamily="34" charset="-122"/>
                <a:cs typeface="Calibri" pitchFamily="34" charset="-120"/>
              </a:rPr>
              <a:t>calibré sur 2022, avant la période de test</a:t>
            </a:r>
            <a:endParaRPr lang="en-US" sz="1400" dirty="0"/>
          </a:p>
        </p:txBody>
      </p:sp>
      <p:graphicFrame>
        <p:nvGraphicFramePr>
          <p:cNvPr id="10" name="Chart 0"/>
          <p:cNvGraphicFramePr/>
          <p:nvPr/>
        </p:nvGraphicFramePr>
        <p:xfrm>
          <a:off x="6263640" y="1463040"/>
          <a:ext cx="5349240" cy="2148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nvGraphicFramePr>
        <p:xfrm>
          <a:off x="6263640" y="3749040"/>
          <a:ext cx="5349240" cy="21031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Le modèle et son protocole</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Random Forest calibrée, découpage strictement chronologique</a:t>
            </a:r>
            <a:endParaRPr lang="en-US" sz="1400" dirty="0"/>
          </a:p>
        </p:txBody>
      </p:sp>
      <p:sp>
        <p:nvSpPr>
          <p:cNvPr id="6" name="Shape 4"/>
          <p:cNvSpPr/>
          <p:nvPr/>
        </p:nvSpPr>
        <p:spPr>
          <a:xfrm>
            <a:off x="594360" y="1463040"/>
            <a:ext cx="5394960" cy="2423160"/>
          </a:xfrm>
          <a:prstGeom prst="rect">
            <a:avLst/>
          </a:prstGeom>
          <a:solidFill>
            <a:srgbClr val="F2EFEC"/>
          </a:solidFill>
          <a:ln w="12700">
            <a:solidFill>
              <a:srgbClr val="F2EFEC"/>
            </a:solidFill>
            <a:prstDash val="solid"/>
          </a:ln>
        </p:spPr>
        <p:txBody>
          <a:bodyPr/>
          <a:lstStyle/>
          <a:p>
            <a:endParaRPr lang="fr-FR"/>
          </a:p>
        </p:txBody>
      </p:sp>
      <p:sp>
        <p:nvSpPr>
          <p:cNvPr id="7" name="Text 5"/>
          <p:cNvSpPr txBox="1"/>
          <p:nvPr/>
        </p:nvSpPr>
        <p:spPr>
          <a:xfrm>
            <a:off x="914400" y="1673352"/>
            <a:ext cx="4754880" cy="292608"/>
          </a:xfrm>
          <a:prstGeom prst="rect">
            <a:avLst/>
          </a:prstGeom>
          <a:noFill/>
          <a:ln/>
        </p:spPr>
        <p:txBody>
          <a:bodyPr wrap="square" lIns="0" tIns="0" rIns="0" bIns="0" rtlCol="0" anchor="ctr"/>
          <a:lstStyle/>
          <a:p>
            <a:pPr marL="0" indent="0">
              <a:buNone/>
            </a:pPr>
            <a:r>
              <a:rPr lang="en-US" sz="1350" b="1" dirty="0">
                <a:solidFill>
                  <a:srgbClr val="B85042"/>
                </a:solidFill>
                <a:latin typeface="Calibri" pitchFamily="34" charset="0"/>
                <a:ea typeface="Calibri" pitchFamily="34" charset="-122"/>
                <a:cs typeface="Calibri" pitchFamily="34" charset="-120"/>
              </a:rPr>
              <a:t>Pourquoi une Random Forest</a:t>
            </a:r>
            <a:endParaRPr lang="en-US" sz="1350" dirty="0"/>
          </a:p>
        </p:txBody>
      </p:sp>
      <p:sp>
        <p:nvSpPr>
          <p:cNvPr id="8" name="Text 6"/>
          <p:cNvSpPr txBox="1"/>
          <p:nvPr/>
        </p:nvSpPr>
        <p:spPr>
          <a:xfrm>
            <a:off x="914400" y="2075688"/>
            <a:ext cx="475488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41A15"/>
                </a:solidFill>
                <a:latin typeface="Calibri" pitchFamily="34" charset="0"/>
                <a:ea typeface="Calibri" pitchFamily="34" charset="-122"/>
                <a:cs typeface="Calibri" pitchFamily="34" charset="-120"/>
              </a:rPr>
              <a:t>capte les effets de seuil et les interactions sans qu'on les écrive</a:t>
            </a:r>
            <a:endParaRPr lang="en-US" sz="1250" dirty="0"/>
          </a:p>
          <a:p>
            <a:pPr marL="342900" indent="-342900">
              <a:spcAft>
                <a:spcPts val="800"/>
              </a:spcAft>
              <a:buSzPct val="100000"/>
              <a:buChar char="•"/>
            </a:pPr>
            <a:r>
              <a:rPr lang="en-US" sz="1250" dirty="0">
                <a:solidFill>
                  <a:srgbClr val="241A15"/>
                </a:solidFill>
                <a:latin typeface="Calibri" pitchFamily="34" charset="0"/>
                <a:ea typeface="Calibri" pitchFamily="34" charset="-122"/>
                <a:cs typeface="Calibri" pitchFamily="34" charset="-120"/>
              </a:rPr>
              <a:t>robuste aux échelles très différentes de nos variables</a:t>
            </a:r>
            <a:endParaRPr lang="en-US" sz="1250" dirty="0"/>
          </a:p>
          <a:p>
            <a:pPr marL="342900" indent="-342900">
              <a:spcAft>
                <a:spcPts val="800"/>
              </a:spcAft>
              <a:buSzPct val="100000"/>
              <a:buChar char="•"/>
            </a:pPr>
            <a:r>
              <a:rPr lang="en-US" sz="1250" dirty="0">
                <a:solidFill>
                  <a:srgbClr val="241A15"/>
                </a:solidFill>
                <a:latin typeface="Calibri" pitchFamily="34" charset="0"/>
                <a:ea typeface="Calibri" pitchFamily="34" charset="-122"/>
                <a:cs typeface="Calibri" pitchFamily="34" charset="-120"/>
              </a:rPr>
              <a:t>pondération « balanced » : seulement 2,53 % de communes positives</a:t>
            </a:r>
            <a:endParaRPr lang="en-US" sz="1250" dirty="0"/>
          </a:p>
          <a:p>
            <a:pPr marL="342900" indent="-342900">
              <a:spcAft>
                <a:spcPts val="800"/>
              </a:spcAft>
              <a:buSzPct val="100000"/>
              <a:buChar char="•"/>
            </a:pPr>
            <a:r>
              <a:rPr lang="en-US" sz="1250" dirty="0">
                <a:solidFill>
                  <a:srgbClr val="241A15"/>
                </a:solidFill>
                <a:latin typeface="Calibri" pitchFamily="34" charset="0"/>
                <a:ea typeface="Calibri" pitchFamily="34" charset="-122"/>
                <a:cs typeface="Calibri" pitchFamily="34" charset="-120"/>
              </a:rPr>
              <a:t>calibration sigmoïde pour que la probabilité affichée ait un sens</a:t>
            </a:r>
            <a:endParaRPr lang="en-US" sz="1250" dirty="0"/>
          </a:p>
        </p:txBody>
      </p:sp>
      <p:sp>
        <p:nvSpPr>
          <p:cNvPr id="9" name="Shape 7"/>
          <p:cNvSpPr/>
          <p:nvPr/>
        </p:nvSpPr>
        <p:spPr>
          <a:xfrm>
            <a:off x="6309360" y="1463040"/>
            <a:ext cx="5394960" cy="2423160"/>
          </a:xfrm>
          <a:prstGeom prst="rect">
            <a:avLst/>
          </a:prstGeom>
          <a:solidFill>
            <a:srgbClr val="241A15"/>
          </a:solidFill>
          <a:ln w="12700">
            <a:solidFill>
              <a:srgbClr val="241A15"/>
            </a:solidFill>
            <a:prstDash val="solid"/>
          </a:ln>
        </p:spPr>
        <p:txBody>
          <a:bodyPr/>
          <a:lstStyle/>
          <a:p>
            <a:endParaRPr lang="fr-FR"/>
          </a:p>
        </p:txBody>
      </p:sp>
      <p:sp>
        <p:nvSpPr>
          <p:cNvPr id="10" name="Text 8"/>
          <p:cNvSpPr txBox="1"/>
          <p:nvPr/>
        </p:nvSpPr>
        <p:spPr>
          <a:xfrm>
            <a:off x="6629400" y="1673352"/>
            <a:ext cx="4754880" cy="292608"/>
          </a:xfrm>
          <a:prstGeom prst="rect">
            <a:avLst/>
          </a:prstGeom>
          <a:noFill/>
          <a:ln/>
        </p:spPr>
        <p:txBody>
          <a:bodyPr wrap="square" lIns="0" tIns="0" rIns="0" bIns="0" rtlCol="0" anchor="ctr"/>
          <a:lstStyle/>
          <a:p>
            <a:pPr marL="0" indent="0">
              <a:buNone/>
            </a:pPr>
            <a:r>
              <a:rPr lang="en-US" sz="1350" b="1" dirty="0">
                <a:solidFill>
                  <a:srgbClr val="D9A196"/>
                </a:solidFill>
                <a:latin typeface="Calibri" pitchFamily="34" charset="0"/>
                <a:ea typeface="Calibri" pitchFamily="34" charset="-122"/>
                <a:cs typeface="Calibri" pitchFamily="34" charset="-120"/>
              </a:rPr>
              <a:t>Le découpage</a:t>
            </a:r>
            <a:endParaRPr lang="en-US" sz="1350" dirty="0"/>
          </a:p>
        </p:txBody>
      </p:sp>
      <p:sp>
        <p:nvSpPr>
          <p:cNvPr id="11" name="Text 9"/>
          <p:cNvSpPr txBox="1"/>
          <p:nvPr/>
        </p:nvSpPr>
        <p:spPr>
          <a:xfrm>
            <a:off x="6629400" y="2130552"/>
            <a:ext cx="1691640" cy="329184"/>
          </a:xfrm>
          <a:prstGeom prst="rect">
            <a:avLst/>
          </a:prstGeom>
          <a:noFill/>
          <a:ln/>
        </p:spPr>
        <p:txBody>
          <a:bodyPr wrap="square" lIns="0" tIns="0" rIns="0" bIns="0" rtlCol="0" anchor="ctr"/>
          <a:lstStyle/>
          <a:p>
            <a:pPr marL="0" indent="0">
              <a:buNone/>
            </a:pPr>
            <a:r>
              <a:rPr lang="en-US" sz="1200" b="1" dirty="0">
                <a:solidFill>
                  <a:srgbClr val="7FA08F"/>
                </a:solidFill>
                <a:latin typeface="Calibri" pitchFamily="34" charset="0"/>
                <a:ea typeface="Calibri" pitchFamily="34" charset="-122"/>
                <a:cs typeface="Calibri" pitchFamily="34" charset="-120"/>
              </a:rPr>
              <a:t>Entraînement</a:t>
            </a:r>
            <a:endParaRPr lang="en-US" sz="1200" dirty="0"/>
          </a:p>
        </p:txBody>
      </p:sp>
      <p:sp>
        <p:nvSpPr>
          <p:cNvPr id="12" name="Text 10"/>
          <p:cNvSpPr txBox="1"/>
          <p:nvPr/>
        </p:nvSpPr>
        <p:spPr>
          <a:xfrm>
            <a:off x="8366760" y="2130552"/>
            <a:ext cx="301752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2011 → 2022</a:t>
            </a:r>
            <a:endParaRPr lang="en-US" sz="1200" dirty="0"/>
          </a:p>
        </p:txBody>
      </p:sp>
      <p:sp>
        <p:nvSpPr>
          <p:cNvPr id="13" name="Text 11"/>
          <p:cNvSpPr txBox="1"/>
          <p:nvPr/>
        </p:nvSpPr>
        <p:spPr>
          <a:xfrm>
            <a:off x="6629400" y="2551176"/>
            <a:ext cx="1691640" cy="329184"/>
          </a:xfrm>
          <a:prstGeom prst="rect">
            <a:avLst/>
          </a:prstGeom>
          <a:noFill/>
          <a:ln/>
        </p:spPr>
        <p:txBody>
          <a:bodyPr wrap="square" lIns="0" tIns="0" rIns="0" bIns="0" rtlCol="0" anchor="ctr"/>
          <a:lstStyle/>
          <a:p>
            <a:pPr marL="0" indent="0">
              <a:buNone/>
            </a:pPr>
            <a:r>
              <a:rPr lang="en-US" sz="1200" b="1" dirty="0">
                <a:solidFill>
                  <a:srgbClr val="7FA08F"/>
                </a:solidFill>
                <a:latin typeface="Calibri" pitchFamily="34" charset="0"/>
                <a:ea typeface="Calibri" pitchFamily="34" charset="-122"/>
                <a:cs typeface="Calibri" pitchFamily="34" charset="-120"/>
              </a:rPr>
              <a:t>Test temporel</a:t>
            </a:r>
            <a:endParaRPr lang="en-US" sz="1200" dirty="0"/>
          </a:p>
        </p:txBody>
      </p:sp>
      <p:sp>
        <p:nvSpPr>
          <p:cNvPr id="14" name="Text 12"/>
          <p:cNvSpPr txBox="1"/>
          <p:nvPr/>
        </p:nvSpPr>
        <p:spPr>
          <a:xfrm>
            <a:off x="8366760" y="2551176"/>
            <a:ext cx="301752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2023  (cible observée en 2024)</a:t>
            </a:r>
            <a:endParaRPr lang="en-US" sz="1200" dirty="0"/>
          </a:p>
        </p:txBody>
      </p:sp>
      <p:sp>
        <p:nvSpPr>
          <p:cNvPr id="15" name="Text 13"/>
          <p:cNvSpPr txBox="1"/>
          <p:nvPr/>
        </p:nvSpPr>
        <p:spPr>
          <a:xfrm>
            <a:off x="6629400" y="2971800"/>
            <a:ext cx="1691640" cy="329184"/>
          </a:xfrm>
          <a:prstGeom prst="rect">
            <a:avLst/>
          </a:prstGeom>
          <a:noFill/>
          <a:ln/>
        </p:spPr>
        <p:txBody>
          <a:bodyPr wrap="square" lIns="0" tIns="0" rIns="0" bIns="0" rtlCol="0" anchor="ctr"/>
          <a:lstStyle/>
          <a:p>
            <a:pPr marL="0" indent="0">
              <a:buNone/>
            </a:pPr>
            <a:r>
              <a:rPr lang="en-US" sz="1200" b="1" dirty="0">
                <a:solidFill>
                  <a:srgbClr val="7FA08F"/>
                </a:solidFill>
                <a:latin typeface="Calibri" pitchFamily="34" charset="0"/>
                <a:ea typeface="Calibri" pitchFamily="34" charset="-122"/>
                <a:cs typeface="Calibri" pitchFamily="34" charset="-120"/>
              </a:rPr>
              <a:t>Scoring affiché</a:t>
            </a:r>
            <a:endParaRPr lang="en-US" sz="1200" dirty="0"/>
          </a:p>
        </p:txBody>
      </p:sp>
      <p:sp>
        <p:nvSpPr>
          <p:cNvPr id="16" name="Text 14"/>
          <p:cNvSpPr txBox="1"/>
          <p:nvPr/>
        </p:nvSpPr>
        <p:spPr>
          <a:xfrm>
            <a:off x="8366760" y="2971800"/>
            <a:ext cx="301752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2025, à partir de l'historique jusqu'en 2024</a:t>
            </a:r>
            <a:endParaRPr lang="en-US" sz="1200" dirty="0"/>
          </a:p>
        </p:txBody>
      </p:sp>
      <p:sp>
        <p:nvSpPr>
          <p:cNvPr id="17" name="Text 15"/>
          <p:cNvSpPr txBox="1"/>
          <p:nvPr/>
        </p:nvSpPr>
        <p:spPr>
          <a:xfrm>
            <a:off x="6629400" y="3392424"/>
            <a:ext cx="1691640" cy="329184"/>
          </a:xfrm>
          <a:prstGeom prst="rect">
            <a:avLst/>
          </a:prstGeom>
          <a:noFill/>
          <a:ln/>
        </p:spPr>
        <p:txBody>
          <a:bodyPr wrap="square" lIns="0" tIns="0" rIns="0" bIns="0" rtlCol="0" anchor="ctr"/>
          <a:lstStyle/>
          <a:p>
            <a:pPr marL="0" indent="0">
              <a:buNone/>
            </a:pPr>
            <a:r>
              <a:rPr lang="en-US" sz="1200" b="1" dirty="0">
                <a:solidFill>
                  <a:srgbClr val="7FA08F"/>
                </a:solidFill>
                <a:latin typeface="Calibri" pitchFamily="34" charset="0"/>
                <a:ea typeface="Calibri" pitchFamily="34" charset="-122"/>
                <a:cs typeface="Calibri" pitchFamily="34" charset="-120"/>
              </a:rPr>
              <a:t>Traçabilité</a:t>
            </a:r>
            <a:endParaRPr lang="en-US" sz="1200" dirty="0"/>
          </a:p>
        </p:txBody>
      </p:sp>
      <p:sp>
        <p:nvSpPr>
          <p:cNvPr id="18" name="Text 16"/>
          <p:cNvSpPr txBox="1"/>
          <p:nvPr/>
        </p:nvSpPr>
        <p:spPr>
          <a:xfrm>
            <a:off x="8366760" y="3392424"/>
            <a:ext cx="3017520" cy="32918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hash SHA-256 du découpage à chaque run</a:t>
            </a:r>
            <a:endParaRPr lang="en-US" sz="1200" dirty="0"/>
          </a:p>
        </p:txBody>
      </p:sp>
      <p:sp>
        <p:nvSpPr>
          <p:cNvPr id="19" name="Text 17"/>
          <p:cNvSpPr txBox="1"/>
          <p:nvPr/>
        </p:nvSpPr>
        <p:spPr>
          <a:xfrm>
            <a:off x="594360" y="4206240"/>
            <a:ext cx="11000232" cy="310896"/>
          </a:xfrm>
          <a:prstGeom prst="rect">
            <a:avLst/>
          </a:prstGeom>
          <a:noFill/>
          <a:ln/>
        </p:spPr>
        <p:txBody>
          <a:bodyPr wrap="square" lIns="0" tIns="0" rIns="0" bIns="0" rtlCol="0" anchor="ctr"/>
          <a:lstStyle/>
          <a:p>
            <a:pPr marL="0" indent="0">
              <a:buNone/>
            </a:pPr>
            <a:r>
              <a:rPr lang="en-US" sz="1350" b="1" dirty="0">
                <a:solidFill>
                  <a:srgbClr val="241A15"/>
                </a:solidFill>
                <a:latin typeface="Calibri" pitchFamily="34" charset="0"/>
                <a:ea typeface="Calibri" pitchFamily="34" charset="-122"/>
                <a:cs typeface="Calibri" pitchFamily="34" charset="-120"/>
              </a:rPr>
              <a:t>La cible : binaire, et assumée comme telle</a:t>
            </a:r>
            <a:endParaRPr lang="en-US" sz="1350" dirty="0"/>
          </a:p>
        </p:txBody>
      </p:sp>
      <p:sp>
        <p:nvSpPr>
          <p:cNvPr id="20" name="Shape 18"/>
          <p:cNvSpPr/>
          <p:nvPr/>
        </p:nvSpPr>
        <p:spPr>
          <a:xfrm>
            <a:off x="594360" y="4626864"/>
            <a:ext cx="201168" cy="201168"/>
          </a:xfrm>
          <a:prstGeom prst="ellipse">
            <a:avLst/>
          </a:prstGeom>
          <a:solidFill>
            <a:srgbClr val="B85042"/>
          </a:solidFill>
          <a:ln/>
        </p:spPr>
        <p:txBody>
          <a:bodyPr/>
          <a:lstStyle/>
          <a:p>
            <a:endParaRPr lang="fr-FR"/>
          </a:p>
        </p:txBody>
      </p:sp>
      <p:sp>
        <p:nvSpPr>
          <p:cNvPr id="21" name="Text 19"/>
          <p:cNvSpPr txBox="1"/>
          <p:nvPr/>
        </p:nvSpPr>
        <p:spPr>
          <a:xfrm>
            <a:off x="905256" y="4590288"/>
            <a:ext cx="3246120" cy="27432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 Au moins un feu l'an prochain ? »</a:t>
            </a:r>
            <a:endParaRPr lang="en-US" sz="1250" dirty="0"/>
          </a:p>
        </p:txBody>
      </p:sp>
      <p:sp>
        <p:nvSpPr>
          <p:cNvPr id="22" name="Text 20"/>
          <p:cNvSpPr txBox="1"/>
          <p:nvPr/>
        </p:nvSpPr>
        <p:spPr>
          <a:xfrm>
            <a:off x="594360" y="4919472"/>
            <a:ext cx="3520440" cy="1371600"/>
          </a:xfrm>
          <a:prstGeom prst="rect">
            <a:avLst/>
          </a:prstGeom>
          <a:noFill/>
          <a:ln/>
        </p:spPr>
        <p:txBody>
          <a:bodyPr wrap="square" lIns="0" tIns="0" rIns="0" bIns="0" rtlCol="0" anchor="t"/>
          <a:lstStyle/>
          <a:p>
            <a:pPr marL="0" indent="0">
              <a:buNone/>
            </a:pPr>
            <a:r>
              <a:rPr lang="en-US" sz="1250" dirty="0">
                <a:solidFill>
                  <a:srgbClr val="5C5550"/>
                </a:solidFill>
                <a:latin typeface="Calibri" pitchFamily="34" charset="0"/>
                <a:ea typeface="Calibri" pitchFamily="34" charset="-122"/>
                <a:cs typeface="Calibri" pitchFamily="34" charset="-120"/>
              </a:rPr>
              <a:t>Plus simple à expliquer qu'une prédiction de surface, et compatible avec ce que la BDIFF contient réellement.</a:t>
            </a:r>
            <a:endParaRPr lang="en-US" sz="1250" dirty="0"/>
          </a:p>
        </p:txBody>
      </p:sp>
      <p:sp>
        <p:nvSpPr>
          <p:cNvPr id="23" name="Shape 21"/>
          <p:cNvSpPr/>
          <p:nvPr/>
        </p:nvSpPr>
        <p:spPr>
          <a:xfrm>
            <a:off x="4361688" y="4626864"/>
            <a:ext cx="201168" cy="201168"/>
          </a:xfrm>
          <a:prstGeom prst="ellipse">
            <a:avLst/>
          </a:prstGeom>
          <a:solidFill>
            <a:srgbClr val="7FA08F"/>
          </a:solidFill>
          <a:ln/>
        </p:spPr>
        <p:txBody>
          <a:bodyPr/>
          <a:lstStyle/>
          <a:p>
            <a:endParaRPr lang="fr-FR"/>
          </a:p>
        </p:txBody>
      </p:sp>
      <p:sp>
        <p:nvSpPr>
          <p:cNvPr id="24" name="Text 22"/>
          <p:cNvSpPr txBox="1"/>
          <p:nvPr/>
        </p:nvSpPr>
        <p:spPr>
          <a:xfrm>
            <a:off x="4672584" y="4590288"/>
            <a:ext cx="3246120" cy="27432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Panel complet</a:t>
            </a:r>
            <a:endParaRPr lang="en-US" sz="1250" dirty="0"/>
          </a:p>
        </p:txBody>
      </p:sp>
      <p:sp>
        <p:nvSpPr>
          <p:cNvPr id="25" name="Text 23"/>
          <p:cNvSpPr txBox="1"/>
          <p:nvPr/>
        </p:nvSpPr>
        <p:spPr>
          <a:xfrm>
            <a:off x="4361688" y="4919472"/>
            <a:ext cx="3520440" cy="1371600"/>
          </a:xfrm>
          <a:prstGeom prst="rect">
            <a:avLst/>
          </a:prstGeom>
          <a:noFill/>
          <a:ln/>
        </p:spPr>
        <p:txBody>
          <a:bodyPr wrap="square" lIns="0" tIns="0" rIns="0" bIns="0" rtlCol="0" anchor="t"/>
          <a:lstStyle/>
          <a:p>
            <a:pPr marL="0" indent="0">
              <a:buNone/>
            </a:pPr>
            <a:r>
              <a:rPr lang="en-US" sz="1250" dirty="0">
                <a:solidFill>
                  <a:srgbClr val="5C5550"/>
                </a:solidFill>
                <a:latin typeface="Calibri" pitchFamily="34" charset="0"/>
                <a:ea typeface="Calibri" pitchFamily="34" charset="-122"/>
                <a:cs typeface="Calibri" pitchFamily="34" charset="-120"/>
              </a:rPr>
              <a:t>34 863 communes × 19 années = 662 397 lignes. Les communes sans feu sont gardées, sinon le modèle surestimerait le risque partout.</a:t>
            </a:r>
            <a:endParaRPr lang="en-US" sz="1250" dirty="0"/>
          </a:p>
        </p:txBody>
      </p:sp>
      <p:sp>
        <p:nvSpPr>
          <p:cNvPr id="26" name="Shape 24"/>
          <p:cNvSpPr/>
          <p:nvPr/>
        </p:nvSpPr>
        <p:spPr>
          <a:xfrm>
            <a:off x="8129016" y="4626864"/>
            <a:ext cx="201168" cy="201168"/>
          </a:xfrm>
          <a:prstGeom prst="ellipse">
            <a:avLst/>
          </a:prstGeom>
          <a:solidFill>
            <a:srgbClr val="50808E"/>
          </a:solidFill>
          <a:ln/>
        </p:spPr>
        <p:txBody>
          <a:bodyPr/>
          <a:lstStyle/>
          <a:p>
            <a:endParaRPr lang="fr-FR"/>
          </a:p>
        </p:txBody>
      </p:sp>
      <p:sp>
        <p:nvSpPr>
          <p:cNvPr id="27" name="Text 25"/>
          <p:cNvSpPr txBox="1"/>
          <p:nvPr/>
        </p:nvSpPr>
        <p:spPr>
          <a:xfrm>
            <a:off x="8439912" y="4590288"/>
            <a:ext cx="3246120" cy="274320"/>
          </a:xfrm>
          <a:prstGeom prst="rect">
            <a:avLst/>
          </a:prstGeom>
          <a:noFill/>
          <a:ln/>
        </p:spPr>
        <p:txBody>
          <a:bodyPr wrap="square" lIns="0" tIns="0" rIns="0" bIns="0" rtlCol="0" anchor="ctr"/>
          <a:lstStyle/>
          <a:p>
            <a:pPr marL="0" indent="0">
              <a:buNone/>
            </a:pPr>
            <a:r>
              <a:rPr lang="en-US" sz="1250" b="1" dirty="0">
                <a:solidFill>
                  <a:srgbClr val="241A15"/>
                </a:solidFill>
                <a:latin typeface="Calibri" pitchFamily="34" charset="0"/>
                <a:ea typeface="Calibri" pitchFamily="34" charset="-122"/>
                <a:cs typeface="Calibri" pitchFamily="34" charset="-120"/>
              </a:rPr>
              <a:t>Classes déséquilibrées</a:t>
            </a:r>
            <a:endParaRPr lang="en-US" sz="1250" dirty="0"/>
          </a:p>
        </p:txBody>
      </p:sp>
      <p:sp>
        <p:nvSpPr>
          <p:cNvPr id="28" name="Text 26"/>
          <p:cNvSpPr txBox="1"/>
          <p:nvPr/>
        </p:nvSpPr>
        <p:spPr>
          <a:xfrm>
            <a:off x="8129016" y="4919472"/>
            <a:ext cx="3520440" cy="1371600"/>
          </a:xfrm>
          <a:prstGeom prst="rect">
            <a:avLst/>
          </a:prstGeom>
          <a:noFill/>
          <a:ln/>
        </p:spPr>
        <p:txBody>
          <a:bodyPr wrap="square" lIns="0" tIns="0" rIns="0" bIns="0" rtlCol="0" anchor="t"/>
          <a:lstStyle/>
          <a:p>
            <a:pPr marL="0" indent="0">
              <a:buNone/>
            </a:pPr>
            <a:r>
              <a:rPr lang="en-US" sz="1250" dirty="0">
                <a:solidFill>
                  <a:srgbClr val="5C5550"/>
                </a:solidFill>
                <a:latin typeface="Calibri" pitchFamily="34" charset="0"/>
                <a:ea typeface="Calibri" pitchFamily="34" charset="-122"/>
                <a:cs typeface="Calibri" pitchFamily="34" charset="-120"/>
              </a:rPr>
              <a:t>2,53 % de positifs. C'est pourquoi l'accuracy est inutilisable et la PR-AUC est notre mesure principale.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Quel modèle choisir ?</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Même découpage, mêmes variables, même calibration pour les trois</a:t>
            </a:r>
            <a:endParaRPr lang="en-US" sz="1400" dirty="0"/>
          </a:p>
        </p:txBody>
      </p:sp>
      <p:graphicFrame>
        <p:nvGraphicFramePr>
          <p:cNvPr id="6" name="Chart 0"/>
          <p:cNvGraphicFramePr/>
          <p:nvPr/>
        </p:nvGraphicFramePr>
        <p:xfrm>
          <a:off x="594360" y="1417320"/>
          <a:ext cx="5943600" cy="2194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766560" y="1417320"/>
          <a:ext cx="484632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94360" y="3886200"/>
            <a:ext cx="3520440" cy="1828800"/>
          </a:xfrm>
          <a:prstGeom prst="rect">
            <a:avLst/>
          </a:prstGeom>
          <a:solidFill>
            <a:srgbClr val="F2EFEC"/>
          </a:solidFill>
          <a:ln w="12700">
            <a:solidFill>
              <a:srgbClr val="F2EFEC"/>
            </a:solidFill>
            <a:prstDash val="solid"/>
          </a:ln>
        </p:spPr>
        <p:txBody>
          <a:bodyPr/>
          <a:lstStyle/>
          <a:p>
            <a:endParaRPr lang="fr-FR"/>
          </a:p>
        </p:txBody>
      </p:sp>
      <p:sp>
        <p:nvSpPr>
          <p:cNvPr id="9" name="Shape 5"/>
          <p:cNvSpPr/>
          <p:nvPr/>
        </p:nvSpPr>
        <p:spPr>
          <a:xfrm>
            <a:off x="850392" y="4142232"/>
            <a:ext cx="219456" cy="219456"/>
          </a:xfrm>
          <a:prstGeom prst="ellipse">
            <a:avLst/>
          </a:prstGeom>
          <a:solidFill>
            <a:srgbClr val="8E8681"/>
          </a:solidFill>
          <a:ln/>
        </p:spPr>
        <p:txBody>
          <a:bodyPr/>
          <a:lstStyle/>
          <a:p>
            <a:endParaRPr lang="fr-FR"/>
          </a:p>
        </p:txBody>
      </p:sp>
      <p:sp>
        <p:nvSpPr>
          <p:cNvPr id="10" name="Text 6"/>
          <p:cNvSpPr txBox="1"/>
          <p:nvPr/>
        </p:nvSpPr>
        <p:spPr>
          <a:xfrm>
            <a:off x="850392" y="4453128"/>
            <a:ext cx="3017520" cy="310896"/>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Le plancher, pas le hasard</a:t>
            </a:r>
            <a:endParaRPr lang="en-US" sz="1300" dirty="0"/>
          </a:p>
        </p:txBody>
      </p:sp>
      <p:sp>
        <p:nvSpPr>
          <p:cNvPr id="11" name="Text 7"/>
          <p:cNvSpPr txBox="1"/>
          <p:nvPr/>
        </p:nvSpPr>
        <p:spPr>
          <a:xfrm>
            <a:off x="850392" y="4800600"/>
            <a:ext cx="3063240" cy="82296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La régression logistique plafonne à 0,222. Les modèles à arbres apportent +48 % : la relation entre historique et risque n'est donc pas linéaire.</a:t>
            </a:r>
            <a:endParaRPr lang="en-US" sz="1150" dirty="0"/>
          </a:p>
        </p:txBody>
      </p:sp>
      <p:sp>
        <p:nvSpPr>
          <p:cNvPr id="12" name="Shape 8"/>
          <p:cNvSpPr/>
          <p:nvPr/>
        </p:nvSpPr>
        <p:spPr>
          <a:xfrm>
            <a:off x="4361688" y="3886200"/>
            <a:ext cx="3520440" cy="1828800"/>
          </a:xfrm>
          <a:prstGeom prst="rect">
            <a:avLst/>
          </a:prstGeom>
          <a:solidFill>
            <a:srgbClr val="F2EFEC"/>
          </a:solidFill>
          <a:ln w="12700">
            <a:solidFill>
              <a:srgbClr val="F2EFEC"/>
            </a:solidFill>
            <a:prstDash val="solid"/>
          </a:ln>
        </p:spPr>
        <p:txBody>
          <a:bodyPr/>
          <a:lstStyle/>
          <a:p>
            <a:endParaRPr lang="fr-FR"/>
          </a:p>
        </p:txBody>
      </p:sp>
      <p:sp>
        <p:nvSpPr>
          <p:cNvPr id="13" name="Shape 9"/>
          <p:cNvSpPr/>
          <p:nvPr/>
        </p:nvSpPr>
        <p:spPr>
          <a:xfrm>
            <a:off x="4617720" y="4142232"/>
            <a:ext cx="219456" cy="219456"/>
          </a:xfrm>
          <a:prstGeom prst="ellipse">
            <a:avLst/>
          </a:prstGeom>
          <a:solidFill>
            <a:srgbClr val="7FA08F"/>
          </a:solidFill>
          <a:ln/>
        </p:spPr>
        <p:txBody>
          <a:bodyPr/>
          <a:lstStyle/>
          <a:p>
            <a:endParaRPr lang="fr-FR"/>
          </a:p>
        </p:txBody>
      </p:sp>
      <p:sp>
        <p:nvSpPr>
          <p:cNvPr id="14" name="Text 10"/>
          <p:cNvSpPr txBox="1"/>
          <p:nvPr/>
        </p:nvSpPr>
        <p:spPr>
          <a:xfrm>
            <a:off x="4617720" y="4453128"/>
            <a:ext cx="3017520" cy="310896"/>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Égalité sur la performance</a:t>
            </a:r>
            <a:endParaRPr lang="en-US" sz="1300" dirty="0"/>
          </a:p>
        </p:txBody>
      </p:sp>
      <p:sp>
        <p:nvSpPr>
          <p:cNvPr id="15" name="Text 11"/>
          <p:cNvSpPr txBox="1"/>
          <p:nvPr/>
        </p:nvSpPr>
        <p:spPr>
          <a:xfrm>
            <a:off x="4617720" y="4800600"/>
            <a:ext cx="3063240" cy="82296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0,331 contre 0,328, soit 1 % d'écart. Aucun ne surclasse l'autre, et leur calibration est identique : Brier 0,021 pour les deux.</a:t>
            </a:r>
            <a:endParaRPr lang="en-US" sz="1150" dirty="0"/>
          </a:p>
        </p:txBody>
      </p:sp>
      <p:sp>
        <p:nvSpPr>
          <p:cNvPr id="16" name="Shape 12"/>
          <p:cNvSpPr/>
          <p:nvPr/>
        </p:nvSpPr>
        <p:spPr>
          <a:xfrm>
            <a:off x="8129016" y="3886200"/>
            <a:ext cx="3520440" cy="1828800"/>
          </a:xfrm>
          <a:prstGeom prst="rect">
            <a:avLst/>
          </a:prstGeom>
          <a:solidFill>
            <a:srgbClr val="F2EFEC"/>
          </a:solidFill>
          <a:ln w="12700">
            <a:solidFill>
              <a:srgbClr val="F2EFEC"/>
            </a:solidFill>
            <a:prstDash val="solid"/>
          </a:ln>
        </p:spPr>
        <p:txBody>
          <a:bodyPr/>
          <a:lstStyle/>
          <a:p>
            <a:endParaRPr lang="fr-FR"/>
          </a:p>
        </p:txBody>
      </p:sp>
      <p:sp>
        <p:nvSpPr>
          <p:cNvPr id="17" name="Shape 13"/>
          <p:cNvSpPr/>
          <p:nvPr/>
        </p:nvSpPr>
        <p:spPr>
          <a:xfrm>
            <a:off x="8385048" y="4142232"/>
            <a:ext cx="219456" cy="219456"/>
          </a:xfrm>
          <a:prstGeom prst="ellipse">
            <a:avLst/>
          </a:prstGeom>
          <a:solidFill>
            <a:srgbClr val="B85042"/>
          </a:solidFill>
          <a:ln/>
        </p:spPr>
        <p:txBody>
          <a:bodyPr/>
          <a:lstStyle/>
          <a:p>
            <a:endParaRPr lang="fr-FR"/>
          </a:p>
        </p:txBody>
      </p:sp>
      <p:sp>
        <p:nvSpPr>
          <p:cNvPr id="18" name="Text 14"/>
          <p:cNvSpPr txBox="1"/>
          <p:nvPr/>
        </p:nvSpPr>
        <p:spPr>
          <a:xfrm>
            <a:off x="8385048" y="4453128"/>
            <a:ext cx="3017520" cy="310896"/>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XGBoost décide sur le temps</a:t>
            </a:r>
            <a:endParaRPr lang="en-US" sz="1300" dirty="0"/>
          </a:p>
        </p:txBody>
      </p:sp>
      <p:sp>
        <p:nvSpPr>
          <p:cNvPr id="19" name="Text 15"/>
          <p:cNvSpPr txBox="1"/>
          <p:nvPr/>
        </p:nvSpPr>
        <p:spPr>
          <a:xfrm>
            <a:off x="8385048" y="4800600"/>
            <a:ext cx="3063240" cy="82296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13 secondes contre 62. À performance égale, un modèle cinq fois plus rapide se réentraîne cinq fois plus souvent.</a:t>
            </a:r>
            <a:endParaRPr lang="en-US" sz="1150" dirty="0"/>
          </a:p>
        </p:txBody>
      </p:sp>
      <p:sp>
        <p:nvSpPr>
          <p:cNvPr id="20" name="Text 16"/>
          <p:cNvSpPr txBox="1"/>
          <p:nvPr/>
        </p:nvSpPr>
        <p:spPr>
          <a:xfrm>
            <a:off x="594360" y="5852160"/>
            <a:ext cx="11000232" cy="320040"/>
          </a:xfrm>
          <a:prstGeom prst="rect">
            <a:avLst/>
          </a:prstGeom>
          <a:noFill/>
          <a:ln/>
        </p:spPr>
        <p:txBody>
          <a:bodyPr wrap="square" lIns="0" tIns="0" rIns="0" bIns="0" rtlCol="0" anchor="ctr"/>
          <a:lstStyle/>
          <a:p>
            <a:pPr marL="0" indent="0">
              <a:buNone/>
            </a:pPr>
            <a:r>
              <a:rPr lang="en-US" sz="1050" i="1" dirty="0">
                <a:solidFill>
                  <a:srgbClr val="8E8681"/>
                </a:solidFill>
                <a:latin typeface="Calibri" pitchFamily="34" charset="0"/>
                <a:ea typeface="Calibri" pitchFamily="34" charset="-122"/>
                <a:cs typeface="Calibri" pitchFamily="34" charset="-120"/>
              </a:rPr>
              <a:t>Entraînement 2011-2022 (418 356 lignes) · test 2023 (34 863 communes, 2,53 % de positifs) · calibration sigmoïde cv = 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Les résultats</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Modèle retenu : XGBoost calibré · test temporel sur 2023</a:t>
            </a:r>
            <a:endParaRPr lang="en-US" sz="1400" dirty="0"/>
          </a:p>
        </p:txBody>
      </p:sp>
      <p:sp>
        <p:nvSpPr>
          <p:cNvPr id="6" name="Text 4"/>
          <p:cNvSpPr txBox="1"/>
          <p:nvPr/>
        </p:nvSpPr>
        <p:spPr>
          <a:xfrm>
            <a:off x="594360" y="1508760"/>
            <a:ext cx="2514600" cy="868680"/>
          </a:xfrm>
          <a:prstGeom prst="rect">
            <a:avLst/>
          </a:prstGeom>
          <a:noFill/>
          <a:ln/>
        </p:spPr>
        <p:txBody>
          <a:bodyPr wrap="square" lIns="0" tIns="0" rIns="0" bIns="0" rtlCol="0" anchor="b"/>
          <a:lstStyle/>
          <a:p>
            <a:pPr marL="0" indent="0" algn="ctr">
              <a:buNone/>
            </a:pPr>
            <a:r>
              <a:rPr lang="en-US" sz="4400" b="1" dirty="0">
                <a:solidFill>
                  <a:srgbClr val="B85042"/>
                </a:solidFill>
                <a:latin typeface="Cambria" pitchFamily="34" charset="0"/>
                <a:ea typeface="Cambria" pitchFamily="34" charset="-122"/>
                <a:cs typeface="Cambria" pitchFamily="34" charset="-120"/>
              </a:rPr>
              <a:t>0,331</a:t>
            </a:r>
            <a:endParaRPr lang="en-US" sz="4400" dirty="0"/>
          </a:p>
        </p:txBody>
      </p:sp>
      <p:sp>
        <p:nvSpPr>
          <p:cNvPr id="7" name="Text 5"/>
          <p:cNvSpPr txBox="1"/>
          <p:nvPr/>
        </p:nvSpPr>
        <p:spPr>
          <a:xfrm>
            <a:off x="594360" y="242316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PR-AUC</a:t>
            </a:r>
            <a:endParaRPr lang="en-US" sz="1150" dirty="0"/>
          </a:p>
          <a:p>
            <a:pPr marL="0" indent="0" algn="ctr">
              <a:buNone/>
            </a:pPr>
            <a:r>
              <a:rPr lang="en-US" sz="1150" dirty="0">
                <a:solidFill>
                  <a:srgbClr val="5C5550"/>
                </a:solidFill>
                <a:latin typeface="Calibri" pitchFamily="34" charset="0"/>
                <a:ea typeface="Calibri" pitchFamily="34" charset="-122"/>
                <a:cs typeface="Calibri" pitchFamily="34" charset="-120"/>
              </a:rPr>
              <a:t>sur le test temporel</a:t>
            </a:r>
            <a:endParaRPr lang="en-US" sz="1150" dirty="0"/>
          </a:p>
        </p:txBody>
      </p:sp>
      <p:sp>
        <p:nvSpPr>
          <p:cNvPr id="8" name="Text 6"/>
          <p:cNvSpPr txBox="1"/>
          <p:nvPr/>
        </p:nvSpPr>
        <p:spPr>
          <a:xfrm>
            <a:off x="3337560" y="1508760"/>
            <a:ext cx="2514600" cy="868680"/>
          </a:xfrm>
          <a:prstGeom prst="rect">
            <a:avLst/>
          </a:prstGeom>
          <a:noFill/>
          <a:ln/>
        </p:spPr>
        <p:txBody>
          <a:bodyPr wrap="square" lIns="0" tIns="0" rIns="0" bIns="0" rtlCol="0" anchor="b"/>
          <a:lstStyle/>
          <a:p>
            <a:pPr marL="0" indent="0" algn="ctr">
              <a:buNone/>
            </a:pPr>
            <a:r>
              <a:rPr lang="en-US" sz="4400" b="1" dirty="0">
                <a:solidFill>
                  <a:srgbClr val="241A15"/>
                </a:solidFill>
                <a:latin typeface="Cambria" pitchFamily="34" charset="0"/>
                <a:ea typeface="Cambria" pitchFamily="34" charset="-122"/>
                <a:cs typeface="Cambria" pitchFamily="34" charset="-120"/>
              </a:rPr>
              <a:t>× 13,1</a:t>
            </a:r>
            <a:endParaRPr lang="en-US" sz="4400" dirty="0"/>
          </a:p>
        </p:txBody>
      </p:sp>
      <p:sp>
        <p:nvSpPr>
          <p:cNvPr id="9" name="Text 7"/>
          <p:cNvSpPr txBox="1"/>
          <p:nvPr/>
        </p:nvSpPr>
        <p:spPr>
          <a:xfrm>
            <a:off x="3337560" y="242316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mieux que le hasard</a:t>
            </a:r>
            <a:endParaRPr lang="en-US" sz="1150" dirty="0"/>
          </a:p>
          <a:p>
            <a:pPr marL="0" indent="0" algn="ctr">
              <a:buNone/>
            </a:pPr>
            <a:r>
              <a:rPr lang="en-US" sz="1150" dirty="0">
                <a:solidFill>
                  <a:srgbClr val="5C5550"/>
                </a:solidFill>
                <a:latin typeface="Calibri" pitchFamily="34" charset="0"/>
                <a:ea typeface="Calibri" pitchFamily="34" charset="-122"/>
                <a:cs typeface="Calibri" pitchFamily="34" charset="-120"/>
              </a:rPr>
              <a:t>(base : 0,0253)</a:t>
            </a:r>
            <a:endParaRPr lang="en-US" sz="1150" dirty="0"/>
          </a:p>
        </p:txBody>
      </p:sp>
      <p:sp>
        <p:nvSpPr>
          <p:cNvPr id="10" name="Text 8"/>
          <p:cNvSpPr txBox="1"/>
          <p:nvPr/>
        </p:nvSpPr>
        <p:spPr>
          <a:xfrm>
            <a:off x="6080760" y="1508760"/>
            <a:ext cx="2514600" cy="868680"/>
          </a:xfrm>
          <a:prstGeom prst="rect">
            <a:avLst/>
          </a:prstGeom>
          <a:noFill/>
          <a:ln/>
        </p:spPr>
        <p:txBody>
          <a:bodyPr wrap="square" lIns="0" tIns="0" rIns="0" bIns="0" rtlCol="0" anchor="b"/>
          <a:lstStyle/>
          <a:p>
            <a:pPr marL="0" indent="0" algn="ctr">
              <a:buNone/>
            </a:pPr>
            <a:r>
              <a:rPr lang="en-US" sz="4400" b="1" dirty="0">
                <a:solidFill>
                  <a:srgbClr val="7FA08F"/>
                </a:solidFill>
                <a:latin typeface="Cambria" pitchFamily="34" charset="0"/>
                <a:ea typeface="Cambria" pitchFamily="34" charset="-122"/>
                <a:cs typeface="Cambria" pitchFamily="34" charset="-120"/>
              </a:rPr>
              <a:t>0,0211</a:t>
            </a:r>
            <a:endParaRPr lang="en-US" sz="4400" dirty="0"/>
          </a:p>
        </p:txBody>
      </p:sp>
      <p:sp>
        <p:nvSpPr>
          <p:cNvPr id="11" name="Text 9"/>
          <p:cNvSpPr txBox="1"/>
          <p:nvPr/>
        </p:nvSpPr>
        <p:spPr>
          <a:xfrm>
            <a:off x="6080760" y="242316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score de Brier</a:t>
            </a:r>
            <a:endParaRPr lang="en-US" sz="1150" dirty="0"/>
          </a:p>
          <a:p>
            <a:pPr marL="0" indent="0" algn="ctr">
              <a:buNone/>
            </a:pPr>
            <a:r>
              <a:rPr lang="en-US" sz="1150" dirty="0">
                <a:solidFill>
                  <a:srgbClr val="5C5550"/>
                </a:solidFill>
                <a:latin typeface="Calibri" pitchFamily="34" charset="0"/>
                <a:ea typeface="Calibri" pitchFamily="34" charset="-122"/>
                <a:cs typeface="Calibri" pitchFamily="34" charset="-120"/>
              </a:rPr>
              <a:t>probabilités calibrées</a:t>
            </a:r>
            <a:endParaRPr lang="en-US" sz="1150" dirty="0"/>
          </a:p>
        </p:txBody>
      </p:sp>
      <p:sp>
        <p:nvSpPr>
          <p:cNvPr id="12" name="Text 10"/>
          <p:cNvSpPr txBox="1"/>
          <p:nvPr/>
        </p:nvSpPr>
        <p:spPr>
          <a:xfrm>
            <a:off x="8823960" y="1508760"/>
            <a:ext cx="2514600" cy="868680"/>
          </a:xfrm>
          <a:prstGeom prst="rect">
            <a:avLst/>
          </a:prstGeom>
          <a:noFill/>
          <a:ln/>
        </p:spPr>
        <p:txBody>
          <a:bodyPr wrap="square" lIns="0" tIns="0" rIns="0" bIns="0" rtlCol="0" anchor="b"/>
          <a:lstStyle/>
          <a:p>
            <a:pPr marL="0" indent="0" algn="ctr">
              <a:buNone/>
            </a:pPr>
            <a:r>
              <a:rPr lang="en-US" sz="4400" b="1" dirty="0">
                <a:solidFill>
                  <a:srgbClr val="50808E"/>
                </a:solidFill>
                <a:latin typeface="Cambria" pitchFamily="34" charset="0"/>
                <a:ea typeface="Cambria" pitchFamily="34" charset="-122"/>
                <a:cs typeface="Cambria" pitchFamily="34" charset="-120"/>
              </a:rPr>
              <a:t>0,935</a:t>
            </a:r>
            <a:endParaRPr lang="en-US" sz="4400" dirty="0"/>
          </a:p>
        </p:txBody>
      </p:sp>
      <p:sp>
        <p:nvSpPr>
          <p:cNvPr id="13" name="Text 11"/>
          <p:cNvSpPr txBox="1"/>
          <p:nvPr/>
        </p:nvSpPr>
        <p:spPr>
          <a:xfrm>
            <a:off x="8823960" y="2423160"/>
            <a:ext cx="251460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ROC-AUC</a:t>
            </a:r>
            <a:endParaRPr lang="en-US" sz="1150" dirty="0"/>
          </a:p>
          <a:p>
            <a:pPr marL="0" indent="0" algn="ctr">
              <a:buNone/>
            </a:pPr>
            <a:r>
              <a:rPr lang="en-US" sz="1150" dirty="0">
                <a:solidFill>
                  <a:srgbClr val="5C5550"/>
                </a:solidFill>
                <a:latin typeface="Calibri" pitchFamily="34" charset="0"/>
                <a:ea typeface="Calibri" pitchFamily="34" charset="-122"/>
                <a:cs typeface="Calibri" pitchFamily="34" charset="-120"/>
              </a:rPr>
              <a:t>mesure secondaire</a:t>
            </a:r>
            <a:endParaRPr lang="en-US" sz="1150" dirty="0"/>
          </a:p>
        </p:txBody>
      </p:sp>
      <p:graphicFrame>
        <p:nvGraphicFramePr>
          <p:cNvPr id="14" name="Chart 0"/>
          <p:cNvGraphicFramePr/>
          <p:nvPr/>
        </p:nvGraphicFramePr>
        <p:xfrm>
          <a:off x="594360" y="3383280"/>
          <a:ext cx="539496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6309360" y="3383280"/>
            <a:ext cx="5394960" cy="2697480"/>
          </a:xfrm>
          <a:prstGeom prst="rect">
            <a:avLst/>
          </a:prstGeom>
          <a:solidFill>
            <a:srgbClr val="F2EFEC"/>
          </a:solidFill>
          <a:ln w="12700">
            <a:solidFill>
              <a:srgbClr val="F2EFEC"/>
            </a:solidFill>
            <a:prstDash val="solid"/>
          </a:ln>
        </p:spPr>
        <p:txBody>
          <a:bodyPr/>
          <a:lstStyle/>
          <a:p>
            <a:endParaRPr lang="fr-FR"/>
          </a:p>
        </p:txBody>
      </p:sp>
      <p:sp>
        <p:nvSpPr>
          <p:cNvPr id="16" name="Text 13"/>
          <p:cNvSpPr txBox="1"/>
          <p:nvPr/>
        </p:nvSpPr>
        <p:spPr>
          <a:xfrm>
            <a:off x="6629400" y="3566160"/>
            <a:ext cx="4754880" cy="292608"/>
          </a:xfrm>
          <a:prstGeom prst="rect">
            <a:avLst/>
          </a:prstGeom>
          <a:noFill/>
          <a:ln/>
        </p:spPr>
        <p:txBody>
          <a:bodyPr wrap="square" lIns="0" tIns="0" rIns="0" bIns="0" rtlCol="0" anchor="ctr"/>
          <a:lstStyle/>
          <a:p>
            <a:pPr marL="0" indent="0">
              <a:buNone/>
            </a:pPr>
            <a:r>
              <a:rPr lang="en-US" sz="1300" b="1" dirty="0">
                <a:solidFill>
                  <a:srgbClr val="241A15"/>
                </a:solidFill>
                <a:latin typeface="Calibri" pitchFamily="34" charset="0"/>
                <a:ea typeface="Calibri" pitchFamily="34" charset="-122"/>
                <a:cs typeface="Calibri" pitchFamily="34" charset="-120"/>
              </a:rPr>
              <a:t>Pourquoi la PR-AUC et pas l'accuracy</a:t>
            </a:r>
            <a:endParaRPr lang="en-US" sz="1300" dirty="0"/>
          </a:p>
        </p:txBody>
      </p:sp>
      <p:sp>
        <p:nvSpPr>
          <p:cNvPr id="17" name="Text 14"/>
          <p:cNvSpPr txBox="1"/>
          <p:nvPr/>
        </p:nvSpPr>
        <p:spPr>
          <a:xfrm>
            <a:off x="6629400" y="3886200"/>
            <a:ext cx="4754880" cy="2057400"/>
          </a:xfrm>
          <a:prstGeom prst="rect">
            <a:avLst/>
          </a:prstGeom>
          <a:noFill/>
          <a:ln/>
        </p:spPr>
        <p:txBody>
          <a:bodyPr wrap="square" lIns="0" tIns="0" rIns="0" bIns="0" rtlCol="0" anchor="ctr"/>
          <a:lstStyle/>
          <a:p>
            <a:pPr marL="0" indent="0">
              <a:buNone/>
            </a:pPr>
            <a:r>
              <a:rPr lang="en-US" sz="1350" dirty="0">
                <a:solidFill>
                  <a:srgbClr val="5C5550"/>
                </a:solidFill>
                <a:latin typeface="Calibri" pitchFamily="34" charset="0"/>
                <a:ea typeface="Calibri" pitchFamily="34" charset="-122"/>
                <a:cs typeface="Calibri" pitchFamily="34" charset="-120"/>
              </a:rPr>
              <a:t>Avec 2,53 % de communes positives, un modèle qui répond « non » partout obtient 97,5 % d'exactitude — et ne sert à rien.</a:t>
            </a:r>
            <a:endParaRPr lang="en-US" sz="1350" dirty="0"/>
          </a:p>
          <a:p>
            <a:pPr marL="0" indent="0">
              <a:buNone/>
            </a:pPr>
            <a:endParaRPr lang="en-US" sz="1350" dirty="0"/>
          </a:p>
          <a:p>
            <a:pPr marL="0" indent="0">
              <a:buNone/>
            </a:pPr>
            <a:r>
              <a:rPr lang="en-US" sz="1350" dirty="0">
                <a:solidFill>
                  <a:srgbClr val="5C5550"/>
                </a:solidFill>
                <a:latin typeface="Calibri" pitchFamily="34" charset="0"/>
                <a:ea typeface="Calibri" pitchFamily="34" charset="-122"/>
                <a:cs typeface="Calibri" pitchFamily="34" charset="-120"/>
              </a:rPr>
              <a:t>La PR-AUC n'a pas 0,5 comme plancher, mais le taux de base : 0,0253. Notre 0,331 est donc 13,1 fois le hasard, pas un tiers de la note maximale.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Ce que ça donne concrètement</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Si on ne surveille que 5 % du territoire, que se passe-t-il ?</a:t>
            </a:r>
            <a:endParaRPr lang="en-US" sz="1400" dirty="0"/>
          </a:p>
        </p:txBody>
      </p:sp>
      <p:sp>
        <p:nvSpPr>
          <p:cNvPr id="6" name="Shape 4"/>
          <p:cNvSpPr/>
          <p:nvPr/>
        </p:nvSpPr>
        <p:spPr>
          <a:xfrm>
            <a:off x="594360" y="1463040"/>
            <a:ext cx="3520440" cy="2148840"/>
          </a:xfrm>
          <a:prstGeom prst="rect">
            <a:avLst/>
          </a:prstGeom>
          <a:solidFill>
            <a:srgbClr val="F2EFEC"/>
          </a:solidFill>
          <a:ln w="12700">
            <a:solidFill>
              <a:srgbClr val="F2EFEC"/>
            </a:solidFill>
            <a:prstDash val="solid"/>
          </a:ln>
        </p:spPr>
        <p:txBody>
          <a:bodyPr/>
          <a:lstStyle/>
          <a:p>
            <a:endParaRPr lang="fr-FR"/>
          </a:p>
        </p:txBody>
      </p:sp>
      <p:sp>
        <p:nvSpPr>
          <p:cNvPr id="7" name="Text 5"/>
          <p:cNvSpPr txBox="1"/>
          <p:nvPr/>
        </p:nvSpPr>
        <p:spPr>
          <a:xfrm>
            <a:off x="731520" y="1645920"/>
            <a:ext cx="3246120" cy="685800"/>
          </a:xfrm>
          <a:prstGeom prst="rect">
            <a:avLst/>
          </a:prstGeom>
          <a:noFill/>
          <a:ln/>
        </p:spPr>
        <p:txBody>
          <a:bodyPr wrap="square" lIns="0" tIns="0" rIns="0" bIns="0" rtlCol="0" anchor="ctr"/>
          <a:lstStyle/>
          <a:p>
            <a:pPr marL="0" indent="0" algn="ctr">
              <a:buNone/>
            </a:pPr>
            <a:r>
              <a:rPr lang="en-US" sz="4000" b="1" dirty="0">
                <a:solidFill>
                  <a:srgbClr val="50808E"/>
                </a:solidFill>
                <a:latin typeface="Cambria" pitchFamily="34" charset="0"/>
                <a:ea typeface="Cambria" pitchFamily="34" charset="-122"/>
                <a:cs typeface="Cambria" pitchFamily="34" charset="-120"/>
              </a:rPr>
              <a:t>1 744</a:t>
            </a:r>
            <a:endParaRPr lang="en-US" sz="4000" dirty="0"/>
          </a:p>
        </p:txBody>
      </p:sp>
      <p:sp>
        <p:nvSpPr>
          <p:cNvPr id="8" name="Text 6"/>
          <p:cNvSpPr txBox="1"/>
          <p:nvPr/>
        </p:nvSpPr>
        <p:spPr>
          <a:xfrm>
            <a:off x="731520" y="2350008"/>
            <a:ext cx="3246120" cy="292608"/>
          </a:xfrm>
          <a:prstGeom prst="rect">
            <a:avLst/>
          </a:prstGeom>
          <a:noFill/>
          <a:ln/>
        </p:spPr>
        <p:txBody>
          <a:bodyPr wrap="square" lIns="0" tIns="0" rIns="0" bIns="0" rtlCol="0" anchor="ctr"/>
          <a:lstStyle/>
          <a:p>
            <a:pPr marL="0" indent="0" algn="ctr">
              <a:buNone/>
            </a:pPr>
            <a:r>
              <a:rPr lang="en-US" sz="1300" b="1" dirty="0">
                <a:solidFill>
                  <a:srgbClr val="241A15"/>
                </a:solidFill>
                <a:latin typeface="Calibri" pitchFamily="34" charset="0"/>
                <a:ea typeface="Calibri" pitchFamily="34" charset="-122"/>
                <a:cs typeface="Calibri" pitchFamily="34" charset="-120"/>
              </a:rPr>
              <a:t>communes désignées</a:t>
            </a:r>
            <a:endParaRPr lang="en-US" sz="1300" dirty="0"/>
          </a:p>
        </p:txBody>
      </p:sp>
      <p:sp>
        <p:nvSpPr>
          <p:cNvPr id="9" name="Text 7"/>
          <p:cNvSpPr txBox="1"/>
          <p:nvPr/>
        </p:nvSpPr>
        <p:spPr>
          <a:xfrm>
            <a:off x="731520" y="2715768"/>
            <a:ext cx="3246120" cy="731520"/>
          </a:xfrm>
          <a:prstGeom prst="rect">
            <a:avLst/>
          </a:prstGeom>
          <a:noFill/>
          <a:ln/>
        </p:spPr>
        <p:txBody>
          <a:bodyPr wrap="square" lIns="0" tIns="0" rIns="0" bIns="0" rtlCol="0" anchor="t"/>
          <a:lstStyle/>
          <a:p>
            <a:pPr marL="0" indent="0" algn="ctr">
              <a:buNone/>
            </a:pPr>
            <a:r>
              <a:rPr lang="en-US" sz="1200" dirty="0">
                <a:solidFill>
                  <a:srgbClr val="5C5550"/>
                </a:solidFill>
                <a:latin typeface="Calibri" pitchFamily="34" charset="0"/>
                <a:ea typeface="Calibri" pitchFamily="34" charset="-122"/>
                <a:cs typeface="Calibri" pitchFamily="34" charset="-120"/>
              </a:rPr>
              <a:t>les 5 % au score le plus élevé</a:t>
            </a:r>
            <a:endParaRPr lang="en-US" sz="1200" dirty="0"/>
          </a:p>
        </p:txBody>
      </p:sp>
      <p:sp>
        <p:nvSpPr>
          <p:cNvPr id="10" name="Shape 8"/>
          <p:cNvSpPr/>
          <p:nvPr/>
        </p:nvSpPr>
        <p:spPr>
          <a:xfrm>
            <a:off x="4361688" y="1463040"/>
            <a:ext cx="3520440" cy="2148840"/>
          </a:xfrm>
          <a:prstGeom prst="rect">
            <a:avLst/>
          </a:prstGeom>
          <a:solidFill>
            <a:srgbClr val="F2EFEC"/>
          </a:solidFill>
          <a:ln w="12700">
            <a:solidFill>
              <a:srgbClr val="F2EFEC"/>
            </a:solidFill>
            <a:prstDash val="solid"/>
          </a:ln>
        </p:spPr>
        <p:txBody>
          <a:bodyPr/>
          <a:lstStyle/>
          <a:p>
            <a:endParaRPr lang="fr-FR"/>
          </a:p>
        </p:txBody>
      </p:sp>
      <p:sp>
        <p:nvSpPr>
          <p:cNvPr id="11" name="Text 9"/>
          <p:cNvSpPr txBox="1"/>
          <p:nvPr/>
        </p:nvSpPr>
        <p:spPr>
          <a:xfrm>
            <a:off x="4498848" y="1645920"/>
            <a:ext cx="3246120" cy="685800"/>
          </a:xfrm>
          <a:prstGeom prst="rect">
            <a:avLst/>
          </a:prstGeom>
          <a:noFill/>
          <a:ln/>
        </p:spPr>
        <p:txBody>
          <a:bodyPr wrap="square" lIns="0" tIns="0" rIns="0" bIns="0" rtlCol="0" anchor="ctr"/>
          <a:lstStyle/>
          <a:p>
            <a:pPr marL="0" indent="0" algn="ctr">
              <a:buNone/>
            </a:pPr>
            <a:r>
              <a:rPr lang="en-US" sz="4000" b="1" dirty="0">
                <a:solidFill>
                  <a:srgbClr val="5C5550"/>
                </a:solidFill>
                <a:latin typeface="Cambria" pitchFamily="34" charset="0"/>
                <a:ea typeface="Cambria" pitchFamily="34" charset="-122"/>
                <a:cs typeface="Cambria" pitchFamily="34" charset="-120"/>
              </a:rPr>
              <a:t>882</a:t>
            </a:r>
            <a:endParaRPr lang="en-US" sz="4000" dirty="0"/>
          </a:p>
        </p:txBody>
      </p:sp>
      <p:sp>
        <p:nvSpPr>
          <p:cNvPr id="12" name="Text 10"/>
          <p:cNvSpPr txBox="1"/>
          <p:nvPr/>
        </p:nvSpPr>
        <p:spPr>
          <a:xfrm>
            <a:off x="4498848" y="2350008"/>
            <a:ext cx="3246120" cy="292608"/>
          </a:xfrm>
          <a:prstGeom prst="rect">
            <a:avLst/>
          </a:prstGeom>
          <a:noFill/>
          <a:ln/>
        </p:spPr>
        <p:txBody>
          <a:bodyPr wrap="square" lIns="0" tIns="0" rIns="0" bIns="0" rtlCol="0" anchor="ctr"/>
          <a:lstStyle/>
          <a:p>
            <a:pPr marL="0" indent="0" algn="ctr">
              <a:buNone/>
            </a:pPr>
            <a:r>
              <a:rPr lang="en-US" sz="1300" b="1" dirty="0">
                <a:solidFill>
                  <a:srgbClr val="241A15"/>
                </a:solidFill>
                <a:latin typeface="Calibri" pitchFamily="34" charset="0"/>
                <a:ea typeface="Calibri" pitchFamily="34" charset="-122"/>
                <a:cs typeface="Calibri" pitchFamily="34" charset="-120"/>
              </a:rPr>
              <a:t>communes ont brûlé</a:t>
            </a:r>
            <a:endParaRPr lang="en-US" sz="1300" dirty="0"/>
          </a:p>
        </p:txBody>
      </p:sp>
      <p:sp>
        <p:nvSpPr>
          <p:cNvPr id="13" name="Text 11"/>
          <p:cNvSpPr txBox="1"/>
          <p:nvPr/>
        </p:nvSpPr>
        <p:spPr>
          <a:xfrm>
            <a:off x="4498848" y="2715768"/>
            <a:ext cx="3246120" cy="731520"/>
          </a:xfrm>
          <a:prstGeom prst="rect">
            <a:avLst/>
          </a:prstGeom>
          <a:noFill/>
          <a:ln/>
        </p:spPr>
        <p:txBody>
          <a:bodyPr wrap="square" lIns="0" tIns="0" rIns="0" bIns="0" rtlCol="0" anchor="t"/>
          <a:lstStyle/>
          <a:p>
            <a:pPr marL="0" indent="0" algn="ctr">
              <a:buNone/>
            </a:pPr>
            <a:r>
              <a:rPr lang="en-US" sz="1200" dirty="0">
                <a:solidFill>
                  <a:srgbClr val="5C5550"/>
                </a:solidFill>
                <a:latin typeface="Calibri" pitchFamily="34" charset="0"/>
                <a:ea typeface="Calibri" pitchFamily="34" charset="-122"/>
                <a:cs typeface="Calibri" pitchFamily="34" charset="-120"/>
              </a:rPr>
              <a:t>la réalité observée en 2024</a:t>
            </a:r>
            <a:endParaRPr lang="en-US" sz="1200" dirty="0"/>
          </a:p>
        </p:txBody>
      </p:sp>
      <p:sp>
        <p:nvSpPr>
          <p:cNvPr id="14" name="Shape 12"/>
          <p:cNvSpPr/>
          <p:nvPr/>
        </p:nvSpPr>
        <p:spPr>
          <a:xfrm>
            <a:off x="8129016" y="1463040"/>
            <a:ext cx="3520440" cy="2148840"/>
          </a:xfrm>
          <a:prstGeom prst="rect">
            <a:avLst/>
          </a:prstGeom>
          <a:solidFill>
            <a:srgbClr val="F2EFEC"/>
          </a:solidFill>
          <a:ln w="12700">
            <a:solidFill>
              <a:srgbClr val="F2EFEC"/>
            </a:solidFill>
            <a:prstDash val="solid"/>
          </a:ln>
        </p:spPr>
        <p:txBody>
          <a:bodyPr/>
          <a:lstStyle/>
          <a:p>
            <a:endParaRPr lang="fr-FR"/>
          </a:p>
        </p:txBody>
      </p:sp>
      <p:sp>
        <p:nvSpPr>
          <p:cNvPr id="15" name="Text 13"/>
          <p:cNvSpPr txBox="1"/>
          <p:nvPr/>
        </p:nvSpPr>
        <p:spPr>
          <a:xfrm>
            <a:off x="8266176" y="1645920"/>
            <a:ext cx="3246120" cy="685800"/>
          </a:xfrm>
          <a:prstGeom prst="rect">
            <a:avLst/>
          </a:prstGeom>
          <a:noFill/>
          <a:ln/>
        </p:spPr>
        <p:txBody>
          <a:bodyPr wrap="square" lIns="0" tIns="0" rIns="0" bIns="0" rtlCol="0" anchor="ctr"/>
          <a:lstStyle/>
          <a:p>
            <a:pPr marL="0" indent="0" algn="ctr">
              <a:buNone/>
            </a:pPr>
            <a:r>
              <a:rPr lang="en-US" sz="4000" b="1" dirty="0">
                <a:solidFill>
                  <a:srgbClr val="B85042"/>
                </a:solidFill>
                <a:latin typeface="Cambria" pitchFamily="34" charset="0"/>
                <a:ea typeface="Cambria" pitchFamily="34" charset="-122"/>
                <a:cs typeface="Cambria" pitchFamily="34" charset="-120"/>
              </a:rPr>
              <a:t>497</a:t>
            </a:r>
            <a:endParaRPr lang="en-US" sz="4000" dirty="0"/>
          </a:p>
        </p:txBody>
      </p:sp>
      <p:sp>
        <p:nvSpPr>
          <p:cNvPr id="16" name="Text 14"/>
          <p:cNvSpPr txBox="1"/>
          <p:nvPr/>
        </p:nvSpPr>
        <p:spPr>
          <a:xfrm>
            <a:off x="8266176" y="2350008"/>
            <a:ext cx="3246120" cy="292608"/>
          </a:xfrm>
          <a:prstGeom prst="rect">
            <a:avLst/>
          </a:prstGeom>
          <a:noFill/>
          <a:ln/>
        </p:spPr>
        <p:txBody>
          <a:bodyPr wrap="square" lIns="0" tIns="0" rIns="0" bIns="0" rtlCol="0" anchor="ctr"/>
          <a:lstStyle/>
          <a:p>
            <a:pPr marL="0" indent="0" algn="ctr">
              <a:buNone/>
            </a:pPr>
            <a:r>
              <a:rPr lang="en-US" sz="1300" b="1" dirty="0">
                <a:solidFill>
                  <a:srgbClr val="241A15"/>
                </a:solidFill>
                <a:latin typeface="Calibri" pitchFamily="34" charset="0"/>
                <a:ea typeface="Calibri" pitchFamily="34" charset="-122"/>
                <a:cs typeface="Calibri" pitchFamily="34" charset="-120"/>
              </a:rPr>
              <a:t>communes attrapées</a:t>
            </a:r>
            <a:endParaRPr lang="en-US" sz="1300" dirty="0"/>
          </a:p>
        </p:txBody>
      </p:sp>
      <p:sp>
        <p:nvSpPr>
          <p:cNvPr id="17" name="Text 15"/>
          <p:cNvSpPr txBox="1"/>
          <p:nvPr/>
        </p:nvSpPr>
        <p:spPr>
          <a:xfrm>
            <a:off x="8266176" y="2715768"/>
            <a:ext cx="3246120" cy="731520"/>
          </a:xfrm>
          <a:prstGeom prst="rect">
            <a:avLst/>
          </a:prstGeom>
          <a:noFill/>
          <a:ln/>
        </p:spPr>
        <p:txBody>
          <a:bodyPr wrap="square" lIns="0" tIns="0" rIns="0" bIns="0" rtlCol="0" anchor="t"/>
          <a:lstStyle/>
          <a:p>
            <a:pPr marL="0" indent="0" algn="ctr">
              <a:buNone/>
            </a:pPr>
            <a:r>
              <a:rPr lang="en-US" sz="1200" dirty="0">
                <a:solidFill>
                  <a:srgbClr val="5C5550"/>
                </a:solidFill>
                <a:latin typeface="Calibri" pitchFamily="34" charset="0"/>
                <a:ea typeface="Calibri" pitchFamily="34" charset="-122"/>
                <a:cs typeface="Calibri" pitchFamily="34" charset="-120"/>
              </a:rPr>
              <a:t>désignées ET effectivement brûlées</a:t>
            </a:r>
            <a:endParaRPr lang="en-US" sz="1200" dirty="0"/>
          </a:p>
        </p:txBody>
      </p:sp>
      <p:sp>
        <p:nvSpPr>
          <p:cNvPr id="18" name="Shape 16"/>
          <p:cNvSpPr/>
          <p:nvPr/>
        </p:nvSpPr>
        <p:spPr>
          <a:xfrm>
            <a:off x="594360" y="3931920"/>
            <a:ext cx="5422392" cy="1325880"/>
          </a:xfrm>
          <a:prstGeom prst="rect">
            <a:avLst/>
          </a:prstGeom>
          <a:solidFill>
            <a:srgbClr val="241A15"/>
          </a:solidFill>
          <a:ln w="12700">
            <a:solidFill>
              <a:srgbClr val="241A15"/>
            </a:solidFill>
            <a:prstDash val="solid"/>
          </a:ln>
        </p:spPr>
        <p:txBody>
          <a:bodyPr/>
          <a:lstStyle/>
          <a:p>
            <a:endParaRPr lang="fr-FR"/>
          </a:p>
        </p:txBody>
      </p:sp>
      <p:sp>
        <p:nvSpPr>
          <p:cNvPr id="19" name="Text 17"/>
          <p:cNvSpPr txBox="1"/>
          <p:nvPr/>
        </p:nvSpPr>
        <p:spPr>
          <a:xfrm>
            <a:off x="868680" y="4224528"/>
            <a:ext cx="1371600" cy="713232"/>
          </a:xfrm>
          <a:prstGeom prst="rect">
            <a:avLst/>
          </a:prstGeom>
          <a:noFill/>
          <a:ln/>
        </p:spPr>
        <p:txBody>
          <a:bodyPr wrap="square" lIns="0" tIns="0" rIns="0" bIns="0" rtlCol="0" anchor="ctr"/>
          <a:lstStyle/>
          <a:p>
            <a:pPr marL="0" indent="0">
              <a:buNone/>
            </a:pPr>
            <a:r>
              <a:rPr lang="en-US" sz="3200" b="1" dirty="0">
                <a:solidFill>
                  <a:srgbClr val="B85042"/>
                </a:solidFill>
                <a:latin typeface="Cambria" pitchFamily="34" charset="0"/>
                <a:ea typeface="Cambria" pitchFamily="34" charset="-122"/>
                <a:cs typeface="Cambria" pitchFamily="34" charset="-120"/>
              </a:rPr>
              <a:t>28,5 %</a:t>
            </a:r>
            <a:endParaRPr lang="en-US" sz="3200" dirty="0"/>
          </a:p>
        </p:txBody>
      </p:sp>
      <p:sp>
        <p:nvSpPr>
          <p:cNvPr id="20" name="Text 18"/>
          <p:cNvSpPr txBox="1"/>
          <p:nvPr/>
        </p:nvSpPr>
        <p:spPr>
          <a:xfrm>
            <a:off x="2377440" y="4206240"/>
            <a:ext cx="32918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Précision</a:t>
            </a:r>
            <a:endParaRPr lang="en-US" sz="1350" dirty="0"/>
          </a:p>
        </p:txBody>
      </p:sp>
      <p:sp>
        <p:nvSpPr>
          <p:cNvPr id="21" name="Text 19"/>
          <p:cNvSpPr txBox="1"/>
          <p:nvPr/>
        </p:nvSpPr>
        <p:spPr>
          <a:xfrm>
            <a:off x="2377440" y="4517136"/>
            <a:ext cx="3383280" cy="640080"/>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497 / 1 744 · sur les communes désignées, 28 % ont brûlé</a:t>
            </a:r>
            <a:endParaRPr lang="en-US" sz="1150" dirty="0"/>
          </a:p>
        </p:txBody>
      </p:sp>
      <p:sp>
        <p:nvSpPr>
          <p:cNvPr id="22" name="Shape 20"/>
          <p:cNvSpPr/>
          <p:nvPr/>
        </p:nvSpPr>
        <p:spPr>
          <a:xfrm>
            <a:off x="6172200" y="3931920"/>
            <a:ext cx="5422392" cy="1325880"/>
          </a:xfrm>
          <a:prstGeom prst="rect">
            <a:avLst/>
          </a:prstGeom>
          <a:solidFill>
            <a:srgbClr val="241A15"/>
          </a:solidFill>
          <a:ln w="12700">
            <a:solidFill>
              <a:srgbClr val="241A15"/>
            </a:solidFill>
            <a:prstDash val="solid"/>
          </a:ln>
        </p:spPr>
        <p:txBody>
          <a:bodyPr/>
          <a:lstStyle/>
          <a:p>
            <a:endParaRPr lang="fr-FR"/>
          </a:p>
        </p:txBody>
      </p:sp>
      <p:sp>
        <p:nvSpPr>
          <p:cNvPr id="23" name="Text 21"/>
          <p:cNvSpPr txBox="1"/>
          <p:nvPr/>
        </p:nvSpPr>
        <p:spPr>
          <a:xfrm>
            <a:off x="6446520" y="4224528"/>
            <a:ext cx="1371600" cy="713232"/>
          </a:xfrm>
          <a:prstGeom prst="rect">
            <a:avLst/>
          </a:prstGeom>
          <a:noFill/>
          <a:ln/>
        </p:spPr>
        <p:txBody>
          <a:bodyPr wrap="square" lIns="0" tIns="0" rIns="0" bIns="0" rtlCol="0" anchor="ctr"/>
          <a:lstStyle/>
          <a:p>
            <a:pPr marL="0" indent="0">
              <a:buNone/>
            </a:pPr>
            <a:r>
              <a:rPr lang="en-US" sz="3200" b="1" dirty="0">
                <a:solidFill>
                  <a:srgbClr val="7FA08F"/>
                </a:solidFill>
                <a:latin typeface="Cambria" pitchFamily="34" charset="0"/>
                <a:ea typeface="Cambria" pitchFamily="34" charset="-122"/>
                <a:cs typeface="Cambria" pitchFamily="34" charset="-120"/>
              </a:rPr>
              <a:t>56,3 %</a:t>
            </a:r>
            <a:endParaRPr lang="en-US" sz="3200" dirty="0"/>
          </a:p>
        </p:txBody>
      </p:sp>
      <p:sp>
        <p:nvSpPr>
          <p:cNvPr id="24" name="Text 22"/>
          <p:cNvSpPr txBox="1"/>
          <p:nvPr/>
        </p:nvSpPr>
        <p:spPr>
          <a:xfrm>
            <a:off x="7955280" y="4206240"/>
            <a:ext cx="32918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Rappel</a:t>
            </a:r>
            <a:endParaRPr lang="en-US" sz="1350" dirty="0"/>
          </a:p>
        </p:txBody>
      </p:sp>
      <p:sp>
        <p:nvSpPr>
          <p:cNvPr id="25" name="Text 23"/>
          <p:cNvSpPr txBox="1"/>
          <p:nvPr/>
        </p:nvSpPr>
        <p:spPr>
          <a:xfrm>
            <a:off x="7955280" y="4517136"/>
            <a:ext cx="3383280" cy="640080"/>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497 / 882 · sur les communes qui ont brûlé, 56 % étaient désignées</a:t>
            </a:r>
            <a:endParaRPr lang="en-US" sz="1150" dirty="0"/>
          </a:p>
        </p:txBody>
      </p:sp>
      <p:sp>
        <p:nvSpPr>
          <p:cNvPr id="26" name="Text 24"/>
          <p:cNvSpPr txBox="1"/>
          <p:nvPr/>
        </p:nvSpPr>
        <p:spPr>
          <a:xfrm>
            <a:off x="594360" y="5532120"/>
            <a:ext cx="11000232" cy="548640"/>
          </a:xfrm>
          <a:prstGeom prst="rect">
            <a:avLst/>
          </a:prstGeom>
          <a:noFill/>
          <a:ln/>
        </p:spPr>
        <p:txBody>
          <a:bodyPr wrap="square" lIns="0" tIns="0" rIns="0" bIns="0" rtlCol="0" anchor="ctr"/>
          <a:lstStyle/>
          <a:p>
            <a:pPr marL="0" indent="0" algn="ctr">
              <a:buNone/>
            </a:pPr>
            <a:r>
              <a:rPr lang="en-US" sz="1600" b="1" i="1" dirty="0">
                <a:solidFill>
                  <a:srgbClr val="B85042"/>
                </a:solidFill>
                <a:latin typeface="Cambria" pitchFamily="34" charset="0"/>
                <a:ea typeface="Cambria" pitchFamily="34" charset="-122"/>
                <a:cs typeface="Cambria" pitchFamily="34" charset="-120"/>
              </a:rPr>
              <a:t>En surveillant 5 % du territoire, on couvre 56 % des communes qui brûleront — soit 11,3 fois mieux qu'un tirage au sort.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Qu'est-ce qui fait le score ?</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Importance par permutation : perte de PR-AUC quand on mélange la variable</a:t>
            </a:r>
            <a:endParaRPr lang="en-US" sz="1400" dirty="0"/>
          </a:p>
        </p:txBody>
      </p:sp>
      <p:graphicFrame>
        <p:nvGraphicFramePr>
          <p:cNvPr id="6" name="Chart 0"/>
          <p:cNvGraphicFramePr/>
          <p:nvPr/>
        </p:nvGraphicFramePr>
        <p:xfrm>
          <a:off x="594360" y="1417320"/>
          <a:ext cx="65379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7406640" y="1417320"/>
            <a:ext cx="4206240" cy="292608"/>
          </a:xfrm>
          <a:prstGeom prst="rect">
            <a:avLst/>
          </a:prstGeom>
          <a:noFill/>
          <a:ln/>
        </p:spPr>
        <p:txBody>
          <a:bodyPr wrap="square" lIns="0" tIns="0" rIns="0" bIns="0" rtlCol="0" anchor="ctr"/>
          <a:lstStyle/>
          <a:p>
            <a:pPr marL="0" indent="0">
              <a:buNone/>
            </a:pPr>
            <a:r>
              <a:rPr lang="en-US" sz="1350" b="1" dirty="0">
                <a:solidFill>
                  <a:srgbClr val="241A15"/>
                </a:solidFill>
                <a:latin typeface="Calibri" pitchFamily="34" charset="0"/>
                <a:ea typeface="Calibri" pitchFamily="34" charset="-122"/>
                <a:cs typeface="Calibri" pitchFamily="34" charset="-120"/>
              </a:rPr>
              <a:t>Par famille de variables</a:t>
            </a:r>
            <a:endParaRPr lang="en-US" sz="1350" dirty="0"/>
          </a:p>
        </p:txBody>
      </p:sp>
      <p:sp>
        <p:nvSpPr>
          <p:cNvPr id="8" name="Shape 5"/>
          <p:cNvSpPr/>
          <p:nvPr/>
        </p:nvSpPr>
        <p:spPr>
          <a:xfrm>
            <a:off x="7406640" y="1874520"/>
            <a:ext cx="4187952" cy="475488"/>
          </a:xfrm>
          <a:prstGeom prst="rect">
            <a:avLst/>
          </a:prstGeom>
          <a:solidFill>
            <a:srgbClr val="F2EFEC"/>
          </a:solidFill>
          <a:ln w="12700">
            <a:solidFill>
              <a:srgbClr val="F2EFEC"/>
            </a:solidFill>
            <a:prstDash val="solid"/>
          </a:ln>
        </p:spPr>
        <p:txBody>
          <a:bodyPr/>
          <a:lstStyle/>
          <a:p>
            <a:endParaRPr lang="fr-FR"/>
          </a:p>
        </p:txBody>
      </p:sp>
      <p:sp>
        <p:nvSpPr>
          <p:cNvPr id="9" name="Shape 6"/>
          <p:cNvSpPr/>
          <p:nvPr/>
        </p:nvSpPr>
        <p:spPr>
          <a:xfrm>
            <a:off x="7589520" y="2029968"/>
            <a:ext cx="164592" cy="164592"/>
          </a:xfrm>
          <a:prstGeom prst="ellipse">
            <a:avLst/>
          </a:prstGeom>
          <a:solidFill>
            <a:srgbClr val="B85042"/>
          </a:solidFill>
          <a:ln/>
        </p:spPr>
        <p:txBody>
          <a:bodyPr/>
          <a:lstStyle/>
          <a:p>
            <a:endParaRPr lang="fr-FR"/>
          </a:p>
        </p:txBody>
      </p:sp>
      <p:sp>
        <p:nvSpPr>
          <p:cNvPr id="10" name="Text 7"/>
          <p:cNvSpPr txBox="1"/>
          <p:nvPr/>
        </p:nvSpPr>
        <p:spPr>
          <a:xfrm>
            <a:off x="7863840" y="1874520"/>
            <a:ext cx="2286000" cy="475488"/>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Historique des feux</a:t>
            </a:r>
            <a:endParaRPr lang="en-US" sz="1250" dirty="0"/>
          </a:p>
        </p:txBody>
      </p:sp>
      <p:sp>
        <p:nvSpPr>
          <p:cNvPr id="11" name="Text 8"/>
          <p:cNvSpPr txBox="1"/>
          <p:nvPr/>
        </p:nvSpPr>
        <p:spPr>
          <a:xfrm>
            <a:off x="10058400" y="1874520"/>
            <a:ext cx="1371600" cy="475488"/>
          </a:xfrm>
          <a:prstGeom prst="rect">
            <a:avLst/>
          </a:prstGeom>
          <a:noFill/>
          <a:ln/>
        </p:spPr>
        <p:txBody>
          <a:bodyPr wrap="square" lIns="0" tIns="0" rIns="0" bIns="0" rtlCol="0" anchor="ctr"/>
          <a:lstStyle/>
          <a:p>
            <a:pPr marL="0" indent="0" algn="r">
              <a:buNone/>
            </a:pPr>
            <a:r>
              <a:rPr lang="en-US" sz="1250" b="1" dirty="0">
                <a:solidFill>
                  <a:srgbClr val="B85042"/>
                </a:solidFill>
                <a:latin typeface="Calibri" pitchFamily="34" charset="0"/>
                <a:ea typeface="Calibri" pitchFamily="34" charset="-122"/>
                <a:cs typeface="Calibri" pitchFamily="34" charset="-120"/>
              </a:rPr>
              <a:t>107,7 %</a:t>
            </a:r>
            <a:endParaRPr lang="en-US" sz="1250" dirty="0"/>
          </a:p>
        </p:txBody>
      </p:sp>
      <p:sp>
        <p:nvSpPr>
          <p:cNvPr id="12" name="Shape 9"/>
          <p:cNvSpPr/>
          <p:nvPr/>
        </p:nvSpPr>
        <p:spPr>
          <a:xfrm>
            <a:off x="7406640" y="2441448"/>
            <a:ext cx="4187952" cy="475488"/>
          </a:xfrm>
          <a:prstGeom prst="rect">
            <a:avLst/>
          </a:prstGeom>
          <a:solidFill>
            <a:srgbClr val="F2EFEC"/>
          </a:solidFill>
          <a:ln w="12700">
            <a:solidFill>
              <a:srgbClr val="F2EFEC"/>
            </a:solidFill>
            <a:prstDash val="solid"/>
          </a:ln>
        </p:spPr>
        <p:txBody>
          <a:bodyPr/>
          <a:lstStyle/>
          <a:p>
            <a:endParaRPr lang="fr-FR"/>
          </a:p>
        </p:txBody>
      </p:sp>
      <p:sp>
        <p:nvSpPr>
          <p:cNvPr id="13" name="Shape 10"/>
          <p:cNvSpPr/>
          <p:nvPr/>
        </p:nvSpPr>
        <p:spPr>
          <a:xfrm>
            <a:off x="7589520" y="2596896"/>
            <a:ext cx="164592" cy="164592"/>
          </a:xfrm>
          <a:prstGeom prst="ellipse">
            <a:avLst/>
          </a:prstGeom>
          <a:solidFill>
            <a:srgbClr val="50808E"/>
          </a:solidFill>
          <a:ln/>
        </p:spPr>
        <p:txBody>
          <a:bodyPr/>
          <a:lstStyle/>
          <a:p>
            <a:endParaRPr lang="fr-FR"/>
          </a:p>
        </p:txBody>
      </p:sp>
      <p:sp>
        <p:nvSpPr>
          <p:cNvPr id="14" name="Text 11"/>
          <p:cNvSpPr txBox="1"/>
          <p:nvPr/>
        </p:nvSpPr>
        <p:spPr>
          <a:xfrm>
            <a:off x="7863840" y="2441448"/>
            <a:ext cx="2286000" cy="475488"/>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Géographie</a:t>
            </a:r>
            <a:endParaRPr lang="en-US" sz="1250" dirty="0"/>
          </a:p>
        </p:txBody>
      </p:sp>
      <p:sp>
        <p:nvSpPr>
          <p:cNvPr id="15" name="Text 12"/>
          <p:cNvSpPr txBox="1"/>
          <p:nvPr/>
        </p:nvSpPr>
        <p:spPr>
          <a:xfrm>
            <a:off x="10058400" y="2441448"/>
            <a:ext cx="1371600" cy="475488"/>
          </a:xfrm>
          <a:prstGeom prst="rect">
            <a:avLst/>
          </a:prstGeom>
          <a:noFill/>
          <a:ln/>
        </p:spPr>
        <p:txBody>
          <a:bodyPr wrap="square" lIns="0" tIns="0" rIns="0" bIns="0" rtlCol="0" anchor="ctr"/>
          <a:lstStyle/>
          <a:p>
            <a:pPr marL="0" indent="0" algn="r">
              <a:buNone/>
            </a:pPr>
            <a:r>
              <a:rPr lang="en-US" sz="1250" b="1" dirty="0">
                <a:solidFill>
                  <a:srgbClr val="50808E"/>
                </a:solidFill>
                <a:latin typeface="Calibri" pitchFamily="34" charset="0"/>
                <a:ea typeface="Calibri" pitchFamily="34" charset="-122"/>
                <a:cs typeface="Calibri" pitchFamily="34" charset="-120"/>
              </a:rPr>
              <a:t>59,4 %</a:t>
            </a:r>
            <a:endParaRPr lang="en-US" sz="1250" dirty="0"/>
          </a:p>
        </p:txBody>
      </p:sp>
      <p:sp>
        <p:nvSpPr>
          <p:cNvPr id="16" name="Shape 13"/>
          <p:cNvSpPr/>
          <p:nvPr/>
        </p:nvSpPr>
        <p:spPr>
          <a:xfrm>
            <a:off x="7406640" y="3008376"/>
            <a:ext cx="4187952" cy="475488"/>
          </a:xfrm>
          <a:prstGeom prst="rect">
            <a:avLst/>
          </a:prstGeom>
          <a:solidFill>
            <a:srgbClr val="F2EFEC"/>
          </a:solidFill>
          <a:ln w="12700">
            <a:solidFill>
              <a:srgbClr val="F2EFEC"/>
            </a:solidFill>
            <a:prstDash val="solid"/>
          </a:ln>
        </p:spPr>
        <p:txBody>
          <a:bodyPr/>
          <a:lstStyle/>
          <a:p>
            <a:endParaRPr lang="fr-FR"/>
          </a:p>
        </p:txBody>
      </p:sp>
      <p:sp>
        <p:nvSpPr>
          <p:cNvPr id="17" name="Shape 14"/>
          <p:cNvSpPr/>
          <p:nvPr/>
        </p:nvSpPr>
        <p:spPr>
          <a:xfrm>
            <a:off x="7589520" y="3163824"/>
            <a:ext cx="164592" cy="164592"/>
          </a:xfrm>
          <a:prstGeom prst="ellipse">
            <a:avLst/>
          </a:prstGeom>
          <a:solidFill>
            <a:srgbClr val="7FA08F"/>
          </a:solidFill>
          <a:ln/>
        </p:spPr>
        <p:txBody>
          <a:bodyPr/>
          <a:lstStyle/>
          <a:p>
            <a:endParaRPr lang="fr-FR"/>
          </a:p>
        </p:txBody>
      </p:sp>
      <p:sp>
        <p:nvSpPr>
          <p:cNvPr id="18" name="Text 15"/>
          <p:cNvSpPr txBox="1"/>
          <p:nvPr/>
        </p:nvSpPr>
        <p:spPr>
          <a:xfrm>
            <a:off x="7863840" y="3008376"/>
            <a:ext cx="2286000" cy="475488"/>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Clusters</a:t>
            </a:r>
            <a:endParaRPr lang="en-US" sz="1250" dirty="0"/>
          </a:p>
        </p:txBody>
      </p:sp>
      <p:sp>
        <p:nvSpPr>
          <p:cNvPr id="19" name="Text 16"/>
          <p:cNvSpPr txBox="1"/>
          <p:nvPr/>
        </p:nvSpPr>
        <p:spPr>
          <a:xfrm>
            <a:off x="10058400" y="3008376"/>
            <a:ext cx="1371600" cy="475488"/>
          </a:xfrm>
          <a:prstGeom prst="rect">
            <a:avLst/>
          </a:prstGeom>
          <a:noFill/>
          <a:ln/>
        </p:spPr>
        <p:txBody>
          <a:bodyPr wrap="square" lIns="0" tIns="0" rIns="0" bIns="0" rtlCol="0" anchor="ctr"/>
          <a:lstStyle/>
          <a:p>
            <a:pPr marL="0" indent="0" algn="r">
              <a:buNone/>
            </a:pPr>
            <a:r>
              <a:rPr lang="en-US" sz="1250" b="1" dirty="0">
                <a:solidFill>
                  <a:srgbClr val="7FA08F"/>
                </a:solidFill>
                <a:latin typeface="Calibri" pitchFamily="34" charset="0"/>
                <a:ea typeface="Calibri" pitchFamily="34" charset="-122"/>
                <a:cs typeface="Calibri" pitchFamily="34" charset="-120"/>
              </a:rPr>
              <a:t>56,2 %</a:t>
            </a:r>
            <a:endParaRPr lang="en-US" sz="1250" dirty="0"/>
          </a:p>
        </p:txBody>
      </p:sp>
      <p:sp>
        <p:nvSpPr>
          <p:cNvPr id="20" name="Shape 17"/>
          <p:cNvSpPr/>
          <p:nvPr/>
        </p:nvSpPr>
        <p:spPr>
          <a:xfrm>
            <a:off x="7406640" y="3575304"/>
            <a:ext cx="4187952" cy="475488"/>
          </a:xfrm>
          <a:prstGeom prst="rect">
            <a:avLst/>
          </a:prstGeom>
          <a:solidFill>
            <a:srgbClr val="F2EFEC"/>
          </a:solidFill>
          <a:ln w="12700">
            <a:solidFill>
              <a:srgbClr val="F2EFEC"/>
            </a:solidFill>
            <a:prstDash val="solid"/>
          </a:ln>
        </p:spPr>
        <p:txBody>
          <a:bodyPr/>
          <a:lstStyle/>
          <a:p>
            <a:endParaRPr lang="fr-FR"/>
          </a:p>
        </p:txBody>
      </p:sp>
      <p:sp>
        <p:nvSpPr>
          <p:cNvPr id="21" name="Shape 18"/>
          <p:cNvSpPr/>
          <p:nvPr/>
        </p:nvSpPr>
        <p:spPr>
          <a:xfrm>
            <a:off x="7589520" y="3730752"/>
            <a:ext cx="164592" cy="164592"/>
          </a:xfrm>
          <a:prstGeom prst="ellipse">
            <a:avLst/>
          </a:prstGeom>
          <a:solidFill>
            <a:srgbClr val="5C5550"/>
          </a:solidFill>
          <a:ln/>
        </p:spPr>
        <p:txBody>
          <a:bodyPr/>
          <a:lstStyle/>
          <a:p>
            <a:endParaRPr lang="fr-FR"/>
          </a:p>
        </p:txBody>
      </p:sp>
      <p:sp>
        <p:nvSpPr>
          <p:cNvPr id="22" name="Text 19"/>
          <p:cNvSpPr txBox="1"/>
          <p:nvPr/>
        </p:nvSpPr>
        <p:spPr>
          <a:xfrm>
            <a:off x="7863840" y="3575304"/>
            <a:ext cx="2286000" cy="475488"/>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Démographie</a:t>
            </a:r>
            <a:endParaRPr lang="en-US" sz="1250" dirty="0"/>
          </a:p>
        </p:txBody>
      </p:sp>
      <p:sp>
        <p:nvSpPr>
          <p:cNvPr id="23" name="Text 20"/>
          <p:cNvSpPr txBox="1"/>
          <p:nvPr/>
        </p:nvSpPr>
        <p:spPr>
          <a:xfrm>
            <a:off x="10058400" y="3575304"/>
            <a:ext cx="1371600" cy="475488"/>
          </a:xfrm>
          <a:prstGeom prst="rect">
            <a:avLst/>
          </a:prstGeom>
          <a:noFill/>
          <a:ln/>
        </p:spPr>
        <p:txBody>
          <a:bodyPr wrap="square" lIns="0" tIns="0" rIns="0" bIns="0" rtlCol="0" anchor="ctr"/>
          <a:lstStyle/>
          <a:p>
            <a:pPr marL="0" indent="0" algn="r">
              <a:buNone/>
            </a:pPr>
            <a:r>
              <a:rPr lang="en-US" sz="1250" b="1" dirty="0">
                <a:solidFill>
                  <a:srgbClr val="5C5550"/>
                </a:solidFill>
                <a:latin typeface="Calibri" pitchFamily="34" charset="0"/>
                <a:ea typeface="Calibri" pitchFamily="34" charset="-122"/>
                <a:cs typeface="Calibri" pitchFamily="34" charset="-120"/>
              </a:rPr>
              <a:t>8,1 %</a:t>
            </a:r>
            <a:endParaRPr lang="en-US" sz="1250" dirty="0"/>
          </a:p>
        </p:txBody>
      </p:sp>
      <p:sp>
        <p:nvSpPr>
          <p:cNvPr id="24" name="Shape 21"/>
          <p:cNvSpPr/>
          <p:nvPr/>
        </p:nvSpPr>
        <p:spPr>
          <a:xfrm>
            <a:off x="7406640" y="4142232"/>
            <a:ext cx="4187952" cy="475488"/>
          </a:xfrm>
          <a:prstGeom prst="rect">
            <a:avLst/>
          </a:prstGeom>
          <a:solidFill>
            <a:srgbClr val="F2EFEC"/>
          </a:solidFill>
          <a:ln w="12700">
            <a:solidFill>
              <a:srgbClr val="F2EFEC"/>
            </a:solidFill>
            <a:prstDash val="solid"/>
          </a:ln>
        </p:spPr>
        <p:txBody>
          <a:bodyPr/>
          <a:lstStyle/>
          <a:p>
            <a:endParaRPr lang="fr-FR"/>
          </a:p>
        </p:txBody>
      </p:sp>
      <p:sp>
        <p:nvSpPr>
          <p:cNvPr id="25" name="Shape 22"/>
          <p:cNvSpPr/>
          <p:nvPr/>
        </p:nvSpPr>
        <p:spPr>
          <a:xfrm>
            <a:off x="7589520" y="4297680"/>
            <a:ext cx="164592" cy="164592"/>
          </a:xfrm>
          <a:prstGeom prst="ellipse">
            <a:avLst/>
          </a:prstGeom>
          <a:solidFill>
            <a:srgbClr val="5C5550"/>
          </a:solidFill>
          <a:ln/>
        </p:spPr>
        <p:txBody>
          <a:bodyPr/>
          <a:lstStyle/>
          <a:p>
            <a:endParaRPr lang="fr-FR"/>
          </a:p>
        </p:txBody>
      </p:sp>
      <p:sp>
        <p:nvSpPr>
          <p:cNvPr id="26" name="Text 23"/>
          <p:cNvSpPr txBox="1"/>
          <p:nvPr/>
        </p:nvSpPr>
        <p:spPr>
          <a:xfrm>
            <a:off x="7863840" y="4142232"/>
            <a:ext cx="2286000" cy="475488"/>
          </a:xfrm>
          <a:prstGeom prst="rect">
            <a:avLst/>
          </a:prstGeom>
          <a:noFill/>
          <a:ln/>
        </p:spPr>
        <p:txBody>
          <a:bodyPr wrap="square" lIns="0" tIns="0" rIns="0" bIns="0" rtlCol="0" anchor="ctr"/>
          <a:lstStyle/>
          <a:p>
            <a:pPr marL="0" indent="0">
              <a:buNone/>
            </a:pPr>
            <a:r>
              <a:rPr lang="en-US" sz="1250" dirty="0">
                <a:solidFill>
                  <a:srgbClr val="241A15"/>
                </a:solidFill>
                <a:latin typeface="Calibri" pitchFamily="34" charset="0"/>
                <a:ea typeface="Calibri" pitchFamily="34" charset="-122"/>
                <a:cs typeface="Calibri" pitchFamily="34" charset="-120"/>
              </a:rPr>
              <a:t>Saisonnalité</a:t>
            </a:r>
            <a:endParaRPr lang="en-US" sz="1250" dirty="0"/>
          </a:p>
        </p:txBody>
      </p:sp>
      <p:sp>
        <p:nvSpPr>
          <p:cNvPr id="27" name="Text 24"/>
          <p:cNvSpPr txBox="1"/>
          <p:nvPr/>
        </p:nvSpPr>
        <p:spPr>
          <a:xfrm>
            <a:off x="10058400" y="4142232"/>
            <a:ext cx="1371600" cy="475488"/>
          </a:xfrm>
          <a:prstGeom prst="rect">
            <a:avLst/>
          </a:prstGeom>
          <a:noFill/>
          <a:ln/>
        </p:spPr>
        <p:txBody>
          <a:bodyPr wrap="square" lIns="0" tIns="0" rIns="0" bIns="0" rtlCol="0" anchor="ctr"/>
          <a:lstStyle/>
          <a:p>
            <a:pPr marL="0" indent="0" algn="r">
              <a:buNone/>
            </a:pPr>
            <a:r>
              <a:rPr lang="en-US" sz="1250" b="1" dirty="0">
                <a:solidFill>
                  <a:srgbClr val="5C5550"/>
                </a:solidFill>
                <a:latin typeface="Calibri" pitchFamily="34" charset="0"/>
                <a:ea typeface="Calibri" pitchFamily="34" charset="-122"/>
                <a:cs typeface="Calibri" pitchFamily="34" charset="-120"/>
              </a:rPr>
              <a:t>6,0 %</a:t>
            </a:r>
            <a:endParaRPr lang="en-US" sz="1250" dirty="0"/>
          </a:p>
        </p:txBody>
      </p:sp>
      <p:sp>
        <p:nvSpPr>
          <p:cNvPr id="28" name="Shape 25"/>
          <p:cNvSpPr/>
          <p:nvPr/>
        </p:nvSpPr>
        <p:spPr>
          <a:xfrm>
            <a:off x="7406640" y="4709160"/>
            <a:ext cx="4187952" cy="1207008"/>
          </a:xfrm>
          <a:prstGeom prst="rect">
            <a:avLst/>
          </a:prstGeom>
          <a:solidFill>
            <a:srgbClr val="241A15"/>
          </a:solidFill>
          <a:ln w="12700">
            <a:solidFill>
              <a:srgbClr val="241A15"/>
            </a:solidFill>
            <a:prstDash val="solid"/>
          </a:ln>
        </p:spPr>
        <p:txBody>
          <a:bodyPr/>
          <a:lstStyle/>
          <a:p>
            <a:endParaRPr lang="fr-FR"/>
          </a:p>
        </p:txBody>
      </p:sp>
      <p:sp>
        <p:nvSpPr>
          <p:cNvPr id="29" name="Text 26"/>
          <p:cNvSpPr txBox="1"/>
          <p:nvPr/>
        </p:nvSpPr>
        <p:spPr>
          <a:xfrm>
            <a:off x="7635240" y="4855464"/>
            <a:ext cx="3749040" cy="932688"/>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Les clusters portent 56 % du pouvoir prédictif. C'est ce chiffre qui nous a alertés : une variable aussi dominante méritait vérification. Elle était calculée sur toutes les années, test compris.</a:t>
            </a:r>
            <a:endParaRPr lang="en-US" sz="1150" dirty="0"/>
          </a:p>
        </p:txBody>
      </p:sp>
      <p:sp>
        <p:nvSpPr>
          <p:cNvPr id="30" name="Text 27"/>
          <p:cNvSpPr txBox="1"/>
          <p:nvPr/>
        </p:nvSpPr>
        <p:spPr>
          <a:xfrm>
            <a:off x="594360" y="5715000"/>
            <a:ext cx="6537960" cy="502920"/>
          </a:xfrm>
          <a:prstGeom prst="rect">
            <a:avLst/>
          </a:prstGeom>
          <a:noFill/>
          <a:ln/>
        </p:spPr>
        <p:txBody>
          <a:bodyPr wrap="square" lIns="0" tIns="0" rIns="0" bIns="0" rtlCol="0" anchor="ctr"/>
          <a:lstStyle/>
          <a:p>
            <a:pPr marL="0" indent="0">
              <a:buNone/>
            </a:pPr>
            <a:r>
              <a:rPr lang="en-US" sz="1050" i="1" dirty="0">
                <a:solidFill>
                  <a:srgbClr val="8E8681"/>
                </a:solidFill>
                <a:latin typeface="Calibri" pitchFamily="34" charset="0"/>
                <a:ea typeface="Calibri" pitchFamily="34" charset="-122"/>
                <a:cs typeface="Calibri" pitchFamily="34" charset="-120"/>
              </a:rPr>
              <a:t>Les totaux par famille dépassent 100 % : les variables sont corrélées, plusieurs colonnes portent le même signal. Deux variables non représentées, altitude_moy et mois_cos, obtiennent un score négatif : elles n'apportent que du bruit.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Prédire à une date précise</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 Aix-en-Provence, le 15 juin 2025 » — et non plus « en 2025 »</a:t>
            </a:r>
            <a:endParaRPr lang="en-US" sz="1400" dirty="0"/>
          </a:p>
        </p:txBody>
      </p:sp>
      <p:sp>
        <p:nvSpPr>
          <p:cNvPr id="6" name="Shape 4"/>
          <p:cNvSpPr/>
          <p:nvPr/>
        </p:nvSpPr>
        <p:spPr>
          <a:xfrm>
            <a:off x="594360" y="1463040"/>
            <a:ext cx="5394960" cy="2148840"/>
          </a:xfrm>
          <a:prstGeom prst="rect">
            <a:avLst/>
          </a:prstGeom>
          <a:solidFill>
            <a:srgbClr val="241A15"/>
          </a:solidFill>
          <a:ln w="12700">
            <a:solidFill>
              <a:srgbClr val="241A15"/>
            </a:solidFill>
            <a:prstDash val="solid"/>
          </a:ln>
        </p:spPr>
        <p:txBody>
          <a:bodyPr/>
          <a:lstStyle/>
          <a:p>
            <a:endParaRPr lang="fr-FR"/>
          </a:p>
        </p:txBody>
      </p:sp>
      <p:sp>
        <p:nvSpPr>
          <p:cNvPr id="7" name="Text 5"/>
          <p:cNvSpPr txBox="1"/>
          <p:nvPr/>
        </p:nvSpPr>
        <p:spPr>
          <a:xfrm>
            <a:off x="914400" y="1673352"/>
            <a:ext cx="4754880" cy="292608"/>
          </a:xfrm>
          <a:prstGeom prst="rect">
            <a:avLst/>
          </a:prstGeom>
          <a:noFill/>
          <a:ln/>
        </p:spPr>
        <p:txBody>
          <a:bodyPr wrap="square" lIns="0" tIns="0" rIns="0" bIns="0" rtlCol="0" anchor="ctr"/>
          <a:lstStyle/>
          <a:p>
            <a:pPr marL="0" indent="0">
              <a:buNone/>
            </a:pPr>
            <a:r>
              <a:rPr lang="en-US" sz="1350" b="1" dirty="0">
                <a:solidFill>
                  <a:srgbClr val="D9A196"/>
                </a:solidFill>
                <a:latin typeface="Calibri" pitchFamily="34" charset="0"/>
                <a:ea typeface="Calibri" pitchFamily="34" charset="-122"/>
                <a:cs typeface="Calibri" pitchFamily="34" charset="-120"/>
              </a:rPr>
              <a:t>Le mur : 242 millions de lignes</a:t>
            </a:r>
            <a:endParaRPr lang="en-US" sz="1350" dirty="0"/>
          </a:p>
        </p:txBody>
      </p:sp>
      <p:sp>
        <p:nvSpPr>
          <p:cNvPr id="8" name="Text 6"/>
          <p:cNvSpPr txBox="1"/>
          <p:nvPr/>
        </p:nvSpPr>
        <p:spPr>
          <a:xfrm>
            <a:off x="914400" y="2057400"/>
            <a:ext cx="4754880" cy="141732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Une ligne par commune et par jour sur vingt ans, c'est 34 863 × 365 × 19. Impossible à traiter sur une machine de bureau.</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On garde donc TOUS les cas suivis d'un feu, et seulement 4,7 % des autres, tirés au hasard. Puis on corrige la probabilité pour revenir au taux réel.</a:t>
            </a:r>
            <a:endParaRPr lang="en-US" sz="1250" dirty="0"/>
          </a:p>
        </p:txBody>
      </p:sp>
      <p:sp>
        <p:nvSpPr>
          <p:cNvPr id="9" name="Text 7"/>
          <p:cNvSpPr txBox="1"/>
          <p:nvPr/>
        </p:nvSpPr>
        <p:spPr>
          <a:xfrm>
            <a:off x="6446520" y="1463040"/>
            <a:ext cx="2468880" cy="868680"/>
          </a:xfrm>
          <a:prstGeom prst="rect">
            <a:avLst/>
          </a:prstGeom>
          <a:noFill/>
          <a:ln/>
        </p:spPr>
        <p:txBody>
          <a:bodyPr wrap="square" lIns="0" tIns="0" rIns="0" bIns="0" rtlCol="0" anchor="b"/>
          <a:lstStyle/>
          <a:p>
            <a:pPr marL="0" indent="0" algn="ctr">
              <a:buNone/>
            </a:pPr>
            <a:r>
              <a:rPr lang="en-US" sz="3000" b="1" dirty="0">
                <a:solidFill>
                  <a:srgbClr val="8E8681"/>
                </a:solidFill>
                <a:latin typeface="Cambria" pitchFamily="34" charset="0"/>
                <a:ea typeface="Cambria" pitchFamily="34" charset="-122"/>
                <a:cs typeface="Cambria" pitchFamily="34" charset="-120"/>
              </a:rPr>
              <a:t>242 M</a:t>
            </a:r>
            <a:endParaRPr lang="en-US" sz="3000" dirty="0"/>
          </a:p>
        </p:txBody>
      </p:sp>
      <p:sp>
        <p:nvSpPr>
          <p:cNvPr id="10" name="Text 8"/>
          <p:cNvSpPr txBox="1"/>
          <p:nvPr/>
        </p:nvSpPr>
        <p:spPr>
          <a:xfrm>
            <a:off x="6446520" y="2377440"/>
            <a:ext cx="246888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lignes théoriques</a:t>
            </a:r>
            <a:endParaRPr lang="en-US" sz="1150" dirty="0"/>
          </a:p>
        </p:txBody>
      </p:sp>
      <p:sp>
        <p:nvSpPr>
          <p:cNvPr id="11" name="Text 9"/>
          <p:cNvSpPr txBox="1"/>
          <p:nvPr/>
        </p:nvSpPr>
        <p:spPr>
          <a:xfrm>
            <a:off x="9144000" y="1463040"/>
            <a:ext cx="2468880" cy="868680"/>
          </a:xfrm>
          <a:prstGeom prst="rect">
            <a:avLst/>
          </a:prstGeom>
          <a:noFill/>
          <a:ln/>
        </p:spPr>
        <p:txBody>
          <a:bodyPr wrap="square" lIns="0" tIns="0" rIns="0" bIns="0" rtlCol="0" anchor="b"/>
          <a:lstStyle/>
          <a:p>
            <a:pPr marL="0" indent="0" algn="ctr">
              <a:buNone/>
            </a:pPr>
            <a:r>
              <a:rPr lang="en-US" sz="3000" b="1" dirty="0">
                <a:solidFill>
                  <a:srgbClr val="B85042"/>
                </a:solidFill>
                <a:latin typeface="Cambria" pitchFamily="34" charset="0"/>
                <a:ea typeface="Cambria" pitchFamily="34" charset="-122"/>
                <a:cs typeface="Cambria" pitchFamily="34" charset="-120"/>
              </a:rPr>
              <a:t>1,5 M</a:t>
            </a:r>
            <a:endParaRPr lang="en-US" sz="3000" dirty="0"/>
          </a:p>
        </p:txBody>
      </p:sp>
      <p:sp>
        <p:nvSpPr>
          <p:cNvPr id="12" name="Text 10"/>
          <p:cNvSpPr txBox="1"/>
          <p:nvPr/>
        </p:nvSpPr>
        <p:spPr>
          <a:xfrm>
            <a:off x="9144000" y="2377440"/>
            <a:ext cx="2468880" cy="566928"/>
          </a:xfrm>
          <a:prstGeom prst="rect">
            <a:avLst/>
          </a:prstGeom>
          <a:noFill/>
          <a:ln/>
        </p:spPr>
        <p:txBody>
          <a:bodyPr wrap="square" lIns="0" tIns="0" rIns="0" bIns="0" rtlCol="0" anchor="t"/>
          <a:lstStyle/>
          <a:p>
            <a:pPr marL="0" indent="0" algn="ctr">
              <a:buNone/>
            </a:pPr>
            <a:r>
              <a:rPr lang="en-US" sz="1150" dirty="0">
                <a:solidFill>
                  <a:srgbClr val="5C5550"/>
                </a:solidFill>
                <a:latin typeface="Calibri" pitchFamily="34" charset="0"/>
                <a:ea typeface="Calibri" pitchFamily="34" charset="-122"/>
                <a:cs typeface="Calibri" pitchFamily="34" charset="-120"/>
              </a:rPr>
              <a:t>lignes conservées</a:t>
            </a:r>
            <a:endParaRPr lang="en-US" sz="1150" dirty="0"/>
          </a:p>
          <a:p>
            <a:pPr marL="0" indent="0" algn="ctr">
              <a:buNone/>
            </a:pPr>
            <a:r>
              <a:rPr lang="en-US" sz="1150" dirty="0">
                <a:solidFill>
                  <a:srgbClr val="5C5550"/>
                </a:solidFill>
                <a:latin typeface="Calibri" pitchFamily="34" charset="0"/>
                <a:ea typeface="Calibri" pitchFamily="34" charset="-122"/>
                <a:cs typeface="Calibri" pitchFamily="34" charset="-120"/>
              </a:rPr>
              <a:t>sans perdre un seul feu</a:t>
            </a:r>
            <a:endParaRPr lang="en-US" sz="1150" dirty="0"/>
          </a:p>
        </p:txBody>
      </p:sp>
      <p:sp>
        <p:nvSpPr>
          <p:cNvPr id="13" name="Text 11"/>
          <p:cNvSpPr txBox="1"/>
          <p:nvPr/>
        </p:nvSpPr>
        <p:spPr>
          <a:xfrm>
            <a:off x="6446520" y="3017520"/>
            <a:ext cx="5166360" cy="59436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22 variables : activité des 7 / 30 / 90 / 365 derniers jours · jours depuis le dernier feu · saison au jour près · densité de feux dans un rayon de 20 km</a:t>
            </a:r>
            <a:endParaRPr lang="en-US" sz="1150" dirty="0"/>
          </a:p>
        </p:txBody>
      </p:sp>
      <p:sp>
        <p:nvSpPr>
          <p:cNvPr id="14" name="Text 12"/>
          <p:cNvSpPr txBox="1"/>
          <p:nvPr/>
        </p:nvSpPr>
        <p:spPr>
          <a:xfrm>
            <a:off x="594360" y="3840480"/>
            <a:ext cx="5486400" cy="310896"/>
          </a:xfrm>
          <a:prstGeom prst="rect">
            <a:avLst/>
          </a:prstGeom>
          <a:noFill/>
          <a:ln/>
        </p:spPr>
        <p:txBody>
          <a:bodyPr wrap="square" lIns="0" tIns="0" rIns="0" bIns="0" rtlCol="0" anchor="ctr"/>
          <a:lstStyle/>
          <a:p>
            <a:pPr marL="0" indent="0">
              <a:buNone/>
            </a:pPr>
            <a:r>
              <a:rPr lang="en-US" sz="1350" b="1" dirty="0">
                <a:solidFill>
                  <a:srgbClr val="241A15"/>
                </a:solidFill>
                <a:latin typeface="Calibri" pitchFamily="34" charset="0"/>
                <a:ea typeface="Calibri" pitchFamily="34" charset="-122"/>
                <a:cs typeface="Calibri" pitchFamily="34" charset="-120"/>
              </a:rPr>
              <a:t>Ce que ça donne pour Aix-en-Provence</a:t>
            </a:r>
            <a:endParaRPr lang="en-US" sz="1350" dirty="0"/>
          </a:p>
        </p:txBody>
      </p:sp>
      <p:graphicFrame>
        <p:nvGraphicFramePr>
          <p:cNvPr id="15" name="Chart 0"/>
          <p:cNvGraphicFramePr/>
          <p:nvPr/>
        </p:nvGraphicFramePr>
        <p:xfrm>
          <a:off x="594360" y="4206240"/>
          <a:ext cx="54864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6446520" y="3840480"/>
            <a:ext cx="5120640" cy="310896"/>
          </a:xfrm>
          <a:prstGeom prst="rect">
            <a:avLst/>
          </a:prstGeom>
          <a:noFill/>
          <a:ln/>
        </p:spPr>
        <p:txBody>
          <a:bodyPr wrap="square" lIns="0" tIns="0" rIns="0" bIns="0" rtlCol="0" anchor="ctr"/>
          <a:lstStyle/>
          <a:p>
            <a:pPr marL="0" indent="0">
              <a:buNone/>
            </a:pPr>
            <a:r>
              <a:rPr lang="en-US" sz="1350" b="1" dirty="0">
                <a:solidFill>
                  <a:srgbClr val="241A15"/>
                </a:solidFill>
                <a:latin typeface="Calibri" pitchFamily="34" charset="0"/>
                <a:ea typeface="Calibri" pitchFamily="34" charset="-122"/>
                <a:cs typeface="Calibri" pitchFamily="34" charset="-120"/>
              </a:rPr>
              <a:t>Le voisinage remplace le cluster — sans fuite</a:t>
            </a:r>
            <a:endParaRPr lang="en-US" sz="1350" dirty="0"/>
          </a:p>
        </p:txBody>
      </p:sp>
      <p:sp>
        <p:nvSpPr>
          <p:cNvPr id="17" name="Text 14"/>
          <p:cNvSpPr txBox="1"/>
          <p:nvPr/>
        </p:nvSpPr>
        <p:spPr>
          <a:xfrm>
            <a:off x="6858000" y="4251960"/>
            <a:ext cx="1828800" cy="256032"/>
          </a:xfrm>
          <a:prstGeom prst="rect">
            <a:avLst/>
          </a:prstGeom>
          <a:noFill/>
          <a:ln/>
        </p:spPr>
        <p:txBody>
          <a:bodyPr wrap="square" lIns="0" tIns="0" rIns="0" bIns="0" rtlCol="0" anchor="ctr"/>
          <a:lstStyle/>
          <a:p>
            <a:pPr marL="0" indent="0" algn="l">
              <a:buNone/>
            </a:pPr>
            <a:r>
              <a:rPr lang="en-US" sz="1050" b="1" dirty="0">
                <a:solidFill>
                  <a:srgbClr val="5C5550"/>
                </a:solidFill>
                <a:latin typeface="Calibri" pitchFamily="34" charset="0"/>
                <a:ea typeface="Calibri" pitchFamily="34" charset="-122"/>
                <a:cs typeface="Calibri" pitchFamily="34" charset="-120"/>
              </a:rPr>
              <a:t>jeu de variables</a:t>
            </a:r>
            <a:endParaRPr lang="en-US" sz="1050" dirty="0"/>
          </a:p>
        </p:txBody>
      </p:sp>
      <p:sp>
        <p:nvSpPr>
          <p:cNvPr id="18" name="Text 15"/>
          <p:cNvSpPr txBox="1"/>
          <p:nvPr/>
        </p:nvSpPr>
        <p:spPr>
          <a:xfrm>
            <a:off x="8686800" y="4251960"/>
            <a:ext cx="822960" cy="256032"/>
          </a:xfrm>
          <a:prstGeom prst="rect">
            <a:avLst/>
          </a:prstGeom>
          <a:noFill/>
          <a:ln/>
        </p:spPr>
        <p:txBody>
          <a:bodyPr wrap="square" lIns="0" tIns="0" rIns="0" bIns="0" rtlCol="0" anchor="ctr"/>
          <a:lstStyle/>
          <a:p>
            <a:pPr marL="0" indent="0" algn="r">
              <a:buNone/>
            </a:pPr>
            <a:r>
              <a:rPr lang="en-US" sz="1050" b="1" dirty="0">
                <a:solidFill>
                  <a:srgbClr val="5C5550"/>
                </a:solidFill>
                <a:latin typeface="Calibri" pitchFamily="34" charset="0"/>
                <a:ea typeface="Calibri" pitchFamily="34" charset="-122"/>
                <a:cs typeface="Calibri" pitchFamily="34" charset="-120"/>
              </a:rPr>
              <a:t>PR-AUC</a:t>
            </a:r>
            <a:endParaRPr lang="en-US" sz="1050" dirty="0"/>
          </a:p>
        </p:txBody>
      </p:sp>
      <p:sp>
        <p:nvSpPr>
          <p:cNvPr id="19" name="Text 16"/>
          <p:cNvSpPr txBox="1"/>
          <p:nvPr/>
        </p:nvSpPr>
        <p:spPr>
          <a:xfrm>
            <a:off x="9555480" y="4251960"/>
            <a:ext cx="822960" cy="256032"/>
          </a:xfrm>
          <a:prstGeom prst="rect">
            <a:avLst/>
          </a:prstGeom>
          <a:noFill/>
          <a:ln/>
        </p:spPr>
        <p:txBody>
          <a:bodyPr wrap="square" lIns="0" tIns="0" rIns="0" bIns="0" rtlCol="0" anchor="ctr"/>
          <a:lstStyle/>
          <a:p>
            <a:pPr marL="0" indent="0" algn="r">
              <a:buNone/>
            </a:pPr>
            <a:r>
              <a:rPr lang="en-US" sz="1050" b="1" dirty="0">
                <a:solidFill>
                  <a:srgbClr val="5C5550"/>
                </a:solidFill>
                <a:latin typeface="Calibri" pitchFamily="34" charset="0"/>
                <a:ea typeface="Calibri" pitchFamily="34" charset="-122"/>
                <a:cs typeface="Calibri" pitchFamily="34" charset="-120"/>
              </a:rPr>
              <a:t>précision</a:t>
            </a:r>
            <a:endParaRPr lang="en-US" sz="1050" dirty="0"/>
          </a:p>
        </p:txBody>
      </p:sp>
      <p:sp>
        <p:nvSpPr>
          <p:cNvPr id="20" name="Shape 17"/>
          <p:cNvSpPr/>
          <p:nvPr/>
        </p:nvSpPr>
        <p:spPr>
          <a:xfrm>
            <a:off x="6446520" y="4553712"/>
            <a:ext cx="5120640" cy="530352"/>
          </a:xfrm>
          <a:prstGeom prst="rect">
            <a:avLst/>
          </a:prstGeom>
          <a:solidFill>
            <a:srgbClr val="FFFFFF"/>
          </a:solidFill>
          <a:ln w="12700">
            <a:solidFill>
              <a:srgbClr val="FFFFFF"/>
            </a:solidFill>
            <a:prstDash val="solid"/>
          </a:ln>
        </p:spPr>
        <p:txBody>
          <a:bodyPr/>
          <a:lstStyle/>
          <a:p>
            <a:endParaRPr lang="fr-FR"/>
          </a:p>
        </p:txBody>
      </p:sp>
      <p:sp>
        <p:nvSpPr>
          <p:cNvPr id="21" name="Shape 18"/>
          <p:cNvSpPr/>
          <p:nvPr/>
        </p:nvSpPr>
        <p:spPr>
          <a:xfrm>
            <a:off x="6601968" y="4736592"/>
            <a:ext cx="164592" cy="164592"/>
          </a:xfrm>
          <a:prstGeom prst="ellipse">
            <a:avLst/>
          </a:prstGeom>
          <a:solidFill>
            <a:srgbClr val="8E8681"/>
          </a:solidFill>
          <a:ln/>
        </p:spPr>
        <p:txBody>
          <a:bodyPr/>
          <a:lstStyle/>
          <a:p>
            <a:endParaRPr lang="fr-FR"/>
          </a:p>
        </p:txBody>
      </p:sp>
      <p:sp>
        <p:nvSpPr>
          <p:cNvPr id="22" name="Text 19"/>
          <p:cNvSpPr txBox="1"/>
          <p:nvPr/>
        </p:nvSpPr>
        <p:spPr>
          <a:xfrm>
            <a:off x="6858000" y="4553712"/>
            <a:ext cx="1828800" cy="530352"/>
          </a:xfrm>
          <a:prstGeom prst="rect">
            <a:avLst/>
          </a:prstGeom>
          <a:noFill/>
          <a:ln/>
        </p:spPr>
        <p:txBody>
          <a:bodyPr wrap="square" lIns="0" tIns="0" rIns="0" bIns="0" rtlCol="0" anchor="ctr"/>
          <a:lstStyle/>
          <a:p>
            <a:pPr marL="0" indent="0">
              <a:buNone/>
            </a:pPr>
            <a:r>
              <a:rPr lang="en-US" sz="1200" dirty="0">
                <a:solidFill>
                  <a:srgbClr val="241A15"/>
                </a:solidFill>
                <a:latin typeface="Calibri" pitchFamily="34" charset="0"/>
                <a:ea typeface="Calibri" pitchFamily="34" charset="-122"/>
                <a:cs typeface="Calibri" pitchFamily="34" charset="-120"/>
              </a:rPr>
              <a:t>avec les clusters</a:t>
            </a:r>
            <a:endParaRPr lang="en-US" sz="1200" dirty="0"/>
          </a:p>
        </p:txBody>
      </p:sp>
      <p:sp>
        <p:nvSpPr>
          <p:cNvPr id="23" name="Text 20"/>
          <p:cNvSpPr txBox="1"/>
          <p:nvPr/>
        </p:nvSpPr>
        <p:spPr>
          <a:xfrm>
            <a:off x="8686800" y="4553712"/>
            <a:ext cx="822960" cy="530352"/>
          </a:xfrm>
          <a:prstGeom prst="rect">
            <a:avLst/>
          </a:prstGeom>
          <a:noFill/>
          <a:ln/>
        </p:spPr>
        <p:txBody>
          <a:bodyPr wrap="square" lIns="0" tIns="0" rIns="0" bIns="0" rtlCol="0" anchor="ctr"/>
          <a:lstStyle/>
          <a:p>
            <a:pPr marL="0" indent="0" algn="r">
              <a:buNone/>
            </a:pPr>
            <a:r>
              <a:rPr lang="en-US" sz="1200" dirty="0">
                <a:solidFill>
                  <a:srgbClr val="241A15"/>
                </a:solidFill>
                <a:latin typeface="Calibri" pitchFamily="34" charset="0"/>
                <a:ea typeface="Calibri" pitchFamily="34" charset="-122"/>
                <a:cs typeface="Calibri" pitchFamily="34" charset="-120"/>
              </a:rPr>
              <a:t>0,487</a:t>
            </a:r>
            <a:endParaRPr lang="en-US" sz="1200" dirty="0"/>
          </a:p>
        </p:txBody>
      </p:sp>
      <p:sp>
        <p:nvSpPr>
          <p:cNvPr id="24" name="Text 21"/>
          <p:cNvSpPr txBox="1"/>
          <p:nvPr/>
        </p:nvSpPr>
        <p:spPr>
          <a:xfrm>
            <a:off x="9555480" y="4553712"/>
            <a:ext cx="822960" cy="530352"/>
          </a:xfrm>
          <a:prstGeom prst="rect">
            <a:avLst/>
          </a:prstGeom>
          <a:noFill/>
          <a:ln/>
        </p:spPr>
        <p:txBody>
          <a:bodyPr wrap="square" lIns="0" tIns="0" rIns="0" bIns="0" rtlCol="0" anchor="ctr"/>
          <a:lstStyle/>
          <a:p>
            <a:pPr marL="0" indent="0" algn="r">
              <a:buNone/>
            </a:pPr>
            <a:r>
              <a:rPr lang="en-US" sz="1200" dirty="0">
                <a:solidFill>
                  <a:srgbClr val="241A15"/>
                </a:solidFill>
                <a:latin typeface="Calibri" pitchFamily="34" charset="0"/>
                <a:ea typeface="Calibri" pitchFamily="34" charset="-122"/>
                <a:cs typeface="Calibri" pitchFamily="34" charset="-120"/>
              </a:rPr>
              <a:t>54,2 %</a:t>
            </a:r>
            <a:endParaRPr lang="en-US" sz="1200" dirty="0"/>
          </a:p>
        </p:txBody>
      </p:sp>
      <p:sp>
        <p:nvSpPr>
          <p:cNvPr id="25" name="Text 22"/>
          <p:cNvSpPr txBox="1"/>
          <p:nvPr/>
        </p:nvSpPr>
        <p:spPr>
          <a:xfrm>
            <a:off x="10469880" y="4553712"/>
            <a:ext cx="1051560" cy="530352"/>
          </a:xfrm>
          <a:prstGeom prst="rect">
            <a:avLst/>
          </a:prstGeom>
          <a:noFill/>
          <a:ln/>
        </p:spPr>
        <p:txBody>
          <a:bodyPr wrap="square" lIns="0" tIns="0" rIns="0" bIns="0" rtlCol="0" anchor="ctr"/>
          <a:lstStyle/>
          <a:p>
            <a:pPr marL="0" indent="0">
              <a:buNone/>
            </a:pPr>
            <a:r>
              <a:rPr lang="en-US" sz="850" dirty="0">
                <a:solidFill>
                  <a:srgbClr val="8E8681"/>
                </a:solidFill>
                <a:latin typeface="Calibri" pitchFamily="34" charset="0"/>
                <a:ea typeface="Calibri" pitchFamily="34" charset="-122"/>
                <a:cs typeface="Calibri" pitchFamily="34" charset="-120"/>
              </a:rPr>
              <a:t>fuite : DBSCAN voit le test</a:t>
            </a:r>
            <a:endParaRPr lang="en-US" sz="850" dirty="0"/>
          </a:p>
        </p:txBody>
      </p:sp>
      <p:sp>
        <p:nvSpPr>
          <p:cNvPr id="26" name="Shape 23"/>
          <p:cNvSpPr/>
          <p:nvPr/>
        </p:nvSpPr>
        <p:spPr>
          <a:xfrm>
            <a:off x="6446520" y="5157216"/>
            <a:ext cx="5120640" cy="530352"/>
          </a:xfrm>
          <a:prstGeom prst="rect">
            <a:avLst/>
          </a:prstGeom>
          <a:solidFill>
            <a:srgbClr val="FFFFFF"/>
          </a:solidFill>
          <a:ln w="12700">
            <a:solidFill>
              <a:srgbClr val="FFFFFF"/>
            </a:solidFill>
            <a:prstDash val="solid"/>
          </a:ln>
        </p:spPr>
        <p:txBody>
          <a:bodyPr/>
          <a:lstStyle/>
          <a:p>
            <a:endParaRPr lang="fr-FR"/>
          </a:p>
        </p:txBody>
      </p:sp>
      <p:sp>
        <p:nvSpPr>
          <p:cNvPr id="27" name="Shape 24"/>
          <p:cNvSpPr/>
          <p:nvPr/>
        </p:nvSpPr>
        <p:spPr>
          <a:xfrm>
            <a:off x="6601968" y="5340096"/>
            <a:ext cx="164592" cy="164592"/>
          </a:xfrm>
          <a:prstGeom prst="ellipse">
            <a:avLst/>
          </a:prstGeom>
          <a:solidFill>
            <a:srgbClr val="8E8681"/>
          </a:solidFill>
          <a:ln/>
        </p:spPr>
        <p:txBody>
          <a:bodyPr/>
          <a:lstStyle/>
          <a:p>
            <a:endParaRPr lang="fr-FR"/>
          </a:p>
        </p:txBody>
      </p:sp>
      <p:sp>
        <p:nvSpPr>
          <p:cNvPr id="28" name="Text 25"/>
          <p:cNvSpPr txBox="1"/>
          <p:nvPr/>
        </p:nvSpPr>
        <p:spPr>
          <a:xfrm>
            <a:off x="6858000" y="5157216"/>
            <a:ext cx="1828800" cy="530352"/>
          </a:xfrm>
          <a:prstGeom prst="rect">
            <a:avLst/>
          </a:prstGeom>
          <a:noFill/>
          <a:ln/>
        </p:spPr>
        <p:txBody>
          <a:bodyPr wrap="square" lIns="0" tIns="0" rIns="0" bIns="0" rtlCol="0" anchor="ctr"/>
          <a:lstStyle/>
          <a:p>
            <a:pPr marL="0" indent="0">
              <a:buNone/>
            </a:pPr>
            <a:r>
              <a:rPr lang="en-US" sz="1200" dirty="0">
                <a:solidFill>
                  <a:srgbClr val="241A15"/>
                </a:solidFill>
                <a:latin typeface="Calibri" pitchFamily="34" charset="0"/>
                <a:ea typeface="Calibri" pitchFamily="34" charset="-122"/>
                <a:cs typeface="Calibri" pitchFamily="34" charset="-120"/>
              </a:rPr>
              <a:t>sans les clusters</a:t>
            </a:r>
            <a:endParaRPr lang="en-US" sz="1200" dirty="0"/>
          </a:p>
        </p:txBody>
      </p:sp>
      <p:sp>
        <p:nvSpPr>
          <p:cNvPr id="29" name="Text 26"/>
          <p:cNvSpPr txBox="1"/>
          <p:nvPr/>
        </p:nvSpPr>
        <p:spPr>
          <a:xfrm>
            <a:off x="8686800" y="5157216"/>
            <a:ext cx="822960" cy="530352"/>
          </a:xfrm>
          <a:prstGeom prst="rect">
            <a:avLst/>
          </a:prstGeom>
          <a:noFill/>
          <a:ln/>
        </p:spPr>
        <p:txBody>
          <a:bodyPr wrap="square" lIns="0" tIns="0" rIns="0" bIns="0" rtlCol="0" anchor="ctr"/>
          <a:lstStyle/>
          <a:p>
            <a:pPr marL="0" indent="0" algn="r">
              <a:buNone/>
            </a:pPr>
            <a:r>
              <a:rPr lang="en-US" sz="1200" dirty="0">
                <a:solidFill>
                  <a:srgbClr val="241A15"/>
                </a:solidFill>
                <a:latin typeface="Calibri" pitchFamily="34" charset="0"/>
                <a:ea typeface="Calibri" pitchFamily="34" charset="-122"/>
                <a:cs typeface="Calibri" pitchFamily="34" charset="-120"/>
              </a:rPr>
              <a:t>0,480</a:t>
            </a:r>
            <a:endParaRPr lang="en-US" sz="1200" dirty="0"/>
          </a:p>
        </p:txBody>
      </p:sp>
      <p:sp>
        <p:nvSpPr>
          <p:cNvPr id="30" name="Text 27"/>
          <p:cNvSpPr txBox="1"/>
          <p:nvPr/>
        </p:nvSpPr>
        <p:spPr>
          <a:xfrm>
            <a:off x="9555480" y="5157216"/>
            <a:ext cx="822960" cy="530352"/>
          </a:xfrm>
          <a:prstGeom prst="rect">
            <a:avLst/>
          </a:prstGeom>
          <a:noFill/>
          <a:ln/>
        </p:spPr>
        <p:txBody>
          <a:bodyPr wrap="square" lIns="0" tIns="0" rIns="0" bIns="0" rtlCol="0" anchor="ctr"/>
          <a:lstStyle/>
          <a:p>
            <a:pPr marL="0" indent="0" algn="r">
              <a:buNone/>
            </a:pPr>
            <a:r>
              <a:rPr lang="en-US" sz="1200" dirty="0">
                <a:solidFill>
                  <a:srgbClr val="241A15"/>
                </a:solidFill>
                <a:latin typeface="Calibri" pitchFamily="34" charset="0"/>
                <a:ea typeface="Calibri" pitchFamily="34" charset="-122"/>
                <a:cs typeface="Calibri" pitchFamily="34" charset="-120"/>
              </a:rPr>
              <a:t>54,4 %</a:t>
            </a:r>
            <a:endParaRPr lang="en-US" sz="1200" dirty="0"/>
          </a:p>
        </p:txBody>
      </p:sp>
      <p:sp>
        <p:nvSpPr>
          <p:cNvPr id="31" name="Text 28"/>
          <p:cNvSpPr txBox="1"/>
          <p:nvPr/>
        </p:nvSpPr>
        <p:spPr>
          <a:xfrm>
            <a:off x="10469880" y="5157216"/>
            <a:ext cx="1051560" cy="530352"/>
          </a:xfrm>
          <a:prstGeom prst="rect">
            <a:avLst/>
          </a:prstGeom>
          <a:noFill/>
          <a:ln/>
        </p:spPr>
        <p:txBody>
          <a:bodyPr wrap="square" lIns="0" tIns="0" rIns="0" bIns="0" rtlCol="0" anchor="ctr"/>
          <a:lstStyle/>
          <a:p>
            <a:pPr marL="0" indent="0">
              <a:buNone/>
            </a:pPr>
            <a:r>
              <a:rPr lang="en-US" sz="850" dirty="0">
                <a:solidFill>
                  <a:srgbClr val="8E8681"/>
                </a:solidFill>
                <a:latin typeface="Calibri" pitchFamily="34" charset="0"/>
                <a:ea typeface="Calibri" pitchFamily="34" charset="-122"/>
                <a:cs typeface="Calibri" pitchFamily="34" charset="-120"/>
              </a:rPr>
              <a:t>on perd un peu</a:t>
            </a:r>
            <a:endParaRPr lang="en-US" sz="850" dirty="0"/>
          </a:p>
        </p:txBody>
      </p:sp>
      <p:sp>
        <p:nvSpPr>
          <p:cNvPr id="32" name="Shape 29"/>
          <p:cNvSpPr/>
          <p:nvPr/>
        </p:nvSpPr>
        <p:spPr>
          <a:xfrm>
            <a:off x="6446520" y="5760720"/>
            <a:ext cx="5120640" cy="530352"/>
          </a:xfrm>
          <a:prstGeom prst="rect">
            <a:avLst/>
          </a:prstGeom>
          <a:solidFill>
            <a:srgbClr val="F2EFEC"/>
          </a:solidFill>
          <a:ln w="12700">
            <a:solidFill>
              <a:srgbClr val="F2EFEC"/>
            </a:solidFill>
            <a:prstDash val="solid"/>
          </a:ln>
        </p:spPr>
        <p:txBody>
          <a:bodyPr/>
          <a:lstStyle/>
          <a:p>
            <a:endParaRPr lang="fr-FR"/>
          </a:p>
        </p:txBody>
      </p:sp>
      <p:sp>
        <p:nvSpPr>
          <p:cNvPr id="33" name="Shape 30"/>
          <p:cNvSpPr/>
          <p:nvPr/>
        </p:nvSpPr>
        <p:spPr>
          <a:xfrm>
            <a:off x="6601968" y="5943600"/>
            <a:ext cx="164592" cy="164592"/>
          </a:xfrm>
          <a:prstGeom prst="ellipse">
            <a:avLst/>
          </a:prstGeom>
          <a:solidFill>
            <a:srgbClr val="7FA08F"/>
          </a:solidFill>
          <a:ln/>
        </p:spPr>
        <p:txBody>
          <a:bodyPr/>
          <a:lstStyle/>
          <a:p>
            <a:endParaRPr lang="fr-FR"/>
          </a:p>
        </p:txBody>
      </p:sp>
      <p:sp>
        <p:nvSpPr>
          <p:cNvPr id="34" name="Text 31"/>
          <p:cNvSpPr txBox="1"/>
          <p:nvPr/>
        </p:nvSpPr>
        <p:spPr>
          <a:xfrm>
            <a:off x="6858000" y="5760720"/>
            <a:ext cx="1828800" cy="530352"/>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voisinage 20 km</a:t>
            </a:r>
            <a:endParaRPr lang="en-US" sz="1200" dirty="0"/>
          </a:p>
        </p:txBody>
      </p:sp>
      <p:sp>
        <p:nvSpPr>
          <p:cNvPr id="35" name="Text 32"/>
          <p:cNvSpPr txBox="1"/>
          <p:nvPr/>
        </p:nvSpPr>
        <p:spPr>
          <a:xfrm>
            <a:off x="8686800" y="5760720"/>
            <a:ext cx="822960" cy="530352"/>
          </a:xfrm>
          <a:prstGeom prst="rect">
            <a:avLst/>
          </a:prstGeom>
          <a:noFill/>
          <a:ln/>
        </p:spPr>
        <p:txBody>
          <a:bodyPr wrap="square" lIns="0" tIns="0" rIns="0" bIns="0" rtlCol="0" anchor="ctr"/>
          <a:lstStyle/>
          <a:p>
            <a:pPr marL="0" indent="0" algn="r">
              <a:buNone/>
            </a:pPr>
            <a:r>
              <a:rPr lang="en-US" sz="1200" b="1" dirty="0">
                <a:solidFill>
                  <a:srgbClr val="241A15"/>
                </a:solidFill>
                <a:latin typeface="Calibri" pitchFamily="34" charset="0"/>
                <a:ea typeface="Calibri" pitchFamily="34" charset="-122"/>
                <a:cs typeface="Calibri" pitchFamily="34" charset="-120"/>
              </a:rPr>
              <a:t>0,486</a:t>
            </a:r>
            <a:endParaRPr lang="en-US" sz="1200" dirty="0"/>
          </a:p>
        </p:txBody>
      </p:sp>
      <p:sp>
        <p:nvSpPr>
          <p:cNvPr id="36" name="Text 33"/>
          <p:cNvSpPr txBox="1"/>
          <p:nvPr/>
        </p:nvSpPr>
        <p:spPr>
          <a:xfrm>
            <a:off x="9555480" y="5760720"/>
            <a:ext cx="822960" cy="530352"/>
          </a:xfrm>
          <a:prstGeom prst="rect">
            <a:avLst/>
          </a:prstGeom>
          <a:noFill/>
          <a:ln/>
        </p:spPr>
        <p:txBody>
          <a:bodyPr wrap="square" lIns="0" tIns="0" rIns="0" bIns="0" rtlCol="0" anchor="ctr"/>
          <a:lstStyle/>
          <a:p>
            <a:pPr marL="0" indent="0" algn="r">
              <a:buNone/>
            </a:pPr>
            <a:r>
              <a:rPr lang="en-US" sz="1200" b="1" dirty="0">
                <a:solidFill>
                  <a:srgbClr val="7FA08F"/>
                </a:solidFill>
                <a:latin typeface="Calibri" pitchFamily="34" charset="0"/>
                <a:ea typeface="Calibri" pitchFamily="34" charset="-122"/>
                <a:cs typeface="Calibri" pitchFamily="34" charset="-120"/>
              </a:rPr>
              <a:t>55,6 %</a:t>
            </a:r>
            <a:endParaRPr lang="en-US" sz="1200" dirty="0"/>
          </a:p>
        </p:txBody>
      </p:sp>
      <p:sp>
        <p:nvSpPr>
          <p:cNvPr id="37" name="Text 34"/>
          <p:cNvSpPr txBox="1"/>
          <p:nvPr/>
        </p:nvSpPr>
        <p:spPr>
          <a:xfrm>
            <a:off x="10469880" y="5760720"/>
            <a:ext cx="1051560" cy="530352"/>
          </a:xfrm>
          <a:prstGeom prst="rect">
            <a:avLst/>
          </a:prstGeom>
          <a:noFill/>
          <a:ln/>
        </p:spPr>
        <p:txBody>
          <a:bodyPr wrap="square" lIns="0" tIns="0" rIns="0" bIns="0" rtlCol="0" anchor="ctr"/>
          <a:lstStyle/>
          <a:p>
            <a:pPr marL="0" indent="0">
              <a:buNone/>
            </a:pPr>
            <a:r>
              <a:rPr lang="en-US" sz="850" dirty="0">
                <a:solidFill>
                  <a:srgbClr val="8E8681"/>
                </a:solidFill>
                <a:latin typeface="Calibri" pitchFamily="34" charset="0"/>
                <a:ea typeface="Calibri" pitchFamily="34" charset="-122"/>
                <a:cs typeface="Calibri" pitchFamily="34" charset="-120"/>
              </a:rPr>
              <a:t>calculé sur le passé seul</a:t>
            </a:r>
            <a:endParaRPr lang="en-US" sz="850" dirty="0"/>
          </a:p>
        </p:txBody>
      </p:sp>
      <p:sp>
        <p:nvSpPr>
          <p:cNvPr id="38" name="Text 35"/>
          <p:cNvSpPr txBox="1"/>
          <p:nvPr/>
        </p:nvSpPr>
        <p:spPr>
          <a:xfrm>
            <a:off x="6446520" y="6400800"/>
            <a:ext cx="5120640" cy="457200"/>
          </a:xfrm>
          <a:prstGeom prst="rect">
            <a:avLst/>
          </a:prstGeom>
          <a:noFill/>
          <a:ln/>
        </p:spPr>
        <p:txBody>
          <a:bodyPr wrap="square" lIns="0" tIns="0" rIns="0" bIns="0" rtlCol="0" anchor="t"/>
          <a:lstStyle/>
          <a:p>
            <a:pPr marL="0" indent="0">
              <a:buNone/>
            </a:pPr>
            <a:r>
              <a:rPr lang="en-US" sz="1100" i="1" dirty="0">
                <a:solidFill>
                  <a:srgbClr val="5C5550"/>
                </a:solidFill>
                <a:latin typeface="Calibri" pitchFamily="34" charset="0"/>
                <a:ea typeface="Calibri" pitchFamily="34" charset="-122"/>
                <a:cs typeface="Calibri" pitchFamily="34" charset="-120"/>
              </a:rPr>
              <a:t>La densité de feux à 20 km récupère la performance du cluster et améliore la précision, en ne regardant que le passé. C'est la traduction honnête du « continuum de risque ».</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Comment on s'est vérifiés</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Quatre garde-fous, pas un seul chiffre</a:t>
            </a:r>
            <a:endParaRPr lang="en-US" sz="1400" dirty="0"/>
          </a:p>
        </p:txBody>
      </p:sp>
      <p:sp>
        <p:nvSpPr>
          <p:cNvPr id="6" name="Shape 4"/>
          <p:cNvSpPr/>
          <p:nvPr/>
        </p:nvSpPr>
        <p:spPr>
          <a:xfrm>
            <a:off x="594360" y="1417320"/>
            <a:ext cx="5422392" cy="1920240"/>
          </a:xfrm>
          <a:prstGeom prst="rect">
            <a:avLst/>
          </a:prstGeom>
          <a:solidFill>
            <a:srgbClr val="F2EFEC"/>
          </a:solidFill>
          <a:ln w="12700">
            <a:solidFill>
              <a:srgbClr val="F2EFEC"/>
            </a:solidFill>
            <a:prstDash val="solid"/>
          </a:ln>
        </p:spPr>
        <p:txBody>
          <a:bodyPr/>
          <a:lstStyle/>
          <a:p>
            <a:endParaRPr lang="fr-FR"/>
          </a:p>
        </p:txBody>
      </p:sp>
      <p:sp>
        <p:nvSpPr>
          <p:cNvPr id="7" name="Shape 5"/>
          <p:cNvSpPr/>
          <p:nvPr/>
        </p:nvSpPr>
        <p:spPr>
          <a:xfrm>
            <a:off x="886968" y="1691640"/>
            <a:ext cx="329184" cy="329184"/>
          </a:xfrm>
          <a:prstGeom prst="ellipse">
            <a:avLst/>
          </a:prstGeom>
          <a:solidFill>
            <a:srgbClr val="B85042"/>
          </a:solidFill>
          <a:ln/>
        </p:spPr>
        <p:txBody>
          <a:bodyPr/>
          <a:lstStyle/>
          <a:p>
            <a:endParaRPr lang="fr-FR"/>
          </a:p>
        </p:txBody>
      </p:sp>
      <p:sp>
        <p:nvSpPr>
          <p:cNvPr id="8" name="Text 6"/>
          <p:cNvSpPr txBox="1"/>
          <p:nvPr/>
        </p:nvSpPr>
        <p:spPr>
          <a:xfrm>
            <a:off x="886968" y="16916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44168" y="1655064"/>
            <a:ext cx="3017520" cy="384048"/>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Test temporel</a:t>
            </a:r>
            <a:endParaRPr lang="en-US" sz="1400" dirty="0"/>
          </a:p>
        </p:txBody>
      </p:sp>
      <p:sp>
        <p:nvSpPr>
          <p:cNvPr id="10" name="Shape 8"/>
          <p:cNvSpPr/>
          <p:nvPr/>
        </p:nvSpPr>
        <p:spPr>
          <a:xfrm>
            <a:off x="4389120" y="1691640"/>
            <a:ext cx="1371600" cy="329184"/>
          </a:xfrm>
          <a:prstGeom prst="roundRect">
            <a:avLst>
              <a:gd name="adj" fmla="val 50000"/>
            </a:avLst>
          </a:prstGeom>
          <a:solidFill>
            <a:srgbClr val="B85042"/>
          </a:solidFill>
          <a:ln/>
        </p:spPr>
        <p:txBody>
          <a:bodyPr/>
          <a:lstStyle/>
          <a:p>
            <a:endParaRPr lang="fr-FR"/>
          </a:p>
        </p:txBody>
      </p:sp>
      <p:sp>
        <p:nvSpPr>
          <p:cNvPr id="11" name="Text 9"/>
          <p:cNvSpPr txBox="1"/>
          <p:nvPr/>
        </p:nvSpPr>
        <p:spPr>
          <a:xfrm>
            <a:off x="4389120" y="169164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PR-AUC 0,331</a:t>
            </a:r>
            <a:endParaRPr lang="en-US" sz="1000" dirty="0"/>
          </a:p>
        </p:txBody>
      </p:sp>
      <p:sp>
        <p:nvSpPr>
          <p:cNvPr id="12" name="Text 10"/>
          <p:cNvSpPr txBox="1"/>
          <p:nvPr/>
        </p:nvSpPr>
        <p:spPr>
          <a:xfrm>
            <a:off x="886968" y="2221992"/>
            <a:ext cx="4846320" cy="10058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Le modèle n'a jamais vu 2023 ni 2024 pendant l'entraînement. C'est le test principal.</a:t>
            </a:r>
            <a:endParaRPr lang="en-US" sz="1300" dirty="0"/>
          </a:p>
        </p:txBody>
      </p:sp>
      <p:sp>
        <p:nvSpPr>
          <p:cNvPr id="13" name="Shape 11"/>
          <p:cNvSpPr/>
          <p:nvPr/>
        </p:nvSpPr>
        <p:spPr>
          <a:xfrm>
            <a:off x="6172200" y="1417320"/>
            <a:ext cx="5422392" cy="1920240"/>
          </a:xfrm>
          <a:prstGeom prst="rect">
            <a:avLst/>
          </a:prstGeom>
          <a:solidFill>
            <a:srgbClr val="F2EFEC"/>
          </a:solidFill>
          <a:ln w="12700">
            <a:solidFill>
              <a:srgbClr val="F2EFEC"/>
            </a:solidFill>
            <a:prstDash val="solid"/>
          </a:ln>
        </p:spPr>
        <p:txBody>
          <a:bodyPr/>
          <a:lstStyle/>
          <a:p>
            <a:endParaRPr lang="fr-FR"/>
          </a:p>
        </p:txBody>
      </p:sp>
      <p:sp>
        <p:nvSpPr>
          <p:cNvPr id="14" name="Shape 12"/>
          <p:cNvSpPr/>
          <p:nvPr/>
        </p:nvSpPr>
        <p:spPr>
          <a:xfrm>
            <a:off x="6464808" y="1691640"/>
            <a:ext cx="329184" cy="329184"/>
          </a:xfrm>
          <a:prstGeom prst="ellipse">
            <a:avLst/>
          </a:prstGeom>
          <a:solidFill>
            <a:srgbClr val="50808E"/>
          </a:solidFill>
          <a:ln/>
        </p:spPr>
        <p:txBody>
          <a:bodyPr/>
          <a:lstStyle/>
          <a:p>
            <a:endParaRPr lang="fr-FR"/>
          </a:p>
        </p:txBody>
      </p:sp>
      <p:sp>
        <p:nvSpPr>
          <p:cNvPr id="15" name="Text 13"/>
          <p:cNvSpPr txBox="1"/>
          <p:nvPr/>
        </p:nvSpPr>
        <p:spPr>
          <a:xfrm>
            <a:off x="6464808" y="16916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6922008" y="1655064"/>
            <a:ext cx="3017520" cy="384048"/>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Validation croisée temporelle</a:t>
            </a:r>
            <a:endParaRPr lang="en-US" sz="1400" dirty="0"/>
          </a:p>
        </p:txBody>
      </p:sp>
      <p:sp>
        <p:nvSpPr>
          <p:cNvPr id="17" name="Shape 15"/>
          <p:cNvSpPr/>
          <p:nvPr/>
        </p:nvSpPr>
        <p:spPr>
          <a:xfrm>
            <a:off x="9966960" y="1691640"/>
            <a:ext cx="1371600" cy="329184"/>
          </a:xfrm>
          <a:prstGeom prst="roundRect">
            <a:avLst>
              <a:gd name="adj" fmla="val 50000"/>
            </a:avLst>
          </a:prstGeom>
          <a:solidFill>
            <a:srgbClr val="50808E"/>
          </a:solidFill>
          <a:ln/>
        </p:spPr>
        <p:txBody>
          <a:bodyPr/>
          <a:lstStyle/>
          <a:p>
            <a:endParaRPr lang="fr-FR"/>
          </a:p>
        </p:txBody>
      </p:sp>
      <p:sp>
        <p:nvSpPr>
          <p:cNvPr id="18" name="Text 16"/>
          <p:cNvSpPr txBox="1"/>
          <p:nvPr/>
        </p:nvSpPr>
        <p:spPr>
          <a:xfrm>
            <a:off x="9966960" y="169164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 replis</a:t>
            </a:r>
            <a:endParaRPr lang="en-US" sz="1000" dirty="0"/>
          </a:p>
        </p:txBody>
      </p:sp>
      <p:sp>
        <p:nvSpPr>
          <p:cNvPr id="19" name="Text 17"/>
          <p:cNvSpPr txBox="1"/>
          <p:nvPr/>
        </p:nvSpPr>
        <p:spPr>
          <a:xfrm>
            <a:off x="6464808" y="2221992"/>
            <a:ext cx="4846320" cy="10058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Le protocole est rejoué année après année, de 2011 à 2022, pour vérifier que la performance n'est pas un coup de chance sur une seule année.</a:t>
            </a:r>
            <a:endParaRPr lang="en-US" sz="1300" dirty="0"/>
          </a:p>
        </p:txBody>
      </p:sp>
      <p:sp>
        <p:nvSpPr>
          <p:cNvPr id="20" name="Shape 18"/>
          <p:cNvSpPr/>
          <p:nvPr/>
        </p:nvSpPr>
        <p:spPr>
          <a:xfrm>
            <a:off x="594360" y="3566160"/>
            <a:ext cx="5422392" cy="1920240"/>
          </a:xfrm>
          <a:prstGeom prst="rect">
            <a:avLst/>
          </a:prstGeom>
          <a:solidFill>
            <a:srgbClr val="F2EFEC"/>
          </a:solidFill>
          <a:ln w="12700">
            <a:solidFill>
              <a:srgbClr val="F2EFEC"/>
            </a:solidFill>
            <a:prstDash val="solid"/>
          </a:ln>
        </p:spPr>
        <p:txBody>
          <a:bodyPr/>
          <a:lstStyle/>
          <a:p>
            <a:endParaRPr lang="fr-FR"/>
          </a:p>
        </p:txBody>
      </p:sp>
      <p:sp>
        <p:nvSpPr>
          <p:cNvPr id="21" name="Shape 19"/>
          <p:cNvSpPr/>
          <p:nvPr/>
        </p:nvSpPr>
        <p:spPr>
          <a:xfrm>
            <a:off x="886968" y="3840480"/>
            <a:ext cx="329184" cy="329184"/>
          </a:xfrm>
          <a:prstGeom prst="ellipse">
            <a:avLst/>
          </a:prstGeom>
          <a:solidFill>
            <a:srgbClr val="7FA08F"/>
          </a:solidFill>
          <a:ln/>
        </p:spPr>
        <p:txBody>
          <a:bodyPr/>
          <a:lstStyle/>
          <a:p>
            <a:endParaRPr lang="fr-FR"/>
          </a:p>
        </p:txBody>
      </p:sp>
      <p:sp>
        <p:nvSpPr>
          <p:cNvPr id="22" name="Text 20"/>
          <p:cNvSpPr txBox="1"/>
          <p:nvPr/>
        </p:nvSpPr>
        <p:spPr>
          <a:xfrm>
            <a:off x="886968" y="38404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1344168" y="3803904"/>
            <a:ext cx="3017520" cy="384048"/>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Validation géographique</a:t>
            </a:r>
            <a:endParaRPr lang="en-US" sz="1400" dirty="0"/>
          </a:p>
        </p:txBody>
      </p:sp>
      <p:sp>
        <p:nvSpPr>
          <p:cNvPr id="24" name="Shape 22"/>
          <p:cNvSpPr/>
          <p:nvPr/>
        </p:nvSpPr>
        <p:spPr>
          <a:xfrm>
            <a:off x="4389120" y="3840480"/>
            <a:ext cx="1371600" cy="329184"/>
          </a:xfrm>
          <a:prstGeom prst="roundRect">
            <a:avLst>
              <a:gd name="adj" fmla="val 50000"/>
            </a:avLst>
          </a:prstGeom>
          <a:solidFill>
            <a:srgbClr val="7FA08F"/>
          </a:solidFill>
          <a:ln/>
        </p:spPr>
        <p:txBody>
          <a:bodyPr/>
          <a:lstStyle/>
          <a:p>
            <a:endParaRPr lang="fr-FR"/>
          </a:p>
        </p:txBody>
      </p:sp>
      <p:sp>
        <p:nvSpPr>
          <p:cNvPr id="25" name="Text 23"/>
          <p:cNvSpPr txBox="1"/>
          <p:nvPr/>
        </p:nvSpPr>
        <p:spPr>
          <a:xfrm>
            <a:off x="4389120" y="384048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6 973 communes</a:t>
            </a:r>
            <a:endParaRPr lang="en-US" sz="1000" dirty="0"/>
          </a:p>
        </p:txBody>
      </p:sp>
      <p:sp>
        <p:nvSpPr>
          <p:cNvPr id="26" name="Text 24"/>
          <p:cNvSpPr txBox="1"/>
          <p:nvPr/>
        </p:nvSpPr>
        <p:spPr>
          <a:xfrm>
            <a:off x="886968" y="4370832"/>
            <a:ext cx="4846320" cy="10058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Des communes entières sont tenues à l'écart de l'entraînement, pour voir si le modèle généralise à des territoires qu'il n'a jamais vus.</a:t>
            </a:r>
            <a:endParaRPr lang="en-US" sz="1300" dirty="0"/>
          </a:p>
        </p:txBody>
      </p:sp>
      <p:sp>
        <p:nvSpPr>
          <p:cNvPr id="27" name="Shape 25"/>
          <p:cNvSpPr/>
          <p:nvPr/>
        </p:nvSpPr>
        <p:spPr>
          <a:xfrm>
            <a:off x="6172200" y="3566160"/>
            <a:ext cx="5422392" cy="1920240"/>
          </a:xfrm>
          <a:prstGeom prst="rect">
            <a:avLst/>
          </a:prstGeom>
          <a:solidFill>
            <a:srgbClr val="F2EFEC"/>
          </a:solidFill>
          <a:ln w="12700">
            <a:solidFill>
              <a:srgbClr val="F2EFEC"/>
            </a:solidFill>
            <a:prstDash val="solid"/>
          </a:ln>
        </p:spPr>
        <p:txBody>
          <a:bodyPr/>
          <a:lstStyle/>
          <a:p>
            <a:endParaRPr lang="fr-FR"/>
          </a:p>
        </p:txBody>
      </p:sp>
      <p:sp>
        <p:nvSpPr>
          <p:cNvPr id="28" name="Shape 26"/>
          <p:cNvSpPr/>
          <p:nvPr/>
        </p:nvSpPr>
        <p:spPr>
          <a:xfrm>
            <a:off x="6464808" y="3840480"/>
            <a:ext cx="329184" cy="329184"/>
          </a:xfrm>
          <a:prstGeom prst="ellipse">
            <a:avLst/>
          </a:prstGeom>
          <a:solidFill>
            <a:srgbClr val="241A15"/>
          </a:solidFill>
          <a:ln/>
        </p:spPr>
        <p:txBody>
          <a:bodyPr/>
          <a:lstStyle/>
          <a:p>
            <a:endParaRPr lang="fr-FR"/>
          </a:p>
        </p:txBody>
      </p:sp>
      <p:sp>
        <p:nvSpPr>
          <p:cNvPr id="29" name="Text 27"/>
          <p:cNvSpPr txBox="1"/>
          <p:nvPr/>
        </p:nvSpPr>
        <p:spPr>
          <a:xfrm>
            <a:off x="6464808" y="38404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txBox="1"/>
          <p:nvPr/>
        </p:nvSpPr>
        <p:spPr>
          <a:xfrm>
            <a:off x="6922008" y="3803904"/>
            <a:ext cx="3017520" cy="384048"/>
          </a:xfrm>
          <a:prstGeom prst="rect">
            <a:avLst/>
          </a:prstGeom>
          <a:noFill/>
          <a:ln/>
        </p:spPr>
        <p:txBody>
          <a:bodyPr wrap="square" lIns="0" tIns="0" rIns="0" bIns="0" rtlCol="0" anchor="ctr"/>
          <a:lstStyle/>
          <a:p>
            <a:pPr marL="0" indent="0">
              <a:buNone/>
            </a:pPr>
            <a:r>
              <a:rPr lang="en-US" sz="1400" b="1" dirty="0">
                <a:solidFill>
                  <a:srgbClr val="241A15"/>
                </a:solidFill>
                <a:latin typeface="Calibri" pitchFamily="34" charset="0"/>
                <a:ea typeface="Calibri" pitchFamily="34" charset="-122"/>
                <a:cs typeface="Calibri" pitchFamily="34" charset="-120"/>
              </a:rPr>
              <a:t>Calibration</a:t>
            </a:r>
            <a:endParaRPr lang="en-US" sz="1400" dirty="0"/>
          </a:p>
        </p:txBody>
      </p:sp>
      <p:sp>
        <p:nvSpPr>
          <p:cNvPr id="31" name="Shape 29"/>
          <p:cNvSpPr/>
          <p:nvPr/>
        </p:nvSpPr>
        <p:spPr>
          <a:xfrm>
            <a:off x="9966960" y="3840480"/>
            <a:ext cx="1371600" cy="329184"/>
          </a:xfrm>
          <a:prstGeom prst="roundRect">
            <a:avLst>
              <a:gd name="adj" fmla="val 50000"/>
            </a:avLst>
          </a:prstGeom>
          <a:solidFill>
            <a:srgbClr val="241A15"/>
          </a:solidFill>
          <a:ln/>
        </p:spPr>
        <p:txBody>
          <a:bodyPr/>
          <a:lstStyle/>
          <a:p>
            <a:endParaRPr lang="fr-FR"/>
          </a:p>
        </p:txBody>
      </p:sp>
      <p:sp>
        <p:nvSpPr>
          <p:cNvPr id="32" name="Text 30"/>
          <p:cNvSpPr txBox="1"/>
          <p:nvPr/>
        </p:nvSpPr>
        <p:spPr>
          <a:xfrm>
            <a:off x="9966960" y="384048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Brier 0,0211</a:t>
            </a:r>
            <a:endParaRPr lang="en-US" sz="1000" dirty="0"/>
          </a:p>
        </p:txBody>
      </p:sp>
      <p:sp>
        <p:nvSpPr>
          <p:cNvPr id="33" name="Text 31"/>
          <p:cNvSpPr txBox="1"/>
          <p:nvPr/>
        </p:nvSpPr>
        <p:spPr>
          <a:xfrm>
            <a:off x="6464808" y="4370832"/>
            <a:ext cx="4846320" cy="1005840"/>
          </a:xfrm>
          <a:prstGeom prst="rect">
            <a:avLst/>
          </a:prstGeom>
          <a:noFill/>
          <a:ln/>
        </p:spPr>
        <p:txBody>
          <a:bodyPr wrap="square" lIns="0" tIns="0" rIns="0" bIns="0" rtlCol="0" anchor="t"/>
          <a:lstStyle/>
          <a:p>
            <a:pPr marL="0" indent="0">
              <a:buNone/>
            </a:pPr>
            <a:r>
              <a:rPr lang="en-US" sz="1300" dirty="0">
                <a:solidFill>
                  <a:srgbClr val="5C5550"/>
                </a:solidFill>
                <a:latin typeface="Calibri" pitchFamily="34" charset="0"/>
                <a:ea typeface="Calibri" pitchFamily="34" charset="-122"/>
                <a:cs typeface="Calibri" pitchFamily="34" charset="-120"/>
              </a:rPr>
              <a:t>Le score de Brier mesure si une probabilité annoncée à 30 % correspond vraiment à 30 % de cas. Une probabilité mal calibrée est inutilisable pour décider.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14</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L'application</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Streamlit, 11 pages — de la carte nationale à la prédiction datée</a:t>
            </a:r>
            <a:endParaRPr lang="en-US" sz="1400" dirty="0"/>
          </a:p>
        </p:txBody>
      </p:sp>
      <p:sp>
        <p:nvSpPr>
          <p:cNvPr id="6" name="Shape 4"/>
          <p:cNvSpPr/>
          <p:nvPr/>
        </p:nvSpPr>
        <p:spPr>
          <a:xfrm>
            <a:off x="594360" y="1417320"/>
            <a:ext cx="3520440" cy="914400"/>
          </a:xfrm>
          <a:prstGeom prst="rect">
            <a:avLst/>
          </a:prstGeom>
          <a:solidFill>
            <a:srgbClr val="F2EFEC"/>
          </a:solidFill>
          <a:ln w="12700">
            <a:solidFill>
              <a:srgbClr val="F2EFEC"/>
            </a:solidFill>
            <a:prstDash val="solid"/>
          </a:ln>
        </p:spPr>
        <p:txBody>
          <a:bodyPr/>
          <a:lstStyle/>
          <a:p>
            <a:endParaRPr lang="fr-FR"/>
          </a:p>
        </p:txBody>
      </p:sp>
      <p:sp>
        <p:nvSpPr>
          <p:cNvPr id="7" name="Shape 5"/>
          <p:cNvSpPr/>
          <p:nvPr/>
        </p:nvSpPr>
        <p:spPr>
          <a:xfrm>
            <a:off x="795528" y="1545336"/>
            <a:ext cx="274320" cy="274320"/>
          </a:xfrm>
          <a:prstGeom prst="ellipse">
            <a:avLst/>
          </a:prstGeom>
          <a:solidFill>
            <a:srgbClr val="50808E"/>
          </a:solidFill>
          <a:ln/>
        </p:spPr>
        <p:txBody>
          <a:bodyPr/>
          <a:lstStyle/>
          <a:p>
            <a:endParaRPr lang="fr-FR"/>
          </a:p>
        </p:txBody>
      </p:sp>
      <p:sp>
        <p:nvSpPr>
          <p:cNvPr id="8" name="Text 6"/>
          <p:cNvSpPr txBox="1"/>
          <p:nvPr/>
        </p:nvSpPr>
        <p:spPr>
          <a:xfrm>
            <a:off x="795528" y="154533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9" name="Text 7"/>
          <p:cNvSpPr txBox="1"/>
          <p:nvPr/>
        </p:nvSpPr>
        <p:spPr>
          <a:xfrm>
            <a:off x="1161288" y="1508760"/>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Vue d'ensemble</a:t>
            </a:r>
            <a:endParaRPr lang="en-US" sz="1200" dirty="0"/>
          </a:p>
        </p:txBody>
      </p:sp>
      <p:sp>
        <p:nvSpPr>
          <p:cNvPr id="10" name="Text 8"/>
          <p:cNvSpPr txBox="1"/>
          <p:nvPr/>
        </p:nvSpPr>
        <p:spPr>
          <a:xfrm>
            <a:off x="795528" y="1874520"/>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run courant, manifeste, rapport de jeu de données</a:t>
            </a:r>
            <a:endParaRPr lang="en-US" sz="1050" dirty="0"/>
          </a:p>
        </p:txBody>
      </p:sp>
      <p:sp>
        <p:nvSpPr>
          <p:cNvPr id="11" name="Shape 9"/>
          <p:cNvSpPr/>
          <p:nvPr/>
        </p:nvSpPr>
        <p:spPr>
          <a:xfrm>
            <a:off x="4361688" y="1417320"/>
            <a:ext cx="3520440" cy="914400"/>
          </a:xfrm>
          <a:prstGeom prst="rect">
            <a:avLst/>
          </a:prstGeom>
          <a:solidFill>
            <a:srgbClr val="F2EFEC"/>
          </a:solidFill>
          <a:ln w="12700">
            <a:solidFill>
              <a:srgbClr val="F2EFEC"/>
            </a:solidFill>
            <a:prstDash val="solid"/>
          </a:ln>
        </p:spPr>
        <p:txBody>
          <a:bodyPr/>
          <a:lstStyle/>
          <a:p>
            <a:endParaRPr lang="fr-FR"/>
          </a:p>
        </p:txBody>
      </p:sp>
      <p:sp>
        <p:nvSpPr>
          <p:cNvPr id="12" name="Shape 10"/>
          <p:cNvSpPr/>
          <p:nvPr/>
        </p:nvSpPr>
        <p:spPr>
          <a:xfrm>
            <a:off x="4562856" y="1545336"/>
            <a:ext cx="274320" cy="274320"/>
          </a:xfrm>
          <a:prstGeom prst="ellipse">
            <a:avLst/>
          </a:prstGeom>
          <a:solidFill>
            <a:srgbClr val="50808E"/>
          </a:solidFill>
          <a:ln/>
        </p:spPr>
        <p:txBody>
          <a:bodyPr/>
          <a:lstStyle/>
          <a:p>
            <a:endParaRPr lang="fr-FR"/>
          </a:p>
        </p:txBody>
      </p:sp>
      <p:sp>
        <p:nvSpPr>
          <p:cNvPr id="13" name="Text 11"/>
          <p:cNvSpPr txBox="1"/>
          <p:nvPr/>
        </p:nvSpPr>
        <p:spPr>
          <a:xfrm>
            <a:off x="4562856" y="154533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4" name="Text 12"/>
          <p:cNvSpPr txBox="1"/>
          <p:nvPr/>
        </p:nvSpPr>
        <p:spPr>
          <a:xfrm>
            <a:off x="4928616" y="1508760"/>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Validation croisée</a:t>
            </a:r>
            <a:endParaRPr lang="en-US" sz="1200" dirty="0"/>
          </a:p>
        </p:txBody>
      </p:sp>
      <p:sp>
        <p:nvSpPr>
          <p:cNvPr id="15" name="Text 13"/>
          <p:cNvSpPr txBox="1"/>
          <p:nvPr/>
        </p:nvSpPr>
        <p:spPr>
          <a:xfrm>
            <a:off x="4562856" y="1874520"/>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performance repli par repli, année après année</a:t>
            </a:r>
            <a:endParaRPr lang="en-US" sz="1050" dirty="0"/>
          </a:p>
        </p:txBody>
      </p:sp>
      <p:sp>
        <p:nvSpPr>
          <p:cNvPr id="16" name="Shape 14"/>
          <p:cNvSpPr/>
          <p:nvPr/>
        </p:nvSpPr>
        <p:spPr>
          <a:xfrm>
            <a:off x="8129016" y="1417320"/>
            <a:ext cx="3520440" cy="914400"/>
          </a:xfrm>
          <a:prstGeom prst="rect">
            <a:avLst/>
          </a:prstGeom>
          <a:solidFill>
            <a:srgbClr val="F2EFEC"/>
          </a:solidFill>
          <a:ln w="12700">
            <a:solidFill>
              <a:srgbClr val="F2EFEC"/>
            </a:solidFill>
            <a:prstDash val="solid"/>
          </a:ln>
        </p:spPr>
        <p:txBody>
          <a:bodyPr/>
          <a:lstStyle/>
          <a:p>
            <a:endParaRPr lang="fr-FR"/>
          </a:p>
        </p:txBody>
      </p:sp>
      <p:sp>
        <p:nvSpPr>
          <p:cNvPr id="17" name="Shape 15"/>
          <p:cNvSpPr/>
          <p:nvPr/>
        </p:nvSpPr>
        <p:spPr>
          <a:xfrm>
            <a:off x="8330184" y="1545336"/>
            <a:ext cx="274320" cy="274320"/>
          </a:xfrm>
          <a:prstGeom prst="ellipse">
            <a:avLst/>
          </a:prstGeom>
          <a:solidFill>
            <a:srgbClr val="50808E"/>
          </a:solidFill>
          <a:ln/>
        </p:spPr>
        <p:txBody>
          <a:bodyPr/>
          <a:lstStyle/>
          <a:p>
            <a:endParaRPr lang="fr-FR"/>
          </a:p>
        </p:txBody>
      </p:sp>
      <p:sp>
        <p:nvSpPr>
          <p:cNvPr id="18" name="Text 16"/>
          <p:cNvSpPr txBox="1"/>
          <p:nvPr/>
        </p:nvSpPr>
        <p:spPr>
          <a:xfrm>
            <a:off x="8330184" y="154533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19" name="Text 17"/>
          <p:cNvSpPr txBox="1"/>
          <p:nvPr/>
        </p:nvSpPr>
        <p:spPr>
          <a:xfrm>
            <a:off x="8695944" y="1508760"/>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Métriques du modèle</a:t>
            </a:r>
            <a:endParaRPr lang="en-US" sz="1200" dirty="0"/>
          </a:p>
        </p:txBody>
      </p:sp>
      <p:sp>
        <p:nvSpPr>
          <p:cNvPr id="20" name="Text 18"/>
          <p:cNvSpPr txBox="1"/>
          <p:nvPr/>
        </p:nvSpPr>
        <p:spPr>
          <a:xfrm>
            <a:off x="8330184" y="1874520"/>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courbes ROC et précision-rappel</a:t>
            </a:r>
            <a:endParaRPr lang="en-US" sz="1050" dirty="0"/>
          </a:p>
        </p:txBody>
      </p:sp>
      <p:sp>
        <p:nvSpPr>
          <p:cNvPr id="21" name="Shape 19"/>
          <p:cNvSpPr/>
          <p:nvPr/>
        </p:nvSpPr>
        <p:spPr>
          <a:xfrm>
            <a:off x="594360" y="2441448"/>
            <a:ext cx="3520440" cy="914400"/>
          </a:xfrm>
          <a:prstGeom prst="rect">
            <a:avLst/>
          </a:prstGeom>
          <a:solidFill>
            <a:srgbClr val="F2EFEC"/>
          </a:solidFill>
          <a:ln w="12700">
            <a:solidFill>
              <a:srgbClr val="F2EFEC"/>
            </a:solidFill>
            <a:prstDash val="solid"/>
          </a:ln>
        </p:spPr>
        <p:txBody>
          <a:bodyPr/>
          <a:lstStyle/>
          <a:p>
            <a:endParaRPr lang="fr-FR"/>
          </a:p>
        </p:txBody>
      </p:sp>
      <p:sp>
        <p:nvSpPr>
          <p:cNvPr id="22" name="Shape 20"/>
          <p:cNvSpPr/>
          <p:nvPr/>
        </p:nvSpPr>
        <p:spPr>
          <a:xfrm>
            <a:off x="795528" y="2569464"/>
            <a:ext cx="274320" cy="274320"/>
          </a:xfrm>
          <a:prstGeom prst="ellipse">
            <a:avLst/>
          </a:prstGeom>
          <a:solidFill>
            <a:srgbClr val="7FA08F"/>
          </a:solidFill>
          <a:ln/>
        </p:spPr>
        <p:txBody>
          <a:bodyPr/>
          <a:lstStyle/>
          <a:p>
            <a:endParaRPr lang="fr-FR"/>
          </a:p>
        </p:txBody>
      </p:sp>
      <p:sp>
        <p:nvSpPr>
          <p:cNvPr id="23" name="Text 21"/>
          <p:cNvSpPr txBox="1"/>
          <p:nvPr/>
        </p:nvSpPr>
        <p:spPr>
          <a:xfrm>
            <a:off x="795528" y="25694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4" name="Text 22"/>
          <p:cNvSpPr txBox="1"/>
          <p:nvPr/>
        </p:nvSpPr>
        <p:spPr>
          <a:xfrm>
            <a:off x="1161288" y="2532888"/>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Variables</a:t>
            </a:r>
            <a:endParaRPr lang="en-US" sz="1200" dirty="0"/>
          </a:p>
        </p:txBody>
      </p:sp>
      <p:sp>
        <p:nvSpPr>
          <p:cNvPr id="25" name="Text 23"/>
          <p:cNvSpPr txBox="1"/>
          <p:nvPr/>
        </p:nvSpPr>
        <p:spPr>
          <a:xfrm>
            <a:off x="795528" y="2898648"/>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distributions et corrélations des 18 variables</a:t>
            </a:r>
            <a:endParaRPr lang="en-US" sz="1050" dirty="0"/>
          </a:p>
        </p:txBody>
      </p:sp>
      <p:sp>
        <p:nvSpPr>
          <p:cNvPr id="26" name="Shape 24"/>
          <p:cNvSpPr/>
          <p:nvPr/>
        </p:nvSpPr>
        <p:spPr>
          <a:xfrm>
            <a:off x="4361688" y="2441448"/>
            <a:ext cx="3520440" cy="914400"/>
          </a:xfrm>
          <a:prstGeom prst="rect">
            <a:avLst/>
          </a:prstGeom>
          <a:solidFill>
            <a:srgbClr val="F2EFEC"/>
          </a:solidFill>
          <a:ln w="12700">
            <a:solidFill>
              <a:srgbClr val="F2EFEC"/>
            </a:solidFill>
            <a:prstDash val="solid"/>
          </a:ln>
        </p:spPr>
        <p:txBody>
          <a:bodyPr/>
          <a:lstStyle/>
          <a:p>
            <a:endParaRPr lang="fr-FR"/>
          </a:p>
        </p:txBody>
      </p:sp>
      <p:sp>
        <p:nvSpPr>
          <p:cNvPr id="27" name="Shape 25"/>
          <p:cNvSpPr/>
          <p:nvPr/>
        </p:nvSpPr>
        <p:spPr>
          <a:xfrm>
            <a:off x="4562856" y="2569464"/>
            <a:ext cx="274320" cy="274320"/>
          </a:xfrm>
          <a:prstGeom prst="ellipse">
            <a:avLst/>
          </a:prstGeom>
          <a:solidFill>
            <a:srgbClr val="7FA08F"/>
          </a:solidFill>
          <a:ln/>
        </p:spPr>
        <p:txBody>
          <a:bodyPr/>
          <a:lstStyle/>
          <a:p>
            <a:endParaRPr lang="fr-FR"/>
          </a:p>
        </p:txBody>
      </p:sp>
      <p:sp>
        <p:nvSpPr>
          <p:cNvPr id="28" name="Text 26"/>
          <p:cNvSpPr txBox="1"/>
          <p:nvPr/>
        </p:nvSpPr>
        <p:spPr>
          <a:xfrm>
            <a:off x="4562856" y="25694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29" name="Text 27"/>
          <p:cNvSpPr txBox="1"/>
          <p:nvPr/>
        </p:nvSpPr>
        <p:spPr>
          <a:xfrm>
            <a:off x="4928616" y="2532888"/>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Scores</a:t>
            </a:r>
            <a:endParaRPr lang="en-US" sz="1200" dirty="0"/>
          </a:p>
        </p:txBody>
      </p:sp>
      <p:sp>
        <p:nvSpPr>
          <p:cNvPr id="30" name="Text 28"/>
          <p:cNvSpPr txBox="1"/>
          <p:nvPr/>
        </p:nvSpPr>
        <p:spPr>
          <a:xfrm>
            <a:off x="4562856" y="2898648"/>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classement des communes, cartographie du risque</a:t>
            </a:r>
            <a:endParaRPr lang="en-US" sz="1050" dirty="0"/>
          </a:p>
        </p:txBody>
      </p:sp>
      <p:sp>
        <p:nvSpPr>
          <p:cNvPr id="31" name="Shape 29"/>
          <p:cNvSpPr/>
          <p:nvPr/>
        </p:nvSpPr>
        <p:spPr>
          <a:xfrm>
            <a:off x="8129016" y="2441448"/>
            <a:ext cx="3520440" cy="914400"/>
          </a:xfrm>
          <a:prstGeom prst="rect">
            <a:avLst/>
          </a:prstGeom>
          <a:solidFill>
            <a:srgbClr val="F2EFEC"/>
          </a:solidFill>
          <a:ln w="12700">
            <a:solidFill>
              <a:srgbClr val="F2EFEC"/>
            </a:solidFill>
            <a:prstDash val="solid"/>
          </a:ln>
        </p:spPr>
        <p:txBody>
          <a:bodyPr/>
          <a:lstStyle/>
          <a:p>
            <a:endParaRPr lang="fr-FR"/>
          </a:p>
        </p:txBody>
      </p:sp>
      <p:sp>
        <p:nvSpPr>
          <p:cNvPr id="32" name="Shape 30"/>
          <p:cNvSpPr/>
          <p:nvPr/>
        </p:nvSpPr>
        <p:spPr>
          <a:xfrm>
            <a:off x="8330184" y="2569464"/>
            <a:ext cx="274320" cy="274320"/>
          </a:xfrm>
          <a:prstGeom prst="ellipse">
            <a:avLst/>
          </a:prstGeom>
          <a:solidFill>
            <a:srgbClr val="7FA08F"/>
          </a:solidFill>
          <a:ln/>
        </p:spPr>
        <p:txBody>
          <a:bodyPr/>
          <a:lstStyle/>
          <a:p>
            <a:endParaRPr lang="fr-FR"/>
          </a:p>
        </p:txBody>
      </p:sp>
      <p:sp>
        <p:nvSpPr>
          <p:cNvPr id="33" name="Text 31"/>
          <p:cNvSpPr txBox="1"/>
          <p:nvPr/>
        </p:nvSpPr>
        <p:spPr>
          <a:xfrm>
            <a:off x="8330184" y="25694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34" name="Text 32"/>
          <p:cNvSpPr txBox="1"/>
          <p:nvPr/>
        </p:nvSpPr>
        <p:spPr>
          <a:xfrm>
            <a:off x="8695944" y="2532888"/>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Explorateur de runs</a:t>
            </a:r>
            <a:endParaRPr lang="en-US" sz="1200" dirty="0"/>
          </a:p>
        </p:txBody>
      </p:sp>
      <p:sp>
        <p:nvSpPr>
          <p:cNvPr id="35" name="Text 33"/>
          <p:cNvSpPr txBox="1"/>
          <p:nvPr/>
        </p:nvSpPr>
        <p:spPr>
          <a:xfrm>
            <a:off x="8330184" y="2898648"/>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comparer deux exécutions du pipeline</a:t>
            </a:r>
            <a:endParaRPr lang="en-US" sz="1050" dirty="0"/>
          </a:p>
        </p:txBody>
      </p:sp>
      <p:sp>
        <p:nvSpPr>
          <p:cNvPr id="36" name="Shape 34"/>
          <p:cNvSpPr/>
          <p:nvPr/>
        </p:nvSpPr>
        <p:spPr>
          <a:xfrm>
            <a:off x="594360" y="3465576"/>
            <a:ext cx="3520440" cy="914400"/>
          </a:xfrm>
          <a:prstGeom prst="rect">
            <a:avLst/>
          </a:prstGeom>
          <a:solidFill>
            <a:srgbClr val="F2EFEC"/>
          </a:solidFill>
          <a:ln w="12700">
            <a:solidFill>
              <a:srgbClr val="F2EFEC"/>
            </a:solidFill>
            <a:prstDash val="solid"/>
          </a:ln>
        </p:spPr>
        <p:txBody>
          <a:bodyPr/>
          <a:lstStyle/>
          <a:p>
            <a:endParaRPr lang="fr-FR"/>
          </a:p>
        </p:txBody>
      </p:sp>
      <p:sp>
        <p:nvSpPr>
          <p:cNvPr id="37" name="Shape 35"/>
          <p:cNvSpPr/>
          <p:nvPr/>
        </p:nvSpPr>
        <p:spPr>
          <a:xfrm>
            <a:off x="795528" y="3593592"/>
            <a:ext cx="274320" cy="274320"/>
          </a:xfrm>
          <a:prstGeom prst="ellipse">
            <a:avLst/>
          </a:prstGeom>
          <a:solidFill>
            <a:srgbClr val="B85042"/>
          </a:solidFill>
          <a:ln/>
        </p:spPr>
        <p:txBody>
          <a:bodyPr/>
          <a:lstStyle/>
          <a:p>
            <a:endParaRPr lang="fr-FR"/>
          </a:p>
        </p:txBody>
      </p:sp>
      <p:sp>
        <p:nvSpPr>
          <p:cNvPr id="38" name="Text 36"/>
          <p:cNvSpPr txBox="1"/>
          <p:nvPr/>
        </p:nvSpPr>
        <p:spPr>
          <a:xfrm>
            <a:off x="795528" y="35935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39" name="Text 37"/>
          <p:cNvSpPr txBox="1"/>
          <p:nvPr/>
        </p:nvSpPr>
        <p:spPr>
          <a:xfrm>
            <a:off x="1161288" y="3557016"/>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Explicabilité</a:t>
            </a:r>
            <a:endParaRPr lang="en-US" sz="1200" dirty="0"/>
          </a:p>
        </p:txBody>
      </p:sp>
      <p:sp>
        <p:nvSpPr>
          <p:cNvPr id="40" name="Text 38"/>
          <p:cNvSpPr txBox="1"/>
          <p:nvPr/>
        </p:nvSpPr>
        <p:spPr>
          <a:xfrm>
            <a:off x="795528" y="3922776"/>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SHAP global, contribution de chaque variable</a:t>
            </a:r>
            <a:endParaRPr lang="en-US" sz="1050" dirty="0"/>
          </a:p>
        </p:txBody>
      </p:sp>
      <p:sp>
        <p:nvSpPr>
          <p:cNvPr id="41" name="Shape 39"/>
          <p:cNvSpPr/>
          <p:nvPr/>
        </p:nvSpPr>
        <p:spPr>
          <a:xfrm>
            <a:off x="4361688" y="3465576"/>
            <a:ext cx="3520440" cy="914400"/>
          </a:xfrm>
          <a:prstGeom prst="rect">
            <a:avLst/>
          </a:prstGeom>
          <a:solidFill>
            <a:srgbClr val="F2EFEC"/>
          </a:solidFill>
          <a:ln w="12700">
            <a:solidFill>
              <a:srgbClr val="F2EFEC"/>
            </a:solidFill>
            <a:prstDash val="solid"/>
          </a:ln>
        </p:spPr>
        <p:txBody>
          <a:bodyPr/>
          <a:lstStyle/>
          <a:p>
            <a:endParaRPr lang="fr-FR"/>
          </a:p>
        </p:txBody>
      </p:sp>
      <p:sp>
        <p:nvSpPr>
          <p:cNvPr id="42" name="Shape 40"/>
          <p:cNvSpPr/>
          <p:nvPr/>
        </p:nvSpPr>
        <p:spPr>
          <a:xfrm>
            <a:off x="4562856" y="3593592"/>
            <a:ext cx="274320" cy="274320"/>
          </a:xfrm>
          <a:prstGeom prst="ellipse">
            <a:avLst/>
          </a:prstGeom>
          <a:solidFill>
            <a:srgbClr val="B85042"/>
          </a:solidFill>
          <a:ln/>
        </p:spPr>
        <p:txBody>
          <a:bodyPr/>
          <a:lstStyle/>
          <a:p>
            <a:endParaRPr lang="fr-FR"/>
          </a:p>
        </p:txBody>
      </p:sp>
      <p:sp>
        <p:nvSpPr>
          <p:cNvPr id="43" name="Text 41"/>
          <p:cNvSpPr txBox="1"/>
          <p:nvPr/>
        </p:nvSpPr>
        <p:spPr>
          <a:xfrm>
            <a:off x="4562856" y="35935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08</a:t>
            </a:r>
            <a:endParaRPr lang="en-US" sz="900" dirty="0"/>
          </a:p>
        </p:txBody>
      </p:sp>
      <p:sp>
        <p:nvSpPr>
          <p:cNvPr id="44" name="Text 42"/>
          <p:cNvSpPr txBox="1"/>
          <p:nvPr/>
        </p:nvSpPr>
        <p:spPr>
          <a:xfrm>
            <a:off x="4928616" y="3557016"/>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Explorateur de commune</a:t>
            </a:r>
            <a:endParaRPr lang="en-US" sz="1200" dirty="0"/>
          </a:p>
        </p:txBody>
      </p:sp>
      <p:sp>
        <p:nvSpPr>
          <p:cNvPr id="45" name="Text 43"/>
          <p:cNvSpPr txBox="1"/>
          <p:nvPr/>
        </p:nvSpPr>
        <p:spPr>
          <a:xfrm>
            <a:off x="4562856" y="3922776"/>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fiche détaillée : historique, cluster, score</a:t>
            </a:r>
            <a:endParaRPr lang="en-US" sz="1050" dirty="0"/>
          </a:p>
        </p:txBody>
      </p:sp>
      <p:sp>
        <p:nvSpPr>
          <p:cNvPr id="46" name="Shape 44"/>
          <p:cNvSpPr/>
          <p:nvPr/>
        </p:nvSpPr>
        <p:spPr>
          <a:xfrm>
            <a:off x="8129016" y="3465576"/>
            <a:ext cx="3520440" cy="914400"/>
          </a:xfrm>
          <a:prstGeom prst="rect">
            <a:avLst/>
          </a:prstGeom>
          <a:solidFill>
            <a:srgbClr val="F2EFEC"/>
          </a:solidFill>
          <a:ln w="12700">
            <a:solidFill>
              <a:srgbClr val="F2EFEC"/>
            </a:solidFill>
            <a:prstDash val="solid"/>
          </a:ln>
        </p:spPr>
        <p:txBody>
          <a:bodyPr/>
          <a:lstStyle/>
          <a:p>
            <a:endParaRPr lang="fr-FR"/>
          </a:p>
        </p:txBody>
      </p:sp>
      <p:sp>
        <p:nvSpPr>
          <p:cNvPr id="47" name="Shape 45"/>
          <p:cNvSpPr/>
          <p:nvPr/>
        </p:nvSpPr>
        <p:spPr>
          <a:xfrm>
            <a:off x="8330184" y="3593592"/>
            <a:ext cx="274320" cy="274320"/>
          </a:xfrm>
          <a:prstGeom prst="ellipse">
            <a:avLst/>
          </a:prstGeom>
          <a:solidFill>
            <a:srgbClr val="B85042"/>
          </a:solidFill>
          <a:ln/>
        </p:spPr>
        <p:txBody>
          <a:bodyPr/>
          <a:lstStyle/>
          <a:p>
            <a:endParaRPr lang="fr-FR"/>
          </a:p>
        </p:txBody>
      </p:sp>
      <p:sp>
        <p:nvSpPr>
          <p:cNvPr id="48" name="Text 46"/>
          <p:cNvSpPr txBox="1"/>
          <p:nvPr/>
        </p:nvSpPr>
        <p:spPr>
          <a:xfrm>
            <a:off x="8330184" y="35935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09</a:t>
            </a:r>
            <a:endParaRPr lang="en-US" sz="900" dirty="0"/>
          </a:p>
        </p:txBody>
      </p:sp>
      <p:sp>
        <p:nvSpPr>
          <p:cNvPr id="49" name="Text 47"/>
          <p:cNvSpPr txBox="1"/>
          <p:nvPr/>
        </p:nvSpPr>
        <p:spPr>
          <a:xfrm>
            <a:off x="8695944" y="3557016"/>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Tableau de bord</a:t>
            </a:r>
            <a:endParaRPr lang="en-US" sz="1200" dirty="0"/>
          </a:p>
        </p:txBody>
      </p:sp>
      <p:sp>
        <p:nvSpPr>
          <p:cNvPr id="50" name="Text 48"/>
          <p:cNvSpPr txBox="1"/>
          <p:nvPr/>
        </p:nvSpPr>
        <p:spPr>
          <a:xfrm>
            <a:off x="8330184" y="3922776"/>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synthèse nationale et par département</a:t>
            </a:r>
            <a:endParaRPr lang="en-US" sz="1050" dirty="0"/>
          </a:p>
        </p:txBody>
      </p:sp>
      <p:sp>
        <p:nvSpPr>
          <p:cNvPr id="51" name="Shape 49"/>
          <p:cNvSpPr/>
          <p:nvPr/>
        </p:nvSpPr>
        <p:spPr>
          <a:xfrm>
            <a:off x="594360" y="4489704"/>
            <a:ext cx="3520440" cy="914400"/>
          </a:xfrm>
          <a:prstGeom prst="rect">
            <a:avLst/>
          </a:prstGeom>
          <a:solidFill>
            <a:srgbClr val="F2EFEC"/>
          </a:solidFill>
          <a:ln w="12700">
            <a:solidFill>
              <a:srgbClr val="F2EFEC"/>
            </a:solidFill>
            <a:prstDash val="solid"/>
          </a:ln>
        </p:spPr>
        <p:txBody>
          <a:bodyPr/>
          <a:lstStyle/>
          <a:p>
            <a:endParaRPr lang="fr-FR"/>
          </a:p>
        </p:txBody>
      </p:sp>
      <p:sp>
        <p:nvSpPr>
          <p:cNvPr id="52" name="Shape 50"/>
          <p:cNvSpPr/>
          <p:nvPr/>
        </p:nvSpPr>
        <p:spPr>
          <a:xfrm>
            <a:off x="795528" y="4617720"/>
            <a:ext cx="274320" cy="274320"/>
          </a:xfrm>
          <a:prstGeom prst="ellipse">
            <a:avLst/>
          </a:prstGeom>
          <a:solidFill>
            <a:srgbClr val="B85042"/>
          </a:solidFill>
          <a:ln/>
        </p:spPr>
        <p:txBody>
          <a:bodyPr/>
          <a:lstStyle/>
          <a:p>
            <a:endParaRPr lang="fr-FR"/>
          </a:p>
        </p:txBody>
      </p:sp>
      <p:sp>
        <p:nvSpPr>
          <p:cNvPr id="53" name="Text 51"/>
          <p:cNvSpPr txBox="1"/>
          <p:nvPr/>
        </p:nvSpPr>
        <p:spPr>
          <a:xfrm>
            <a:off x="795528" y="461772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54" name="Text 52"/>
          <p:cNvSpPr txBox="1"/>
          <p:nvPr/>
        </p:nvSpPr>
        <p:spPr>
          <a:xfrm>
            <a:off x="1161288" y="4581144"/>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Comparaison des modèles</a:t>
            </a:r>
            <a:endParaRPr lang="en-US" sz="1200" dirty="0"/>
          </a:p>
        </p:txBody>
      </p:sp>
      <p:sp>
        <p:nvSpPr>
          <p:cNvPr id="55" name="Text 53"/>
          <p:cNvSpPr txBox="1"/>
          <p:nvPr/>
        </p:nvSpPr>
        <p:spPr>
          <a:xfrm>
            <a:off x="795528" y="4946904"/>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logistique, forêt et XGBoost, chiffres à l'appui</a:t>
            </a:r>
            <a:endParaRPr lang="en-US" sz="1050" dirty="0"/>
          </a:p>
        </p:txBody>
      </p:sp>
      <p:sp>
        <p:nvSpPr>
          <p:cNvPr id="56" name="Shape 54"/>
          <p:cNvSpPr/>
          <p:nvPr/>
        </p:nvSpPr>
        <p:spPr>
          <a:xfrm>
            <a:off x="4361688" y="4489704"/>
            <a:ext cx="3520440" cy="914400"/>
          </a:xfrm>
          <a:prstGeom prst="rect">
            <a:avLst/>
          </a:prstGeom>
          <a:solidFill>
            <a:srgbClr val="F2EFEC"/>
          </a:solidFill>
          <a:ln w="12700">
            <a:solidFill>
              <a:srgbClr val="F2EFEC"/>
            </a:solidFill>
            <a:prstDash val="solid"/>
          </a:ln>
        </p:spPr>
        <p:txBody>
          <a:bodyPr/>
          <a:lstStyle/>
          <a:p>
            <a:endParaRPr lang="fr-FR"/>
          </a:p>
        </p:txBody>
      </p:sp>
      <p:sp>
        <p:nvSpPr>
          <p:cNvPr id="57" name="Shape 55"/>
          <p:cNvSpPr/>
          <p:nvPr/>
        </p:nvSpPr>
        <p:spPr>
          <a:xfrm>
            <a:off x="4562856" y="4617720"/>
            <a:ext cx="274320" cy="274320"/>
          </a:xfrm>
          <a:prstGeom prst="ellipse">
            <a:avLst/>
          </a:prstGeom>
          <a:solidFill>
            <a:srgbClr val="B85042"/>
          </a:solidFill>
          <a:ln/>
        </p:spPr>
        <p:txBody>
          <a:bodyPr/>
          <a:lstStyle/>
          <a:p>
            <a:endParaRPr lang="fr-FR"/>
          </a:p>
        </p:txBody>
      </p:sp>
      <p:sp>
        <p:nvSpPr>
          <p:cNvPr id="58" name="Text 56"/>
          <p:cNvSpPr txBox="1"/>
          <p:nvPr/>
        </p:nvSpPr>
        <p:spPr>
          <a:xfrm>
            <a:off x="4562856" y="461772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11</a:t>
            </a:r>
            <a:endParaRPr lang="en-US" sz="900" dirty="0"/>
          </a:p>
        </p:txBody>
      </p:sp>
      <p:sp>
        <p:nvSpPr>
          <p:cNvPr id="59" name="Text 57"/>
          <p:cNvSpPr txBox="1"/>
          <p:nvPr/>
        </p:nvSpPr>
        <p:spPr>
          <a:xfrm>
            <a:off x="4928616" y="4581144"/>
            <a:ext cx="2834640" cy="329184"/>
          </a:xfrm>
          <a:prstGeom prst="rect">
            <a:avLst/>
          </a:prstGeom>
          <a:noFill/>
          <a:ln/>
        </p:spPr>
        <p:txBody>
          <a:bodyPr wrap="square" lIns="0" tIns="0" rIns="0" bIns="0" rtlCol="0" anchor="ctr"/>
          <a:lstStyle/>
          <a:p>
            <a:pPr marL="0" indent="0">
              <a:buNone/>
            </a:pPr>
            <a:r>
              <a:rPr lang="en-US" sz="1200" b="1" dirty="0">
                <a:solidFill>
                  <a:srgbClr val="241A15"/>
                </a:solidFill>
                <a:latin typeface="Calibri" pitchFamily="34" charset="0"/>
                <a:ea typeface="Calibri" pitchFamily="34" charset="-122"/>
                <a:cs typeface="Calibri" pitchFamily="34" charset="-120"/>
              </a:rPr>
              <a:t>Prédiction datée</a:t>
            </a:r>
            <a:endParaRPr lang="en-US" sz="1200" dirty="0"/>
          </a:p>
        </p:txBody>
      </p:sp>
      <p:sp>
        <p:nvSpPr>
          <p:cNvPr id="60" name="Text 58"/>
          <p:cNvSpPr txBox="1"/>
          <p:nvPr/>
        </p:nvSpPr>
        <p:spPr>
          <a:xfrm>
            <a:off x="4562856" y="4946904"/>
            <a:ext cx="3154680" cy="420624"/>
          </a:xfrm>
          <a:prstGeom prst="rect">
            <a:avLst/>
          </a:prstGeom>
          <a:noFill/>
          <a:ln/>
        </p:spPr>
        <p:txBody>
          <a:bodyPr wrap="square" lIns="0" tIns="0" rIns="0" bIns="0" rtlCol="0" anchor="ctr"/>
          <a:lstStyle/>
          <a:p>
            <a:pPr marL="0" indent="0">
              <a:buNone/>
            </a:pPr>
            <a:r>
              <a:rPr lang="en-US" sz="1050" dirty="0">
                <a:solidFill>
                  <a:srgbClr val="5C5550"/>
                </a:solidFill>
                <a:latin typeface="Calibri" pitchFamily="34" charset="0"/>
                <a:ea typeface="Calibri" pitchFamily="34" charset="-122"/>
                <a:cs typeface="Calibri" pitchFamily="34" charset="-120"/>
              </a:rPr>
              <a:t>une commune et une date : le risque à 10, 30 et 60 jours</a:t>
            </a:r>
            <a:endParaRPr lang="en-US" sz="1050" dirty="0"/>
          </a:p>
        </p:txBody>
      </p:sp>
      <p:sp>
        <p:nvSpPr>
          <p:cNvPr id="61" name="Shape 59"/>
          <p:cNvSpPr/>
          <p:nvPr/>
        </p:nvSpPr>
        <p:spPr>
          <a:xfrm>
            <a:off x="594360" y="5486400"/>
            <a:ext cx="11000232" cy="822960"/>
          </a:xfrm>
          <a:prstGeom prst="rect">
            <a:avLst/>
          </a:prstGeom>
          <a:solidFill>
            <a:srgbClr val="241A15"/>
          </a:solidFill>
          <a:ln w="12700">
            <a:solidFill>
              <a:srgbClr val="241A15"/>
            </a:solidFill>
            <a:prstDash val="solid"/>
          </a:ln>
        </p:spPr>
        <p:txBody>
          <a:bodyPr/>
          <a:lstStyle/>
          <a:p>
            <a:endParaRPr lang="fr-FR"/>
          </a:p>
        </p:txBody>
      </p:sp>
      <p:sp>
        <p:nvSpPr>
          <p:cNvPr id="62" name="Text 60"/>
          <p:cNvSpPr txBox="1"/>
          <p:nvPr/>
        </p:nvSpPr>
        <p:spPr>
          <a:xfrm>
            <a:off x="914400" y="5596128"/>
            <a:ext cx="10424160" cy="65836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Le modèle n'est jamais recalculé à l'écran : les scores sont produits par le pipeline et chargés en cache. L'entraînement et la consultation sont deux choses séparées — c'est ce qui rend l'interface instantanée.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Un projet, pas un notebook</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Ce qui rend le travail reproductible par quelqu'un d'autre</a:t>
            </a:r>
            <a:endParaRPr lang="en-US" sz="1400" dirty="0"/>
          </a:p>
        </p:txBody>
      </p:sp>
      <p:sp>
        <p:nvSpPr>
          <p:cNvPr id="6" name="Shape 4"/>
          <p:cNvSpPr/>
          <p:nvPr/>
        </p:nvSpPr>
        <p:spPr>
          <a:xfrm>
            <a:off x="594360" y="1417320"/>
            <a:ext cx="3520440" cy="2103120"/>
          </a:xfrm>
          <a:prstGeom prst="rect">
            <a:avLst/>
          </a:prstGeom>
          <a:solidFill>
            <a:srgbClr val="F2EFEC"/>
          </a:solidFill>
          <a:ln w="12700">
            <a:solidFill>
              <a:srgbClr val="F2EFEC"/>
            </a:solidFill>
            <a:prstDash val="solid"/>
          </a:ln>
        </p:spPr>
        <p:txBody>
          <a:bodyPr/>
          <a:lstStyle/>
          <a:p>
            <a:endParaRPr lang="fr-FR"/>
          </a:p>
        </p:txBody>
      </p:sp>
      <p:sp>
        <p:nvSpPr>
          <p:cNvPr id="7" name="Shape 5"/>
          <p:cNvSpPr/>
          <p:nvPr/>
        </p:nvSpPr>
        <p:spPr>
          <a:xfrm>
            <a:off x="850392" y="1673352"/>
            <a:ext cx="310896" cy="310896"/>
          </a:xfrm>
          <a:prstGeom prst="ellipse">
            <a:avLst/>
          </a:prstGeom>
          <a:solidFill>
            <a:srgbClr val="B85042"/>
          </a:solidFill>
          <a:ln/>
        </p:spPr>
        <p:txBody>
          <a:bodyPr/>
          <a:lstStyle/>
          <a:p>
            <a:endParaRPr lang="fr-FR"/>
          </a:p>
        </p:txBody>
      </p:sp>
      <p:sp>
        <p:nvSpPr>
          <p:cNvPr id="8" name="Text 6"/>
          <p:cNvSpPr txBox="1"/>
          <p:nvPr/>
        </p:nvSpPr>
        <p:spPr>
          <a:xfrm>
            <a:off x="850392" y="2112264"/>
            <a:ext cx="3017520" cy="384048"/>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Exécutions horodatées</a:t>
            </a:r>
            <a:endParaRPr lang="en-US" sz="1300" dirty="0"/>
          </a:p>
        </p:txBody>
      </p:sp>
      <p:sp>
        <p:nvSpPr>
          <p:cNvPr id="9" name="Text 7"/>
          <p:cNvSpPr txBox="1"/>
          <p:nvPr/>
        </p:nvSpPr>
        <p:spPr>
          <a:xfrm>
            <a:off x="850392" y="2532888"/>
            <a:ext cx="3063240" cy="91440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Chaque run du pipeline écrit ses données, ses rapports et son modèle dans un dossier daté. On peut rejouer n'importe quel résultat.</a:t>
            </a:r>
            <a:endParaRPr lang="en-US" sz="1150" dirty="0"/>
          </a:p>
        </p:txBody>
      </p:sp>
      <p:sp>
        <p:nvSpPr>
          <p:cNvPr id="10" name="Shape 8"/>
          <p:cNvSpPr/>
          <p:nvPr/>
        </p:nvSpPr>
        <p:spPr>
          <a:xfrm>
            <a:off x="4361688" y="1417320"/>
            <a:ext cx="3520440" cy="2103120"/>
          </a:xfrm>
          <a:prstGeom prst="rect">
            <a:avLst/>
          </a:prstGeom>
          <a:solidFill>
            <a:srgbClr val="F2EFEC"/>
          </a:solidFill>
          <a:ln w="12700">
            <a:solidFill>
              <a:srgbClr val="F2EFEC"/>
            </a:solidFill>
            <a:prstDash val="solid"/>
          </a:ln>
        </p:spPr>
        <p:txBody>
          <a:bodyPr/>
          <a:lstStyle/>
          <a:p>
            <a:endParaRPr lang="fr-FR"/>
          </a:p>
        </p:txBody>
      </p:sp>
      <p:sp>
        <p:nvSpPr>
          <p:cNvPr id="11" name="Shape 9"/>
          <p:cNvSpPr/>
          <p:nvPr/>
        </p:nvSpPr>
        <p:spPr>
          <a:xfrm>
            <a:off x="4617720" y="1673352"/>
            <a:ext cx="310896" cy="310896"/>
          </a:xfrm>
          <a:prstGeom prst="ellipse">
            <a:avLst/>
          </a:prstGeom>
          <a:solidFill>
            <a:srgbClr val="7FA08F"/>
          </a:solidFill>
          <a:ln/>
        </p:spPr>
        <p:txBody>
          <a:bodyPr/>
          <a:lstStyle/>
          <a:p>
            <a:endParaRPr lang="fr-FR"/>
          </a:p>
        </p:txBody>
      </p:sp>
      <p:sp>
        <p:nvSpPr>
          <p:cNvPr id="12" name="Text 10"/>
          <p:cNvSpPr txBox="1"/>
          <p:nvPr/>
        </p:nvSpPr>
        <p:spPr>
          <a:xfrm>
            <a:off x="4617720" y="2112264"/>
            <a:ext cx="3017520" cy="384048"/>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Empreinte du découpage</a:t>
            </a:r>
            <a:endParaRPr lang="en-US" sz="1300" dirty="0"/>
          </a:p>
        </p:txBody>
      </p:sp>
      <p:sp>
        <p:nvSpPr>
          <p:cNvPr id="13" name="Text 11"/>
          <p:cNvSpPr txBox="1"/>
          <p:nvPr/>
        </p:nvSpPr>
        <p:spPr>
          <a:xfrm>
            <a:off x="4617720" y="2532888"/>
            <a:ext cx="3063240" cy="91440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Un hash SHA-256 du train/test est enregistré à chaque run. Il prouve que le découpage n'a pas bougé entre deux exécutions.</a:t>
            </a:r>
            <a:endParaRPr lang="en-US" sz="1150" dirty="0"/>
          </a:p>
        </p:txBody>
      </p:sp>
      <p:sp>
        <p:nvSpPr>
          <p:cNvPr id="14" name="Shape 12"/>
          <p:cNvSpPr/>
          <p:nvPr/>
        </p:nvSpPr>
        <p:spPr>
          <a:xfrm>
            <a:off x="8129016" y="1417320"/>
            <a:ext cx="3520440" cy="2103120"/>
          </a:xfrm>
          <a:prstGeom prst="rect">
            <a:avLst/>
          </a:prstGeom>
          <a:solidFill>
            <a:srgbClr val="F2EFEC"/>
          </a:solidFill>
          <a:ln w="12700">
            <a:solidFill>
              <a:srgbClr val="F2EFEC"/>
            </a:solidFill>
            <a:prstDash val="solid"/>
          </a:ln>
        </p:spPr>
        <p:txBody>
          <a:bodyPr/>
          <a:lstStyle/>
          <a:p>
            <a:endParaRPr lang="fr-FR"/>
          </a:p>
        </p:txBody>
      </p:sp>
      <p:sp>
        <p:nvSpPr>
          <p:cNvPr id="15" name="Shape 13"/>
          <p:cNvSpPr/>
          <p:nvPr/>
        </p:nvSpPr>
        <p:spPr>
          <a:xfrm>
            <a:off x="8385048" y="1673352"/>
            <a:ext cx="310896" cy="310896"/>
          </a:xfrm>
          <a:prstGeom prst="ellipse">
            <a:avLst/>
          </a:prstGeom>
          <a:solidFill>
            <a:srgbClr val="50808E"/>
          </a:solidFill>
          <a:ln/>
        </p:spPr>
        <p:txBody>
          <a:bodyPr/>
          <a:lstStyle/>
          <a:p>
            <a:endParaRPr lang="fr-FR"/>
          </a:p>
        </p:txBody>
      </p:sp>
      <p:sp>
        <p:nvSpPr>
          <p:cNvPr id="16" name="Text 14"/>
          <p:cNvSpPr txBox="1"/>
          <p:nvPr/>
        </p:nvSpPr>
        <p:spPr>
          <a:xfrm>
            <a:off x="8385048" y="2112264"/>
            <a:ext cx="3017520" cy="384048"/>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Intégration continue</a:t>
            </a:r>
            <a:endParaRPr lang="en-US" sz="1300" dirty="0"/>
          </a:p>
        </p:txBody>
      </p:sp>
      <p:sp>
        <p:nvSpPr>
          <p:cNvPr id="17" name="Text 15"/>
          <p:cNvSpPr txBox="1"/>
          <p:nvPr/>
        </p:nvSpPr>
        <p:spPr>
          <a:xfrm>
            <a:off x="8385048" y="2532888"/>
            <a:ext cx="3063240" cy="91440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GitHub Actions : formatage, analyse statique, audit de sécurité des dépendances, tests automatisés à chaque proposition de fusion.</a:t>
            </a:r>
            <a:endParaRPr lang="en-US" sz="1150" dirty="0"/>
          </a:p>
        </p:txBody>
      </p:sp>
      <p:sp>
        <p:nvSpPr>
          <p:cNvPr id="18" name="Shape 16"/>
          <p:cNvSpPr/>
          <p:nvPr/>
        </p:nvSpPr>
        <p:spPr>
          <a:xfrm>
            <a:off x="594360" y="3703320"/>
            <a:ext cx="3520440" cy="2103120"/>
          </a:xfrm>
          <a:prstGeom prst="rect">
            <a:avLst/>
          </a:prstGeom>
          <a:solidFill>
            <a:srgbClr val="F2EFEC"/>
          </a:solidFill>
          <a:ln w="12700">
            <a:solidFill>
              <a:srgbClr val="F2EFEC"/>
            </a:solidFill>
            <a:prstDash val="solid"/>
          </a:ln>
        </p:spPr>
        <p:txBody>
          <a:bodyPr/>
          <a:lstStyle/>
          <a:p>
            <a:endParaRPr lang="fr-FR"/>
          </a:p>
        </p:txBody>
      </p:sp>
      <p:sp>
        <p:nvSpPr>
          <p:cNvPr id="19" name="Shape 17"/>
          <p:cNvSpPr/>
          <p:nvPr/>
        </p:nvSpPr>
        <p:spPr>
          <a:xfrm>
            <a:off x="850392" y="3959352"/>
            <a:ext cx="310896" cy="310896"/>
          </a:xfrm>
          <a:prstGeom prst="ellipse">
            <a:avLst/>
          </a:prstGeom>
          <a:solidFill>
            <a:srgbClr val="241A15"/>
          </a:solidFill>
          <a:ln/>
        </p:spPr>
        <p:txBody>
          <a:bodyPr/>
          <a:lstStyle/>
          <a:p>
            <a:endParaRPr lang="fr-FR"/>
          </a:p>
        </p:txBody>
      </p:sp>
      <p:sp>
        <p:nvSpPr>
          <p:cNvPr id="20" name="Text 18"/>
          <p:cNvSpPr txBox="1"/>
          <p:nvPr/>
        </p:nvSpPr>
        <p:spPr>
          <a:xfrm>
            <a:off x="850392" y="4398264"/>
            <a:ext cx="3017520" cy="384048"/>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Environnement conteneurisé</a:t>
            </a:r>
            <a:endParaRPr lang="en-US" sz="1300" dirty="0"/>
          </a:p>
        </p:txBody>
      </p:sp>
      <p:sp>
        <p:nvSpPr>
          <p:cNvPr id="21" name="Text 19"/>
          <p:cNvSpPr txBox="1"/>
          <p:nvPr/>
        </p:nvSpPr>
        <p:spPr>
          <a:xfrm>
            <a:off x="850392" y="4818888"/>
            <a:ext cx="3063240" cy="91440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Docker Compose démarre PostgreSQL + PostGIS avec le schéma préchargé. Une commande, aucune installation manuelle.</a:t>
            </a:r>
            <a:endParaRPr lang="en-US" sz="1150" dirty="0"/>
          </a:p>
        </p:txBody>
      </p:sp>
      <p:sp>
        <p:nvSpPr>
          <p:cNvPr id="22" name="Shape 20"/>
          <p:cNvSpPr/>
          <p:nvPr/>
        </p:nvSpPr>
        <p:spPr>
          <a:xfrm>
            <a:off x="4361688" y="3703320"/>
            <a:ext cx="3520440" cy="2103120"/>
          </a:xfrm>
          <a:prstGeom prst="rect">
            <a:avLst/>
          </a:prstGeom>
          <a:solidFill>
            <a:srgbClr val="F2EFEC"/>
          </a:solidFill>
          <a:ln w="12700">
            <a:solidFill>
              <a:srgbClr val="F2EFEC"/>
            </a:solidFill>
            <a:prstDash val="solid"/>
          </a:ln>
        </p:spPr>
        <p:txBody>
          <a:bodyPr/>
          <a:lstStyle/>
          <a:p>
            <a:endParaRPr lang="fr-FR"/>
          </a:p>
        </p:txBody>
      </p:sp>
      <p:sp>
        <p:nvSpPr>
          <p:cNvPr id="23" name="Shape 21"/>
          <p:cNvSpPr/>
          <p:nvPr/>
        </p:nvSpPr>
        <p:spPr>
          <a:xfrm>
            <a:off x="4617720" y="3959352"/>
            <a:ext cx="310896" cy="310896"/>
          </a:xfrm>
          <a:prstGeom prst="ellipse">
            <a:avLst/>
          </a:prstGeom>
          <a:solidFill>
            <a:srgbClr val="B85042"/>
          </a:solidFill>
          <a:ln/>
        </p:spPr>
        <p:txBody>
          <a:bodyPr/>
          <a:lstStyle/>
          <a:p>
            <a:endParaRPr lang="fr-FR"/>
          </a:p>
        </p:txBody>
      </p:sp>
      <p:sp>
        <p:nvSpPr>
          <p:cNvPr id="24" name="Text 22"/>
          <p:cNvSpPr txBox="1"/>
          <p:nvPr/>
        </p:nvSpPr>
        <p:spPr>
          <a:xfrm>
            <a:off x="4617720" y="4398264"/>
            <a:ext cx="3017520" cy="384048"/>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Qualité des données mesurée</a:t>
            </a:r>
            <a:endParaRPr lang="en-US" sz="1300" dirty="0"/>
          </a:p>
        </p:txBody>
      </p:sp>
      <p:sp>
        <p:nvSpPr>
          <p:cNvPr id="25" name="Text 23"/>
          <p:cNvSpPr txBox="1"/>
          <p:nvPr/>
        </p:nvSpPr>
        <p:spPr>
          <a:xfrm>
            <a:off x="4617720" y="4818888"/>
            <a:ext cx="3063240" cy="91440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Six contrôles d'intégrité écrivent un rapport daté à chaque chargement. La qualité est vérifiée, pas affirmée.</a:t>
            </a:r>
            <a:endParaRPr lang="en-US" sz="1150" dirty="0"/>
          </a:p>
        </p:txBody>
      </p:sp>
      <p:sp>
        <p:nvSpPr>
          <p:cNvPr id="26" name="Shape 24"/>
          <p:cNvSpPr/>
          <p:nvPr/>
        </p:nvSpPr>
        <p:spPr>
          <a:xfrm>
            <a:off x="8129016" y="3703320"/>
            <a:ext cx="3520440" cy="2103120"/>
          </a:xfrm>
          <a:prstGeom prst="rect">
            <a:avLst/>
          </a:prstGeom>
          <a:solidFill>
            <a:srgbClr val="F2EFEC"/>
          </a:solidFill>
          <a:ln w="12700">
            <a:solidFill>
              <a:srgbClr val="F2EFEC"/>
            </a:solidFill>
            <a:prstDash val="solid"/>
          </a:ln>
        </p:spPr>
        <p:txBody>
          <a:bodyPr/>
          <a:lstStyle/>
          <a:p>
            <a:endParaRPr lang="fr-FR"/>
          </a:p>
        </p:txBody>
      </p:sp>
      <p:sp>
        <p:nvSpPr>
          <p:cNvPr id="27" name="Shape 25"/>
          <p:cNvSpPr/>
          <p:nvPr/>
        </p:nvSpPr>
        <p:spPr>
          <a:xfrm>
            <a:off x="8385048" y="3959352"/>
            <a:ext cx="310896" cy="310896"/>
          </a:xfrm>
          <a:prstGeom prst="ellipse">
            <a:avLst/>
          </a:prstGeom>
          <a:solidFill>
            <a:srgbClr val="7FA08F"/>
          </a:solidFill>
          <a:ln/>
        </p:spPr>
        <p:txBody>
          <a:bodyPr/>
          <a:lstStyle/>
          <a:p>
            <a:endParaRPr lang="fr-FR"/>
          </a:p>
        </p:txBody>
      </p:sp>
      <p:sp>
        <p:nvSpPr>
          <p:cNvPr id="28" name="Text 26"/>
          <p:cNvSpPr txBox="1"/>
          <p:nvPr/>
        </p:nvSpPr>
        <p:spPr>
          <a:xfrm>
            <a:off x="8385048" y="4398264"/>
            <a:ext cx="3017520" cy="384048"/>
          </a:xfrm>
          <a:prstGeom prst="rect">
            <a:avLst/>
          </a:prstGeom>
          <a:noFill/>
          <a:ln/>
        </p:spPr>
        <p:txBody>
          <a:bodyPr wrap="square" lIns="0" tIns="0" rIns="0" bIns="0" rtlCol="0" anchor="t"/>
          <a:lstStyle/>
          <a:p>
            <a:pPr marL="0" indent="0">
              <a:buNone/>
            </a:pPr>
            <a:r>
              <a:rPr lang="en-US" sz="1300" b="1" dirty="0">
                <a:solidFill>
                  <a:srgbClr val="241A15"/>
                </a:solidFill>
                <a:latin typeface="Calibri" pitchFamily="34" charset="0"/>
                <a:ea typeface="Calibri" pitchFamily="34" charset="-122"/>
                <a:cs typeface="Calibri" pitchFamily="34" charset="-120"/>
              </a:rPr>
              <a:t>Documentation versionnée</a:t>
            </a:r>
            <a:endParaRPr lang="en-US" sz="1300" dirty="0"/>
          </a:p>
        </p:txBody>
      </p:sp>
      <p:sp>
        <p:nvSpPr>
          <p:cNvPr id="29" name="Text 27"/>
          <p:cNvSpPr txBox="1"/>
          <p:nvPr/>
        </p:nvSpPr>
        <p:spPr>
          <a:xfrm>
            <a:off x="8385048" y="4818888"/>
            <a:ext cx="3063240" cy="914400"/>
          </a:xfrm>
          <a:prstGeom prst="rect">
            <a:avLst/>
          </a:prstGeom>
          <a:noFill/>
          <a:ln/>
        </p:spPr>
        <p:txBody>
          <a:bodyPr wrap="square" lIns="0" tIns="0" rIns="0" bIns="0" rtlCol="0" anchor="t"/>
          <a:lstStyle/>
          <a:p>
            <a:pPr marL="0" indent="0">
              <a:buNone/>
            </a:pPr>
            <a:r>
              <a:rPr lang="en-US" sz="1150" dirty="0">
                <a:solidFill>
                  <a:srgbClr val="5C5550"/>
                </a:solidFill>
                <a:latin typeface="Calibri" pitchFamily="34" charset="0"/>
                <a:ea typeface="Calibri" pitchFamily="34" charset="-122"/>
                <a:cs typeface="Calibri" pitchFamily="34" charset="-120"/>
              </a:rPr>
              <a:t>Schéma de la base, journal de bord par étape, guide de démarrage — tout est dans le dépôt, à jour avec le code.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1A15"/>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16</a:t>
            </a:r>
            <a:endParaRPr lang="en-US" sz="1800" dirty="0"/>
          </a:p>
        </p:txBody>
      </p:sp>
      <p:sp>
        <p:nvSpPr>
          <p:cNvPr id="4" name="Text 2"/>
          <p:cNvSpPr txBox="1"/>
          <p:nvPr/>
        </p:nvSpPr>
        <p:spPr>
          <a:xfrm>
            <a:off x="1252728" y="329184"/>
            <a:ext cx="10332720" cy="56692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Les limites, assumées</a:t>
            </a:r>
            <a:endParaRPr lang="en-US" sz="3200" dirty="0"/>
          </a:p>
        </p:txBody>
      </p:sp>
      <p:sp>
        <p:nvSpPr>
          <p:cNvPr id="5" name="Text 3"/>
          <p:cNvSpPr txBox="1"/>
          <p:nvPr/>
        </p:nvSpPr>
        <p:spPr>
          <a:xfrm>
            <a:off x="1252728" y="932688"/>
            <a:ext cx="10332720" cy="310896"/>
          </a:xfrm>
          <a:prstGeom prst="rect">
            <a:avLst/>
          </a:prstGeom>
          <a:noFill/>
          <a:ln/>
        </p:spPr>
        <p:txBody>
          <a:bodyPr wrap="square" lIns="0" tIns="0" rIns="0" bIns="0" rtlCol="0" anchor="ctr"/>
          <a:lstStyle/>
          <a:p>
            <a:pPr marL="0" indent="0">
              <a:buNone/>
            </a:pPr>
            <a:r>
              <a:rPr lang="en-US" sz="1400" i="1" dirty="0">
                <a:solidFill>
                  <a:srgbClr val="D9A196"/>
                </a:solidFill>
                <a:latin typeface="Calibri" pitchFamily="34" charset="0"/>
                <a:ea typeface="Calibri" pitchFamily="34" charset="-122"/>
                <a:cs typeface="Calibri" pitchFamily="34" charset="-120"/>
              </a:rPr>
              <a:t>Ce que notre modèle ne sait pas faire, et pourquoi</a:t>
            </a:r>
            <a:endParaRPr lang="en-US" sz="1400" dirty="0"/>
          </a:p>
        </p:txBody>
      </p:sp>
      <p:sp>
        <p:nvSpPr>
          <p:cNvPr id="6" name="Shape 4"/>
          <p:cNvSpPr/>
          <p:nvPr/>
        </p:nvSpPr>
        <p:spPr>
          <a:xfrm>
            <a:off x="594360" y="1600200"/>
            <a:ext cx="5422392" cy="1481328"/>
          </a:xfrm>
          <a:prstGeom prst="roundRect">
            <a:avLst>
              <a:gd name="adj" fmla="val 3704"/>
            </a:avLst>
          </a:prstGeom>
          <a:solidFill>
            <a:srgbClr val="32251E"/>
          </a:solidFill>
          <a:ln w="12700">
            <a:solidFill>
              <a:srgbClr val="32251E"/>
            </a:solidFill>
            <a:prstDash val="solid"/>
          </a:ln>
        </p:spPr>
        <p:txBody>
          <a:bodyPr/>
          <a:lstStyle/>
          <a:p>
            <a:endParaRPr lang="fr-FR"/>
          </a:p>
        </p:txBody>
      </p:sp>
      <p:sp>
        <p:nvSpPr>
          <p:cNvPr id="7" name="Shape 5"/>
          <p:cNvSpPr/>
          <p:nvPr/>
        </p:nvSpPr>
        <p:spPr>
          <a:xfrm>
            <a:off x="868680" y="1892808"/>
            <a:ext cx="182880" cy="182880"/>
          </a:xfrm>
          <a:prstGeom prst="ellipse">
            <a:avLst/>
          </a:prstGeom>
          <a:solidFill>
            <a:srgbClr val="B85042"/>
          </a:solidFill>
          <a:ln/>
        </p:spPr>
        <p:txBody>
          <a:bodyPr/>
          <a:lstStyle/>
          <a:p>
            <a:endParaRPr lang="fr-FR"/>
          </a:p>
        </p:txBody>
      </p:sp>
      <p:sp>
        <p:nvSpPr>
          <p:cNvPr id="8" name="Text 6"/>
          <p:cNvSpPr txBox="1"/>
          <p:nvPr/>
        </p:nvSpPr>
        <p:spPr>
          <a:xfrm>
            <a:off x="1179576" y="1819656"/>
            <a:ext cx="45720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Aucune donnée météorologique</a:t>
            </a:r>
            <a:endParaRPr lang="en-US" sz="1300" dirty="0"/>
          </a:p>
        </p:txBody>
      </p:sp>
      <p:sp>
        <p:nvSpPr>
          <p:cNvPr id="9" name="Text 7"/>
          <p:cNvSpPr txBox="1"/>
          <p:nvPr/>
        </p:nvSpPr>
        <p:spPr>
          <a:xfrm>
            <a:off x="868680" y="2221992"/>
            <a:ext cx="4892040" cy="749808"/>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Ni vent, ni température, ni sécheresse. Le modèle apprend « où ça brûle habituellement », pas « où ça va brûler cette année ». C'est la limite la plus structurante.</a:t>
            </a:r>
            <a:endParaRPr lang="en-US" sz="1150" dirty="0"/>
          </a:p>
        </p:txBody>
      </p:sp>
      <p:sp>
        <p:nvSpPr>
          <p:cNvPr id="10" name="Shape 8"/>
          <p:cNvSpPr/>
          <p:nvPr/>
        </p:nvSpPr>
        <p:spPr>
          <a:xfrm>
            <a:off x="6172200" y="1600200"/>
            <a:ext cx="5422392" cy="1481328"/>
          </a:xfrm>
          <a:prstGeom prst="roundRect">
            <a:avLst>
              <a:gd name="adj" fmla="val 3704"/>
            </a:avLst>
          </a:prstGeom>
          <a:solidFill>
            <a:srgbClr val="32251E"/>
          </a:solidFill>
          <a:ln w="12700">
            <a:solidFill>
              <a:srgbClr val="32251E"/>
            </a:solidFill>
            <a:prstDash val="solid"/>
          </a:ln>
        </p:spPr>
        <p:txBody>
          <a:bodyPr/>
          <a:lstStyle/>
          <a:p>
            <a:endParaRPr lang="fr-FR"/>
          </a:p>
        </p:txBody>
      </p:sp>
      <p:sp>
        <p:nvSpPr>
          <p:cNvPr id="11" name="Shape 9"/>
          <p:cNvSpPr/>
          <p:nvPr/>
        </p:nvSpPr>
        <p:spPr>
          <a:xfrm>
            <a:off x="6446520" y="1892808"/>
            <a:ext cx="182880" cy="182880"/>
          </a:xfrm>
          <a:prstGeom prst="ellipse">
            <a:avLst/>
          </a:prstGeom>
          <a:solidFill>
            <a:srgbClr val="B85042"/>
          </a:solidFill>
          <a:ln/>
        </p:spPr>
        <p:txBody>
          <a:bodyPr/>
          <a:lstStyle/>
          <a:p>
            <a:endParaRPr lang="fr-FR"/>
          </a:p>
        </p:txBody>
      </p:sp>
      <p:sp>
        <p:nvSpPr>
          <p:cNvPr id="12" name="Text 10"/>
          <p:cNvSpPr txBox="1"/>
          <p:nvPr/>
        </p:nvSpPr>
        <p:spPr>
          <a:xfrm>
            <a:off x="6757416" y="1819656"/>
            <a:ext cx="45720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 végétation n'est connue qu'indirectement</a:t>
            </a:r>
            <a:endParaRPr lang="en-US" sz="1300" dirty="0"/>
          </a:p>
        </p:txBody>
      </p:sp>
      <p:sp>
        <p:nvSpPr>
          <p:cNvPr id="13" name="Text 11"/>
          <p:cNvSpPr txBox="1"/>
          <p:nvPr/>
        </p:nvSpPr>
        <p:spPr>
          <a:xfrm>
            <a:off x="6446520" y="2221992"/>
            <a:ext cx="4892040" cy="749808"/>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Elle n'apparaît qu'à travers les surfaces déjà brûlées — donc uniquement pour les communes qui ont déjà connu un feu.</a:t>
            </a:r>
            <a:endParaRPr lang="en-US" sz="1150" dirty="0"/>
          </a:p>
        </p:txBody>
      </p:sp>
      <p:sp>
        <p:nvSpPr>
          <p:cNvPr id="14" name="Shape 12"/>
          <p:cNvSpPr/>
          <p:nvPr/>
        </p:nvSpPr>
        <p:spPr>
          <a:xfrm>
            <a:off x="594360" y="3264408"/>
            <a:ext cx="5422392" cy="1481328"/>
          </a:xfrm>
          <a:prstGeom prst="roundRect">
            <a:avLst>
              <a:gd name="adj" fmla="val 3704"/>
            </a:avLst>
          </a:prstGeom>
          <a:solidFill>
            <a:srgbClr val="32251E"/>
          </a:solidFill>
          <a:ln w="12700">
            <a:solidFill>
              <a:srgbClr val="32251E"/>
            </a:solidFill>
            <a:prstDash val="solid"/>
          </a:ln>
        </p:spPr>
        <p:txBody>
          <a:bodyPr/>
          <a:lstStyle/>
          <a:p>
            <a:endParaRPr lang="fr-FR"/>
          </a:p>
        </p:txBody>
      </p:sp>
      <p:sp>
        <p:nvSpPr>
          <p:cNvPr id="15" name="Shape 13"/>
          <p:cNvSpPr/>
          <p:nvPr/>
        </p:nvSpPr>
        <p:spPr>
          <a:xfrm>
            <a:off x="868680" y="3557016"/>
            <a:ext cx="182880" cy="182880"/>
          </a:xfrm>
          <a:prstGeom prst="ellipse">
            <a:avLst/>
          </a:prstGeom>
          <a:solidFill>
            <a:srgbClr val="B85042"/>
          </a:solidFill>
          <a:ln/>
        </p:spPr>
        <p:txBody>
          <a:bodyPr/>
          <a:lstStyle/>
          <a:p>
            <a:endParaRPr lang="fr-FR"/>
          </a:p>
        </p:txBody>
      </p:sp>
      <p:sp>
        <p:nvSpPr>
          <p:cNvPr id="16" name="Text 14"/>
          <p:cNvSpPr txBox="1"/>
          <p:nvPr/>
        </p:nvSpPr>
        <p:spPr>
          <a:xfrm>
            <a:off x="1179576" y="3483864"/>
            <a:ext cx="45720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Granularité annuelle</a:t>
            </a:r>
            <a:endParaRPr lang="en-US" sz="1300" dirty="0"/>
          </a:p>
        </p:txBody>
      </p:sp>
      <p:sp>
        <p:nvSpPr>
          <p:cNvPr id="17" name="Text 15"/>
          <p:cNvSpPr txBox="1"/>
          <p:nvPr/>
        </p:nvSpPr>
        <p:spPr>
          <a:xfrm>
            <a:off x="868680" y="3886200"/>
            <a:ext cx="4892040" cy="749808"/>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Une prédiction par commune et par an. Pas de saisonnalité fine, pas d'horizon court.</a:t>
            </a:r>
            <a:endParaRPr lang="en-US" sz="1150" dirty="0"/>
          </a:p>
        </p:txBody>
      </p:sp>
      <p:sp>
        <p:nvSpPr>
          <p:cNvPr id="18" name="Shape 16"/>
          <p:cNvSpPr/>
          <p:nvPr/>
        </p:nvSpPr>
        <p:spPr>
          <a:xfrm>
            <a:off x="6172200" y="3264408"/>
            <a:ext cx="5422392" cy="1481328"/>
          </a:xfrm>
          <a:prstGeom prst="roundRect">
            <a:avLst>
              <a:gd name="adj" fmla="val 3704"/>
            </a:avLst>
          </a:prstGeom>
          <a:solidFill>
            <a:srgbClr val="32251E"/>
          </a:solidFill>
          <a:ln w="12700">
            <a:solidFill>
              <a:srgbClr val="32251E"/>
            </a:solidFill>
            <a:prstDash val="solid"/>
          </a:ln>
        </p:spPr>
        <p:txBody>
          <a:bodyPr/>
          <a:lstStyle/>
          <a:p>
            <a:endParaRPr lang="fr-FR"/>
          </a:p>
        </p:txBody>
      </p:sp>
      <p:sp>
        <p:nvSpPr>
          <p:cNvPr id="19" name="Shape 17"/>
          <p:cNvSpPr/>
          <p:nvPr/>
        </p:nvSpPr>
        <p:spPr>
          <a:xfrm>
            <a:off x="6446520" y="3557016"/>
            <a:ext cx="182880" cy="182880"/>
          </a:xfrm>
          <a:prstGeom prst="ellipse">
            <a:avLst/>
          </a:prstGeom>
          <a:solidFill>
            <a:srgbClr val="B85042"/>
          </a:solidFill>
          <a:ln/>
        </p:spPr>
        <p:txBody>
          <a:bodyPr/>
          <a:lstStyle/>
          <a:p>
            <a:endParaRPr lang="fr-FR"/>
          </a:p>
        </p:txBody>
      </p:sp>
      <p:sp>
        <p:nvSpPr>
          <p:cNvPr id="20" name="Text 18"/>
          <p:cNvSpPr txBox="1"/>
          <p:nvPr/>
        </p:nvSpPr>
        <p:spPr>
          <a:xfrm>
            <a:off x="6757416" y="3483864"/>
            <a:ext cx="45720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 maille communale est hétérogène</a:t>
            </a:r>
            <a:endParaRPr lang="en-US" sz="1300" dirty="0"/>
          </a:p>
        </p:txBody>
      </p:sp>
      <p:sp>
        <p:nvSpPr>
          <p:cNvPr id="21" name="Text 19"/>
          <p:cNvSpPr txBox="1"/>
          <p:nvPr/>
        </p:nvSpPr>
        <p:spPr>
          <a:xfrm>
            <a:off x="6446520" y="3886200"/>
            <a:ext cx="4892040" cy="749808"/>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Une commune de 200 km² et une de 3 km² ne portent pas le même sens ; le score n'est pas ramené à la surface.</a:t>
            </a:r>
            <a:endParaRPr lang="en-US" sz="1150" dirty="0"/>
          </a:p>
        </p:txBody>
      </p:sp>
      <p:sp>
        <p:nvSpPr>
          <p:cNvPr id="22" name="Shape 20"/>
          <p:cNvSpPr/>
          <p:nvPr/>
        </p:nvSpPr>
        <p:spPr>
          <a:xfrm>
            <a:off x="594360" y="4928616"/>
            <a:ext cx="5422392" cy="1481328"/>
          </a:xfrm>
          <a:prstGeom prst="roundRect">
            <a:avLst>
              <a:gd name="adj" fmla="val 3704"/>
            </a:avLst>
          </a:prstGeom>
          <a:solidFill>
            <a:srgbClr val="32251E"/>
          </a:solidFill>
          <a:ln w="12700">
            <a:solidFill>
              <a:srgbClr val="32251E"/>
            </a:solidFill>
            <a:prstDash val="solid"/>
          </a:ln>
        </p:spPr>
        <p:txBody>
          <a:bodyPr/>
          <a:lstStyle/>
          <a:p>
            <a:endParaRPr lang="fr-FR"/>
          </a:p>
        </p:txBody>
      </p:sp>
      <p:sp>
        <p:nvSpPr>
          <p:cNvPr id="23" name="Shape 21"/>
          <p:cNvSpPr/>
          <p:nvPr/>
        </p:nvSpPr>
        <p:spPr>
          <a:xfrm>
            <a:off x="868680" y="5221224"/>
            <a:ext cx="182880" cy="182880"/>
          </a:xfrm>
          <a:prstGeom prst="ellipse">
            <a:avLst/>
          </a:prstGeom>
          <a:solidFill>
            <a:srgbClr val="B85042"/>
          </a:solidFill>
          <a:ln/>
        </p:spPr>
        <p:txBody>
          <a:bodyPr/>
          <a:lstStyle/>
          <a:p>
            <a:endParaRPr lang="fr-FR"/>
          </a:p>
        </p:txBody>
      </p:sp>
      <p:sp>
        <p:nvSpPr>
          <p:cNvPr id="24" name="Text 22"/>
          <p:cNvSpPr txBox="1"/>
          <p:nvPr/>
        </p:nvSpPr>
        <p:spPr>
          <a:xfrm>
            <a:off x="1179576" y="5148072"/>
            <a:ext cx="45720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 niveau « Très élevé » est vide</a:t>
            </a:r>
            <a:endParaRPr lang="en-US" sz="1300" dirty="0"/>
          </a:p>
        </p:txBody>
      </p:sp>
      <p:sp>
        <p:nvSpPr>
          <p:cNvPr id="25" name="Text 23"/>
          <p:cNvSpPr txBox="1"/>
          <p:nvPr/>
        </p:nvSpPr>
        <p:spPr>
          <a:xfrm>
            <a:off x="868680" y="5550408"/>
            <a:ext cx="4892040" cy="749808"/>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Aucune commune ne dépasse 50/100. Les seuils d'affichage sont fixes ; ils devraient être des quantiles.</a:t>
            </a:r>
            <a:endParaRPr lang="en-US" sz="1150" dirty="0"/>
          </a:p>
        </p:txBody>
      </p:sp>
      <p:sp>
        <p:nvSpPr>
          <p:cNvPr id="26" name="Shape 24"/>
          <p:cNvSpPr/>
          <p:nvPr/>
        </p:nvSpPr>
        <p:spPr>
          <a:xfrm>
            <a:off x="6172200" y="4928616"/>
            <a:ext cx="5422392" cy="1481328"/>
          </a:xfrm>
          <a:prstGeom prst="roundRect">
            <a:avLst>
              <a:gd name="adj" fmla="val 3704"/>
            </a:avLst>
          </a:prstGeom>
          <a:solidFill>
            <a:srgbClr val="32251E"/>
          </a:solidFill>
          <a:ln w="12700">
            <a:solidFill>
              <a:srgbClr val="32251E"/>
            </a:solidFill>
            <a:prstDash val="solid"/>
          </a:ln>
        </p:spPr>
        <p:txBody>
          <a:bodyPr/>
          <a:lstStyle/>
          <a:p>
            <a:endParaRPr lang="fr-FR"/>
          </a:p>
        </p:txBody>
      </p:sp>
      <p:sp>
        <p:nvSpPr>
          <p:cNvPr id="27" name="Shape 25"/>
          <p:cNvSpPr/>
          <p:nvPr/>
        </p:nvSpPr>
        <p:spPr>
          <a:xfrm>
            <a:off x="6446520" y="5221224"/>
            <a:ext cx="182880" cy="182880"/>
          </a:xfrm>
          <a:prstGeom prst="ellipse">
            <a:avLst/>
          </a:prstGeom>
          <a:solidFill>
            <a:srgbClr val="B85042"/>
          </a:solidFill>
          <a:ln/>
        </p:spPr>
        <p:txBody>
          <a:bodyPr/>
          <a:lstStyle/>
          <a:p>
            <a:endParaRPr lang="fr-FR"/>
          </a:p>
        </p:txBody>
      </p:sp>
      <p:sp>
        <p:nvSpPr>
          <p:cNvPr id="28" name="Text 26"/>
          <p:cNvSpPr txBox="1"/>
          <p:nvPr/>
        </p:nvSpPr>
        <p:spPr>
          <a:xfrm>
            <a:off x="6757416" y="5148072"/>
            <a:ext cx="45720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Corrélation, pas causalité</a:t>
            </a:r>
            <a:endParaRPr lang="en-US" sz="1300" dirty="0"/>
          </a:p>
        </p:txBody>
      </p:sp>
      <p:sp>
        <p:nvSpPr>
          <p:cNvPr id="29" name="Text 27"/>
          <p:cNvSpPr txBox="1"/>
          <p:nvPr/>
        </p:nvSpPr>
        <p:spPr>
          <a:xfrm>
            <a:off x="6446520" y="5550408"/>
            <a:ext cx="4892040" cy="749808"/>
          </a:xfrm>
          <a:prstGeom prst="rect">
            <a:avLst/>
          </a:prstGeom>
          <a:noFill/>
          <a:ln/>
        </p:spPr>
        <p:txBody>
          <a:bodyPr wrap="square" lIns="0" tIns="0" rIns="0" bIns="0" rtlCol="0" anchor="ctr"/>
          <a:lstStyle/>
          <a:p>
            <a:pPr marL="0" indent="0">
              <a:buNone/>
            </a:pPr>
            <a:r>
              <a:rPr lang="en-US" sz="1150" dirty="0">
                <a:solidFill>
                  <a:srgbClr val="C9C0BA"/>
                </a:solidFill>
                <a:latin typeface="Calibri" pitchFamily="34" charset="0"/>
                <a:ea typeface="Calibri" pitchFamily="34" charset="-122"/>
                <a:cs typeface="Calibri" pitchFamily="34" charset="-120"/>
              </a:rPr>
              <a:t>Un score élevé signale un historique compatible avec une occurrence. Il n'explique pas pourquoi un feu se déclenche.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384048"/>
            <a:ext cx="475488" cy="475488"/>
          </a:xfrm>
          <a:prstGeom prst="ellipse">
            <a:avLst/>
          </a:prstGeom>
          <a:solidFill>
            <a:srgbClr val="B85042"/>
          </a:solidFill>
          <a:ln/>
        </p:spPr>
        <p:txBody>
          <a:bodyPr/>
          <a:lstStyle/>
          <a:p>
            <a:endParaRPr lang="fr-FR"/>
          </a:p>
        </p:txBody>
      </p:sp>
      <p:sp>
        <p:nvSpPr>
          <p:cNvPr id="3" name="Text 1"/>
          <p:cNvSpPr txBox="1"/>
          <p:nvPr/>
        </p:nvSpPr>
        <p:spPr>
          <a:xfrm>
            <a:off x="594360" y="3840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17</a:t>
            </a:r>
            <a:endParaRPr lang="en-US" sz="1800" dirty="0"/>
          </a:p>
        </p:txBody>
      </p:sp>
      <p:sp>
        <p:nvSpPr>
          <p:cNvPr id="4" name="Text 2"/>
          <p:cNvSpPr txBox="1"/>
          <p:nvPr/>
        </p:nvSpPr>
        <p:spPr>
          <a:xfrm>
            <a:off x="1252728" y="329184"/>
            <a:ext cx="10341864" cy="566928"/>
          </a:xfrm>
          <a:prstGeom prst="rect">
            <a:avLst/>
          </a:prstGeom>
          <a:noFill/>
          <a:ln/>
        </p:spPr>
        <p:txBody>
          <a:bodyPr wrap="square" lIns="0" tIns="0" rIns="0" bIns="0" rtlCol="0" anchor="ctr"/>
          <a:lstStyle/>
          <a:p>
            <a:pPr marL="0" indent="0">
              <a:buNone/>
            </a:pPr>
            <a:r>
              <a:rPr lang="en-US" sz="3200" b="1" dirty="0">
                <a:solidFill>
                  <a:srgbClr val="241A15"/>
                </a:solidFill>
                <a:latin typeface="Cambria" pitchFamily="34" charset="0"/>
                <a:ea typeface="Cambria" pitchFamily="34" charset="-122"/>
                <a:cs typeface="Cambria" pitchFamily="34" charset="-120"/>
              </a:rPr>
              <a:t>Ce qu'on mettrait en place ensuite</a:t>
            </a:r>
            <a:endParaRPr lang="en-US" sz="3200" dirty="0"/>
          </a:p>
        </p:txBody>
      </p:sp>
      <p:sp>
        <p:nvSpPr>
          <p:cNvPr id="5" name="Text 3"/>
          <p:cNvSpPr txBox="1"/>
          <p:nvPr/>
        </p:nvSpPr>
        <p:spPr>
          <a:xfrm>
            <a:off x="1252728" y="932688"/>
            <a:ext cx="10341864" cy="310896"/>
          </a:xfrm>
          <a:prstGeom prst="rect">
            <a:avLst/>
          </a:prstGeom>
          <a:noFill/>
          <a:ln/>
        </p:spPr>
        <p:txBody>
          <a:bodyPr wrap="square" lIns="0" tIns="0" rIns="0" bIns="0" rtlCol="0" anchor="ctr"/>
          <a:lstStyle/>
          <a:p>
            <a:pPr marL="0" indent="0">
              <a:buNone/>
            </a:pPr>
            <a:r>
              <a:rPr lang="en-US" sz="1400" i="1" dirty="0">
                <a:solidFill>
                  <a:srgbClr val="5C5550"/>
                </a:solidFill>
                <a:latin typeface="Calibri" pitchFamily="34" charset="0"/>
                <a:ea typeface="Calibri" pitchFamily="34" charset="-122"/>
                <a:cs typeface="Calibri" pitchFamily="34" charset="-120"/>
              </a:rPr>
              <a:t>Trois horizons, du plus immédiat au plus ambitieux</a:t>
            </a:r>
            <a:endParaRPr lang="en-US" sz="1400" dirty="0"/>
          </a:p>
        </p:txBody>
      </p:sp>
      <p:sp>
        <p:nvSpPr>
          <p:cNvPr id="6" name="Shape 4"/>
          <p:cNvSpPr/>
          <p:nvPr/>
        </p:nvSpPr>
        <p:spPr>
          <a:xfrm>
            <a:off x="594360" y="1463040"/>
            <a:ext cx="3520440" cy="4160520"/>
          </a:xfrm>
          <a:prstGeom prst="rect">
            <a:avLst/>
          </a:prstGeom>
          <a:solidFill>
            <a:srgbClr val="F2EFEC"/>
          </a:solidFill>
          <a:ln w="12700">
            <a:solidFill>
              <a:srgbClr val="F2EFEC"/>
            </a:solidFill>
            <a:prstDash val="solid"/>
          </a:ln>
        </p:spPr>
        <p:txBody>
          <a:bodyPr/>
          <a:lstStyle/>
          <a:p>
            <a:endParaRPr lang="fr-FR"/>
          </a:p>
        </p:txBody>
      </p:sp>
      <p:sp>
        <p:nvSpPr>
          <p:cNvPr id="7" name="Shape 5"/>
          <p:cNvSpPr/>
          <p:nvPr/>
        </p:nvSpPr>
        <p:spPr>
          <a:xfrm>
            <a:off x="850392" y="1691640"/>
            <a:ext cx="237744" cy="237744"/>
          </a:xfrm>
          <a:prstGeom prst="ellipse">
            <a:avLst/>
          </a:prstGeom>
          <a:solidFill>
            <a:srgbClr val="B85042"/>
          </a:solidFill>
          <a:ln/>
        </p:spPr>
        <p:txBody>
          <a:bodyPr/>
          <a:lstStyle/>
          <a:p>
            <a:endParaRPr lang="fr-FR"/>
          </a:p>
        </p:txBody>
      </p:sp>
      <p:sp>
        <p:nvSpPr>
          <p:cNvPr id="8" name="Text 6"/>
          <p:cNvSpPr txBox="1"/>
          <p:nvPr/>
        </p:nvSpPr>
        <p:spPr>
          <a:xfrm>
            <a:off x="1179576" y="1655064"/>
            <a:ext cx="2743200" cy="310896"/>
          </a:xfrm>
          <a:prstGeom prst="rect">
            <a:avLst/>
          </a:prstGeom>
          <a:noFill/>
          <a:ln/>
        </p:spPr>
        <p:txBody>
          <a:bodyPr wrap="square" lIns="0" tIns="0" rIns="0" bIns="0" rtlCol="0" anchor="ctr"/>
          <a:lstStyle/>
          <a:p>
            <a:pPr marL="0" indent="0">
              <a:buNone/>
            </a:pPr>
            <a:r>
              <a:rPr lang="en-US" sz="1500" b="1" dirty="0">
                <a:solidFill>
                  <a:srgbClr val="241A15"/>
                </a:solidFill>
                <a:latin typeface="Calibri" pitchFamily="34" charset="0"/>
                <a:ea typeface="Calibri" pitchFamily="34" charset="-122"/>
                <a:cs typeface="Calibri" pitchFamily="34" charset="-120"/>
              </a:rPr>
              <a:t>Court terme</a:t>
            </a:r>
            <a:endParaRPr lang="en-US" sz="1500" dirty="0"/>
          </a:p>
        </p:txBody>
      </p:sp>
      <p:sp>
        <p:nvSpPr>
          <p:cNvPr id="9" name="Text 7"/>
          <p:cNvSpPr txBox="1"/>
          <p:nvPr/>
        </p:nvSpPr>
        <p:spPr>
          <a:xfrm>
            <a:off x="850392" y="2020824"/>
            <a:ext cx="3017520" cy="274320"/>
          </a:xfrm>
          <a:prstGeom prst="rect">
            <a:avLst/>
          </a:prstGeom>
          <a:noFill/>
          <a:ln/>
        </p:spPr>
        <p:txBody>
          <a:bodyPr wrap="square" lIns="0" tIns="0" rIns="0" bIns="0" rtlCol="0" anchor="ctr"/>
          <a:lstStyle/>
          <a:p>
            <a:pPr marL="0" indent="0">
              <a:buNone/>
            </a:pPr>
            <a:r>
              <a:rPr lang="en-US" sz="1100" i="1" dirty="0">
                <a:solidFill>
                  <a:srgbClr val="B85042"/>
                </a:solidFill>
                <a:latin typeface="Calibri" pitchFamily="34" charset="0"/>
                <a:ea typeface="Calibri" pitchFamily="34" charset="-122"/>
                <a:cs typeface="Calibri" pitchFamily="34" charset="-120"/>
              </a:rPr>
              <a:t>ce qui manque encore au cahier des charges</a:t>
            </a:r>
            <a:endParaRPr lang="en-US" sz="1100" dirty="0"/>
          </a:p>
        </p:txBody>
      </p:sp>
      <p:sp>
        <p:nvSpPr>
          <p:cNvPr id="10" name="Text 8"/>
          <p:cNvSpPr txBox="1"/>
          <p:nvPr/>
        </p:nvSpPr>
        <p:spPr>
          <a:xfrm>
            <a:off x="850392" y="2377440"/>
            <a:ext cx="3063240" cy="31546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Clustering temporel : regrouper les années par profil (2003 et 2022 se ressemblent) et les communes par forme de série</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Validation géographique par département entier plutôt que par tirage aléatoire de communes, qui laisse les voisines dans l'entraînement</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Rapport méthodologique complet</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Réglage fin des hyperparamètres de XGBoost, jusqu'ici laissés à des valeurs raisonnables mais non optimisées</a:t>
            </a:r>
            <a:endParaRPr lang="en-US" sz="1100" dirty="0"/>
          </a:p>
        </p:txBody>
      </p:sp>
      <p:sp>
        <p:nvSpPr>
          <p:cNvPr id="11" name="Shape 9"/>
          <p:cNvSpPr/>
          <p:nvPr/>
        </p:nvSpPr>
        <p:spPr>
          <a:xfrm>
            <a:off x="4361688" y="1463040"/>
            <a:ext cx="3520440" cy="4160520"/>
          </a:xfrm>
          <a:prstGeom prst="rect">
            <a:avLst/>
          </a:prstGeom>
          <a:solidFill>
            <a:srgbClr val="F2EFEC"/>
          </a:solidFill>
          <a:ln w="12700">
            <a:solidFill>
              <a:srgbClr val="F2EFEC"/>
            </a:solidFill>
            <a:prstDash val="solid"/>
          </a:ln>
        </p:spPr>
        <p:txBody>
          <a:bodyPr/>
          <a:lstStyle/>
          <a:p>
            <a:endParaRPr lang="fr-FR"/>
          </a:p>
        </p:txBody>
      </p:sp>
      <p:sp>
        <p:nvSpPr>
          <p:cNvPr id="12" name="Shape 10"/>
          <p:cNvSpPr/>
          <p:nvPr/>
        </p:nvSpPr>
        <p:spPr>
          <a:xfrm>
            <a:off x="4617720" y="1691640"/>
            <a:ext cx="237744" cy="237744"/>
          </a:xfrm>
          <a:prstGeom prst="ellipse">
            <a:avLst/>
          </a:prstGeom>
          <a:solidFill>
            <a:srgbClr val="7FA08F"/>
          </a:solidFill>
          <a:ln/>
        </p:spPr>
        <p:txBody>
          <a:bodyPr/>
          <a:lstStyle/>
          <a:p>
            <a:endParaRPr lang="fr-FR"/>
          </a:p>
        </p:txBody>
      </p:sp>
      <p:sp>
        <p:nvSpPr>
          <p:cNvPr id="13" name="Text 11"/>
          <p:cNvSpPr txBox="1"/>
          <p:nvPr/>
        </p:nvSpPr>
        <p:spPr>
          <a:xfrm>
            <a:off x="4946904" y="1655064"/>
            <a:ext cx="2743200" cy="310896"/>
          </a:xfrm>
          <a:prstGeom prst="rect">
            <a:avLst/>
          </a:prstGeom>
          <a:noFill/>
          <a:ln/>
        </p:spPr>
        <p:txBody>
          <a:bodyPr wrap="square" lIns="0" tIns="0" rIns="0" bIns="0" rtlCol="0" anchor="ctr"/>
          <a:lstStyle/>
          <a:p>
            <a:pPr marL="0" indent="0">
              <a:buNone/>
            </a:pPr>
            <a:r>
              <a:rPr lang="en-US" sz="1500" b="1" dirty="0">
                <a:solidFill>
                  <a:srgbClr val="241A15"/>
                </a:solidFill>
                <a:latin typeface="Calibri" pitchFamily="34" charset="0"/>
                <a:ea typeface="Calibri" pitchFamily="34" charset="-122"/>
                <a:cs typeface="Calibri" pitchFamily="34" charset="-120"/>
              </a:rPr>
              <a:t>Moyen terme</a:t>
            </a:r>
            <a:endParaRPr lang="en-US" sz="1500" dirty="0"/>
          </a:p>
        </p:txBody>
      </p:sp>
      <p:sp>
        <p:nvSpPr>
          <p:cNvPr id="14" name="Text 12"/>
          <p:cNvSpPr txBox="1"/>
          <p:nvPr/>
        </p:nvSpPr>
        <p:spPr>
          <a:xfrm>
            <a:off x="4617720" y="2020824"/>
            <a:ext cx="3017520" cy="274320"/>
          </a:xfrm>
          <a:prstGeom prst="rect">
            <a:avLst/>
          </a:prstGeom>
          <a:noFill/>
          <a:ln/>
        </p:spPr>
        <p:txBody>
          <a:bodyPr wrap="square" lIns="0" tIns="0" rIns="0" bIns="0" rtlCol="0" anchor="ctr"/>
          <a:lstStyle/>
          <a:p>
            <a:pPr marL="0" indent="0">
              <a:buNone/>
            </a:pPr>
            <a:r>
              <a:rPr lang="en-US" sz="1100" i="1" dirty="0">
                <a:solidFill>
                  <a:srgbClr val="7FA08F"/>
                </a:solidFill>
                <a:latin typeface="Calibri" pitchFamily="34" charset="0"/>
                <a:ea typeface="Calibri" pitchFamily="34" charset="-122"/>
                <a:cs typeface="Calibri" pitchFamily="34" charset="-120"/>
              </a:rPr>
              <a:t>les vrais leviers de performance</a:t>
            </a:r>
            <a:endParaRPr lang="en-US" sz="1100" dirty="0"/>
          </a:p>
        </p:txBody>
      </p:sp>
      <p:sp>
        <p:nvSpPr>
          <p:cNvPr id="15" name="Text 13"/>
          <p:cNvSpPr txBox="1"/>
          <p:nvPr/>
        </p:nvSpPr>
        <p:spPr>
          <a:xfrm>
            <a:off x="4617720" y="2377440"/>
            <a:ext cx="3063240" cy="31546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Données météo (Météo-France SYNOP, ERA5) : température, vent, précipitations, indice de sécheresse — de loin le plus gros gain attendu</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Occupation du sol (Corine Land Cover) : part de forêt, de garrigue, d'interface habitat-forêt, pour toutes les communes et non les seules communes brûlées</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Maille en grille régulière plutôt que communale, pour supprimer le biais de surface</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Rayon de voisinage appris plutôt que fixé à 20 km</a:t>
            </a:r>
            <a:endParaRPr lang="en-US" sz="1100" dirty="0"/>
          </a:p>
        </p:txBody>
      </p:sp>
      <p:sp>
        <p:nvSpPr>
          <p:cNvPr id="16" name="Shape 14"/>
          <p:cNvSpPr/>
          <p:nvPr/>
        </p:nvSpPr>
        <p:spPr>
          <a:xfrm>
            <a:off x="8129016" y="1463040"/>
            <a:ext cx="3520440" cy="4160520"/>
          </a:xfrm>
          <a:prstGeom prst="rect">
            <a:avLst/>
          </a:prstGeom>
          <a:solidFill>
            <a:srgbClr val="F2EFEC"/>
          </a:solidFill>
          <a:ln w="12700">
            <a:solidFill>
              <a:srgbClr val="F2EFEC"/>
            </a:solidFill>
            <a:prstDash val="solid"/>
          </a:ln>
        </p:spPr>
        <p:txBody>
          <a:bodyPr/>
          <a:lstStyle/>
          <a:p>
            <a:endParaRPr lang="fr-FR"/>
          </a:p>
        </p:txBody>
      </p:sp>
      <p:sp>
        <p:nvSpPr>
          <p:cNvPr id="17" name="Shape 15"/>
          <p:cNvSpPr/>
          <p:nvPr/>
        </p:nvSpPr>
        <p:spPr>
          <a:xfrm>
            <a:off x="8385048" y="1691640"/>
            <a:ext cx="237744" cy="237744"/>
          </a:xfrm>
          <a:prstGeom prst="ellipse">
            <a:avLst/>
          </a:prstGeom>
          <a:solidFill>
            <a:srgbClr val="50808E"/>
          </a:solidFill>
          <a:ln/>
        </p:spPr>
        <p:txBody>
          <a:bodyPr/>
          <a:lstStyle/>
          <a:p>
            <a:endParaRPr lang="fr-FR"/>
          </a:p>
        </p:txBody>
      </p:sp>
      <p:sp>
        <p:nvSpPr>
          <p:cNvPr id="18" name="Text 16"/>
          <p:cNvSpPr txBox="1"/>
          <p:nvPr/>
        </p:nvSpPr>
        <p:spPr>
          <a:xfrm>
            <a:off x="8714232" y="1655064"/>
            <a:ext cx="2743200" cy="310896"/>
          </a:xfrm>
          <a:prstGeom prst="rect">
            <a:avLst/>
          </a:prstGeom>
          <a:noFill/>
          <a:ln/>
        </p:spPr>
        <p:txBody>
          <a:bodyPr wrap="square" lIns="0" tIns="0" rIns="0" bIns="0" rtlCol="0" anchor="ctr"/>
          <a:lstStyle/>
          <a:p>
            <a:pPr marL="0" indent="0">
              <a:buNone/>
            </a:pPr>
            <a:r>
              <a:rPr lang="en-US" sz="1500" b="1" dirty="0">
                <a:solidFill>
                  <a:srgbClr val="241A15"/>
                </a:solidFill>
                <a:latin typeface="Calibri" pitchFamily="34" charset="0"/>
                <a:ea typeface="Calibri" pitchFamily="34" charset="-122"/>
                <a:cs typeface="Calibri" pitchFamily="34" charset="-120"/>
              </a:rPr>
              <a:t>Long terme</a:t>
            </a:r>
            <a:endParaRPr lang="en-US" sz="1500" dirty="0"/>
          </a:p>
        </p:txBody>
      </p:sp>
      <p:sp>
        <p:nvSpPr>
          <p:cNvPr id="19" name="Text 17"/>
          <p:cNvSpPr txBox="1"/>
          <p:nvPr/>
        </p:nvSpPr>
        <p:spPr>
          <a:xfrm>
            <a:off x="8385048" y="2020824"/>
            <a:ext cx="3017520" cy="274320"/>
          </a:xfrm>
          <a:prstGeom prst="rect">
            <a:avLst/>
          </a:prstGeom>
          <a:noFill/>
          <a:ln/>
        </p:spPr>
        <p:txBody>
          <a:bodyPr wrap="square" lIns="0" tIns="0" rIns="0" bIns="0" rtlCol="0" anchor="ctr"/>
          <a:lstStyle/>
          <a:p>
            <a:pPr marL="0" indent="0">
              <a:buNone/>
            </a:pPr>
            <a:r>
              <a:rPr lang="en-US" sz="1100" i="1" dirty="0">
                <a:solidFill>
                  <a:srgbClr val="50808E"/>
                </a:solidFill>
                <a:latin typeface="Calibri" pitchFamily="34" charset="0"/>
                <a:ea typeface="Calibri" pitchFamily="34" charset="-122"/>
                <a:cs typeface="Calibri" pitchFamily="34" charset="-120"/>
              </a:rPr>
              <a:t>vers un vrai produit</a:t>
            </a:r>
            <a:endParaRPr lang="en-US" sz="1100" dirty="0"/>
          </a:p>
        </p:txBody>
      </p:sp>
      <p:sp>
        <p:nvSpPr>
          <p:cNvPr id="20" name="Text 18"/>
          <p:cNvSpPr txBox="1"/>
          <p:nvPr/>
        </p:nvSpPr>
        <p:spPr>
          <a:xfrm>
            <a:off x="8385048" y="2377440"/>
            <a:ext cx="3063240" cy="31546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Prédire la gravité et pas seulement l'occurrence — surface attendue, bâtiments menacés</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Croiser les horizons courts avec la météo : c'est ce qui transformerait la carte de risque en véritable alerte opérationnelle</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Réentraînement automatique à chaque mise à jour annuelle de la BDIFF</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Suivi de dérive : comparer deux runs automatiquement et alerter si la performance chute</a:t>
            </a:r>
            <a:endParaRPr lang="en-US" sz="1100" dirty="0"/>
          </a:p>
          <a:p>
            <a:pPr marL="342900" indent="-342900">
              <a:spcAft>
                <a:spcPts val="800"/>
              </a:spcAft>
              <a:buSzPct val="100000"/>
              <a:buChar char="•"/>
            </a:pPr>
            <a:r>
              <a:rPr lang="en-US" sz="1100" dirty="0">
                <a:solidFill>
                  <a:srgbClr val="5C5550"/>
                </a:solidFill>
                <a:latin typeface="Calibri" pitchFamily="34" charset="0"/>
                <a:ea typeface="Calibri" pitchFamily="34" charset="-122"/>
                <a:cs typeface="Calibri" pitchFamily="34" charset="-120"/>
              </a:rPr>
              <a:t>API de scoring pour que d'autres services interrogent le modèle sans passer par l'interface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41A15"/>
        </a:solidFill>
        <a:effectLst/>
      </p:bgPr>
    </p:bg>
    <p:spTree>
      <p:nvGrpSpPr>
        <p:cNvPr id="1" name=""/>
        <p:cNvGrpSpPr/>
        <p:nvPr/>
      </p:nvGrpSpPr>
      <p:grpSpPr>
        <a:xfrm>
          <a:off x="0" y="0"/>
          <a:ext cx="0" cy="0"/>
          <a:chOff x="0" y="0"/>
          <a:chExt cx="0" cy="0"/>
        </a:xfrm>
      </p:grpSpPr>
      <p:sp>
        <p:nvSpPr>
          <p:cNvPr id="2" name="Text 0"/>
          <p:cNvSpPr txBox="1"/>
          <p:nvPr/>
        </p:nvSpPr>
        <p:spPr>
          <a:xfrm>
            <a:off x="594360" y="822960"/>
            <a:ext cx="10332720" cy="365760"/>
          </a:xfrm>
          <a:prstGeom prst="rect">
            <a:avLst/>
          </a:prstGeom>
          <a:noFill/>
          <a:ln/>
        </p:spPr>
        <p:txBody>
          <a:bodyPr wrap="square" lIns="0" tIns="0" rIns="0" bIns="0" rtlCol="0" anchor="ctr"/>
          <a:lstStyle/>
          <a:p>
            <a:pPr marL="0" indent="0">
              <a:buNone/>
            </a:pPr>
            <a:r>
              <a:rPr lang="en-US" sz="1200" b="1" kern="0" spc="300" dirty="0">
                <a:solidFill>
                  <a:srgbClr val="D9A196"/>
                </a:solidFill>
                <a:latin typeface="Calibri" pitchFamily="34" charset="0"/>
                <a:ea typeface="Calibri" pitchFamily="34" charset="-122"/>
                <a:cs typeface="Calibri" pitchFamily="34" charset="-120"/>
              </a:rPr>
              <a:t>CE QU'IL FAUT RETENIR</a:t>
            </a:r>
            <a:endParaRPr lang="en-US" sz="1200" dirty="0"/>
          </a:p>
        </p:txBody>
      </p:sp>
      <p:sp>
        <p:nvSpPr>
          <p:cNvPr id="3" name="Text 1"/>
          <p:cNvSpPr txBox="1"/>
          <p:nvPr/>
        </p:nvSpPr>
        <p:spPr>
          <a:xfrm>
            <a:off x="594360" y="1325880"/>
            <a:ext cx="10515600" cy="1371600"/>
          </a:xfrm>
          <a:prstGeom prst="rect">
            <a:avLst/>
          </a:prstGeom>
          <a:noFill/>
          <a:ln/>
        </p:spPr>
        <p:txBody>
          <a:bodyPr wrap="square" lIns="0" tIns="0" rIns="0" bIns="0"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En surveillant 5 % du territoire,</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on couvre 56 % des communes qui brûleront.</a:t>
            </a:r>
            <a:endParaRPr lang="en-US" sz="3400" dirty="0"/>
          </a:p>
        </p:txBody>
      </p:sp>
      <p:sp>
        <p:nvSpPr>
          <p:cNvPr id="4" name="Text 2"/>
          <p:cNvSpPr txBox="1"/>
          <p:nvPr/>
        </p:nvSpPr>
        <p:spPr>
          <a:xfrm>
            <a:off x="594360" y="2788920"/>
            <a:ext cx="10515600" cy="411480"/>
          </a:xfrm>
          <a:prstGeom prst="rect">
            <a:avLst/>
          </a:prstGeom>
          <a:noFill/>
          <a:ln/>
        </p:spPr>
        <p:txBody>
          <a:bodyPr wrap="square" lIns="0" tIns="0" rIns="0" bIns="0" rtlCol="0" anchor="ctr"/>
          <a:lstStyle/>
          <a:p>
            <a:pPr marL="0" indent="0">
              <a:buNone/>
            </a:pPr>
            <a:r>
              <a:rPr lang="en-US" sz="1600" i="1" dirty="0">
                <a:solidFill>
                  <a:srgbClr val="7FA08F"/>
                </a:solidFill>
                <a:latin typeface="Calibri" pitchFamily="34" charset="0"/>
                <a:ea typeface="Calibri" pitchFamily="34" charset="-122"/>
                <a:cs typeface="Calibri" pitchFamily="34" charset="-120"/>
              </a:rPr>
              <a:t>Soit 11,3 fois mieux qu'un tirage au sort — et sans une seule donnée météorologique.</a:t>
            </a:r>
            <a:endParaRPr lang="en-US" sz="1600" dirty="0"/>
          </a:p>
        </p:txBody>
      </p:sp>
      <p:sp>
        <p:nvSpPr>
          <p:cNvPr id="5" name="Shape 3"/>
          <p:cNvSpPr/>
          <p:nvPr/>
        </p:nvSpPr>
        <p:spPr>
          <a:xfrm>
            <a:off x="594360" y="3749040"/>
            <a:ext cx="201168" cy="201168"/>
          </a:xfrm>
          <a:prstGeom prst="ellipse">
            <a:avLst/>
          </a:prstGeom>
          <a:solidFill>
            <a:srgbClr val="B85042"/>
          </a:solidFill>
          <a:ln/>
        </p:spPr>
        <p:txBody>
          <a:bodyPr/>
          <a:lstStyle/>
          <a:p>
            <a:endParaRPr lang="fr-FR"/>
          </a:p>
        </p:txBody>
      </p:sp>
      <p:sp>
        <p:nvSpPr>
          <p:cNvPr id="6" name="Text 4"/>
          <p:cNvSpPr txBox="1"/>
          <p:nvPr/>
        </p:nvSpPr>
        <p:spPr>
          <a:xfrm>
            <a:off x="594360" y="4041648"/>
            <a:ext cx="26060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Une base dont on répond</a:t>
            </a:r>
            <a:endParaRPr lang="en-US" sz="1300" dirty="0"/>
          </a:p>
        </p:txBody>
      </p:sp>
      <p:sp>
        <p:nvSpPr>
          <p:cNvPr id="7" name="Text 5"/>
          <p:cNvSpPr txBox="1"/>
          <p:nvPr/>
        </p:nvSpPr>
        <p:spPr>
          <a:xfrm>
            <a:off x="594360" y="4572000"/>
            <a:ext cx="2606040" cy="640080"/>
          </a:xfrm>
          <a:prstGeom prst="rect">
            <a:avLst/>
          </a:prstGeom>
          <a:noFill/>
          <a:ln/>
        </p:spPr>
        <p:txBody>
          <a:bodyPr wrap="square" lIns="0" tIns="0" rIns="0" bIns="0" rtlCol="0" anchor="t"/>
          <a:lstStyle/>
          <a:p>
            <a:pPr marL="0" indent="0">
              <a:buNone/>
            </a:pPr>
            <a:r>
              <a:rPr lang="en-US" sz="1100" dirty="0">
                <a:solidFill>
                  <a:srgbClr val="C9C0BA"/>
                </a:solidFill>
                <a:latin typeface="Calibri" pitchFamily="34" charset="0"/>
                <a:ea typeface="Calibri" pitchFamily="34" charset="-122"/>
                <a:cs typeface="Calibri" pitchFamily="34" charset="-120"/>
              </a:rPr>
              <a:t>140 246 incendies, 6/6 contrôles au vert</a:t>
            </a:r>
            <a:endParaRPr lang="en-US" sz="1100" dirty="0"/>
          </a:p>
        </p:txBody>
      </p:sp>
      <p:sp>
        <p:nvSpPr>
          <p:cNvPr id="8" name="Shape 6"/>
          <p:cNvSpPr/>
          <p:nvPr/>
        </p:nvSpPr>
        <p:spPr>
          <a:xfrm>
            <a:off x="3383280" y="3749040"/>
            <a:ext cx="201168" cy="201168"/>
          </a:xfrm>
          <a:prstGeom prst="ellipse">
            <a:avLst/>
          </a:prstGeom>
          <a:solidFill>
            <a:srgbClr val="B85042"/>
          </a:solidFill>
          <a:ln/>
        </p:spPr>
        <p:txBody>
          <a:bodyPr/>
          <a:lstStyle/>
          <a:p>
            <a:endParaRPr lang="fr-FR"/>
          </a:p>
        </p:txBody>
      </p:sp>
      <p:sp>
        <p:nvSpPr>
          <p:cNvPr id="9" name="Text 7"/>
          <p:cNvSpPr txBox="1"/>
          <p:nvPr/>
        </p:nvSpPr>
        <p:spPr>
          <a:xfrm>
            <a:off x="3383280" y="4041648"/>
            <a:ext cx="26060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Un protocole sans fuite</a:t>
            </a:r>
            <a:endParaRPr lang="en-US" sz="1300" dirty="0"/>
          </a:p>
        </p:txBody>
      </p:sp>
      <p:sp>
        <p:nvSpPr>
          <p:cNvPr id="10" name="Text 8"/>
          <p:cNvSpPr txBox="1"/>
          <p:nvPr/>
        </p:nvSpPr>
        <p:spPr>
          <a:xfrm>
            <a:off x="3383280" y="4572000"/>
            <a:ext cx="2606040" cy="640080"/>
          </a:xfrm>
          <a:prstGeom prst="rect">
            <a:avLst/>
          </a:prstGeom>
          <a:noFill/>
          <a:ln/>
        </p:spPr>
        <p:txBody>
          <a:bodyPr wrap="square" lIns="0" tIns="0" rIns="0" bIns="0" rtlCol="0" anchor="t"/>
          <a:lstStyle/>
          <a:p>
            <a:pPr marL="0" indent="0">
              <a:buNone/>
            </a:pPr>
            <a:r>
              <a:rPr lang="en-US" sz="1100" dirty="0">
                <a:solidFill>
                  <a:srgbClr val="C9C0BA"/>
                </a:solidFill>
                <a:latin typeface="Calibri" pitchFamily="34" charset="0"/>
                <a:ea typeface="Calibri" pitchFamily="34" charset="-122"/>
                <a:cs typeface="Calibri" pitchFamily="34" charset="-120"/>
              </a:rPr>
              <a:t>découpage chronologique, fenêtres décalées d'un an</a:t>
            </a:r>
            <a:endParaRPr lang="en-US" sz="1100" dirty="0"/>
          </a:p>
        </p:txBody>
      </p:sp>
      <p:sp>
        <p:nvSpPr>
          <p:cNvPr id="11" name="Shape 9"/>
          <p:cNvSpPr/>
          <p:nvPr/>
        </p:nvSpPr>
        <p:spPr>
          <a:xfrm>
            <a:off x="6172200" y="3749040"/>
            <a:ext cx="201168" cy="201168"/>
          </a:xfrm>
          <a:prstGeom prst="ellipse">
            <a:avLst/>
          </a:prstGeom>
          <a:solidFill>
            <a:srgbClr val="B85042"/>
          </a:solidFill>
          <a:ln/>
        </p:spPr>
        <p:txBody>
          <a:bodyPr/>
          <a:lstStyle/>
          <a:p>
            <a:endParaRPr lang="fr-FR"/>
          </a:p>
        </p:txBody>
      </p:sp>
      <p:sp>
        <p:nvSpPr>
          <p:cNvPr id="12" name="Text 10"/>
          <p:cNvSpPr txBox="1"/>
          <p:nvPr/>
        </p:nvSpPr>
        <p:spPr>
          <a:xfrm>
            <a:off x="6172200" y="4041648"/>
            <a:ext cx="26060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Trois modèles comparés</a:t>
            </a:r>
            <a:endParaRPr lang="en-US" sz="1300" dirty="0"/>
          </a:p>
        </p:txBody>
      </p:sp>
      <p:sp>
        <p:nvSpPr>
          <p:cNvPr id="13" name="Text 11"/>
          <p:cNvSpPr txBox="1"/>
          <p:nvPr/>
        </p:nvSpPr>
        <p:spPr>
          <a:xfrm>
            <a:off x="6172200" y="4572000"/>
            <a:ext cx="2606040" cy="640080"/>
          </a:xfrm>
          <a:prstGeom prst="rect">
            <a:avLst/>
          </a:prstGeom>
          <a:noFill/>
          <a:ln/>
        </p:spPr>
        <p:txBody>
          <a:bodyPr wrap="square" lIns="0" tIns="0" rIns="0" bIns="0" rtlCol="0" anchor="t"/>
          <a:lstStyle/>
          <a:p>
            <a:pPr marL="0" indent="0">
              <a:buNone/>
            </a:pPr>
            <a:r>
              <a:rPr lang="en-US" sz="1100" dirty="0">
                <a:solidFill>
                  <a:srgbClr val="C9C0BA"/>
                </a:solidFill>
                <a:latin typeface="Calibri" pitchFamily="34" charset="0"/>
                <a:ea typeface="Calibri" pitchFamily="34" charset="-122"/>
                <a:cs typeface="Calibri" pitchFamily="34" charset="-120"/>
              </a:rPr>
              <a:t>XGBoost retenu, 13× le hasard, 5× plus rapide</a:t>
            </a:r>
            <a:endParaRPr lang="en-US" sz="1100" dirty="0"/>
          </a:p>
        </p:txBody>
      </p:sp>
      <p:sp>
        <p:nvSpPr>
          <p:cNvPr id="14" name="Shape 12"/>
          <p:cNvSpPr/>
          <p:nvPr/>
        </p:nvSpPr>
        <p:spPr>
          <a:xfrm>
            <a:off x="8961120" y="3749040"/>
            <a:ext cx="201168" cy="201168"/>
          </a:xfrm>
          <a:prstGeom prst="ellipse">
            <a:avLst/>
          </a:prstGeom>
          <a:solidFill>
            <a:srgbClr val="B85042"/>
          </a:solidFill>
          <a:ln/>
        </p:spPr>
        <p:txBody>
          <a:bodyPr/>
          <a:lstStyle/>
          <a:p>
            <a:endParaRPr lang="fr-FR"/>
          </a:p>
        </p:txBody>
      </p:sp>
      <p:sp>
        <p:nvSpPr>
          <p:cNvPr id="15" name="Text 13"/>
          <p:cNvSpPr txBox="1"/>
          <p:nvPr/>
        </p:nvSpPr>
        <p:spPr>
          <a:xfrm>
            <a:off x="8961120" y="4041648"/>
            <a:ext cx="26060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Deux échelles de temps</a:t>
            </a:r>
            <a:endParaRPr lang="en-US" sz="1300" dirty="0"/>
          </a:p>
        </p:txBody>
      </p:sp>
      <p:sp>
        <p:nvSpPr>
          <p:cNvPr id="16" name="Text 14"/>
          <p:cNvSpPr txBox="1"/>
          <p:nvPr/>
        </p:nvSpPr>
        <p:spPr>
          <a:xfrm>
            <a:off x="8961120" y="4572000"/>
            <a:ext cx="2606040" cy="640080"/>
          </a:xfrm>
          <a:prstGeom prst="rect">
            <a:avLst/>
          </a:prstGeom>
          <a:noFill/>
          <a:ln/>
        </p:spPr>
        <p:txBody>
          <a:bodyPr wrap="square" lIns="0" tIns="0" rIns="0" bIns="0" rtlCol="0" anchor="t"/>
          <a:lstStyle/>
          <a:p>
            <a:pPr marL="0" indent="0">
              <a:buNone/>
            </a:pPr>
            <a:r>
              <a:rPr lang="en-US" sz="1100" dirty="0">
                <a:solidFill>
                  <a:srgbClr val="C9C0BA"/>
                </a:solidFill>
                <a:latin typeface="Calibri" pitchFamily="34" charset="0"/>
                <a:ea typeface="Calibri" pitchFamily="34" charset="-122"/>
                <a:cs typeface="Calibri" pitchFamily="34" charset="-120"/>
              </a:rPr>
              <a:t>l'année, et la date précise à 10 / 30 / 60 jours</a:t>
            </a:r>
            <a:endParaRPr lang="en-US" sz="1100" dirty="0"/>
          </a:p>
        </p:txBody>
      </p:sp>
      <p:sp>
        <p:nvSpPr>
          <p:cNvPr id="17" name="Shape 15"/>
          <p:cNvSpPr/>
          <p:nvPr/>
        </p:nvSpPr>
        <p:spPr>
          <a:xfrm>
            <a:off x="594360" y="5532120"/>
            <a:ext cx="1920240" cy="27432"/>
          </a:xfrm>
          <a:prstGeom prst="rect">
            <a:avLst/>
          </a:prstGeom>
          <a:solidFill>
            <a:srgbClr val="B85042"/>
          </a:solidFill>
          <a:ln/>
        </p:spPr>
        <p:txBody>
          <a:bodyPr/>
          <a:lstStyle/>
          <a:p>
            <a:endParaRPr lang="fr-FR"/>
          </a:p>
        </p:txBody>
      </p:sp>
      <p:sp>
        <p:nvSpPr>
          <p:cNvPr id="18" name="Text 16"/>
          <p:cNvSpPr txBox="1"/>
          <p:nvPr/>
        </p:nvSpPr>
        <p:spPr>
          <a:xfrm>
            <a:off x="594360" y="5760720"/>
            <a:ext cx="103327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Merci — nous répondons à vos questions.</a:t>
            </a:r>
            <a:endParaRPr lang="en-US" sz="2000" dirty="0"/>
          </a:p>
        </p:txBody>
      </p:sp>
      <p:sp>
        <p:nvSpPr>
          <p:cNvPr id="19" name="Text 17"/>
          <p:cNvSpPr txBox="1"/>
          <p:nvPr/>
        </p:nvSpPr>
        <p:spPr>
          <a:xfrm>
            <a:off x="594360" y="6199632"/>
            <a:ext cx="10332720" cy="274320"/>
          </a:xfrm>
          <a:prstGeom prst="rect">
            <a:avLst/>
          </a:prstGeom>
          <a:noFill/>
          <a:ln/>
        </p:spPr>
        <p:txBody>
          <a:bodyPr wrap="square" lIns="0" tIns="0" rIns="0" bIns="0" rtlCol="0" anchor="ctr"/>
          <a:lstStyle/>
          <a:p>
            <a:pPr marL="0" indent="0">
              <a:buNone/>
            </a:pPr>
            <a:r>
              <a:rPr lang="en-US" sz="1100" dirty="0">
                <a:solidFill>
                  <a:srgbClr val="8E8681"/>
                </a:solidFill>
                <a:latin typeface="Calibri" pitchFamily="34" charset="0"/>
                <a:ea typeface="Calibri" pitchFamily="34" charset="-122"/>
                <a:cs typeface="Calibri" pitchFamily="34" charset="-120"/>
              </a:rPr>
              <a:t>Lucien Nzeutom  ·  Pierre Mazard  —  MSc IA &amp; Data, La Plateforme_</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4181</Words>
  <Application>Microsoft Office PowerPoint</Application>
  <PresentationFormat>Grand écran</PresentationFormat>
  <Paragraphs>431</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Terre, Vent, Feu, Eau, Data</dc:title>
  <dc:subject>PptxGenJS Presentation</dc:subject>
  <dc:creator>Lucien Nzeutom &amp; Pierre Mazard</dc:creator>
  <cp:lastModifiedBy>lucien nzeutom</cp:lastModifiedBy>
  <cp:revision>2</cp:revision>
  <dcterms:created xsi:type="dcterms:W3CDTF">2026-09-18T09:47:11Z</dcterms:created>
  <dcterms:modified xsi:type="dcterms:W3CDTF">2026-09-18T10:13:18Z</dcterms:modified>
</cp:coreProperties>
</file>